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274320"/>
            <a:ext cx="11640312" cy="6309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
            <a:ext cx="10972800" cy="1097280"/>
          </a:xfrm>
          <a:prstGeom prst="rect">
            <a:avLst/>
          </a:prstGeom>
          <a:noFill/>
        </p:spPr>
        <p:txBody>
          <a:bodyPr wrap="square">
            <a:spAutoFit/>
          </a:bodyPr>
          <a:lstStyle/>
          <a:p>
            <a:pPr algn="l"/>
            <a:r>
              <a:rPr sz="2600" b="1" i="0">
                <a:solidFill>
                  <a:srgbClr val="1A56DB"/>
                </a:solidFill>
              </a:rPr>
              <a:t>保冷バッグ Amazon輸入における
品質表示法対応 提案書</a:t>
            </a:r>
          </a:p>
        </p:txBody>
      </p:sp>
      <p:sp>
        <p:nvSpPr>
          <p:cNvPr id="5" name="Rectangle 4"/>
          <p:cNvSpPr/>
          <p:nvPr/>
        </p:nvSpPr>
        <p:spPr>
          <a:xfrm>
            <a:off x="640080" y="1783080"/>
            <a:ext cx="4572000" cy="457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20240"/>
            <a:ext cx="2103120" cy="347472"/>
          </a:xfrm>
          <a:prstGeom prst="rect">
            <a:avLst/>
          </a:prstGeom>
          <a:noFill/>
        </p:spPr>
        <p:txBody>
          <a:bodyPr wrap="square">
            <a:spAutoFit/>
          </a:bodyPr>
          <a:lstStyle/>
          <a:p>
            <a:pPr algn="l"/>
            <a:r>
              <a:rPr sz="1000" b="1" i="0">
                <a:solidFill>
                  <a:srgbClr val="1E3A5F"/>
                </a:solidFill>
              </a:rPr>
              <a:t>日付</a:t>
            </a:r>
          </a:p>
        </p:txBody>
      </p:sp>
      <p:sp>
        <p:nvSpPr>
          <p:cNvPr id="7" name="TextBox 6"/>
          <p:cNvSpPr txBox="1"/>
          <p:nvPr/>
        </p:nvSpPr>
        <p:spPr>
          <a:xfrm>
            <a:off x="2926080" y="1920240"/>
            <a:ext cx="8686800" cy="347472"/>
          </a:xfrm>
          <a:prstGeom prst="rect">
            <a:avLst/>
          </a:prstGeom>
          <a:noFill/>
        </p:spPr>
        <p:txBody>
          <a:bodyPr wrap="square">
            <a:spAutoFit/>
          </a:bodyPr>
          <a:lstStyle/>
          <a:p>
            <a:pPr algn="l"/>
            <a:r>
              <a:rPr sz="1000" b="0" i="0">
                <a:solidFill>
                  <a:srgbClr val="222222"/>
                </a:solidFill>
              </a:rPr>
              <a:t>2026年6月24日</a:t>
            </a:r>
          </a:p>
        </p:txBody>
      </p:sp>
      <p:sp>
        <p:nvSpPr>
          <p:cNvPr id="8" name="TextBox 7"/>
          <p:cNvSpPr txBox="1"/>
          <p:nvPr/>
        </p:nvSpPr>
        <p:spPr>
          <a:xfrm>
            <a:off x="731520" y="2304288"/>
            <a:ext cx="2103120" cy="347472"/>
          </a:xfrm>
          <a:prstGeom prst="rect">
            <a:avLst/>
          </a:prstGeom>
          <a:noFill/>
        </p:spPr>
        <p:txBody>
          <a:bodyPr wrap="square">
            <a:spAutoFit/>
          </a:bodyPr>
          <a:lstStyle/>
          <a:p>
            <a:pPr algn="l"/>
            <a:r>
              <a:rPr sz="1000" b="1" i="0">
                <a:solidFill>
                  <a:srgbClr val="1E3A5F"/>
                </a:solidFill>
              </a:rPr>
              <a:t>作成者</a:t>
            </a:r>
          </a:p>
        </p:txBody>
      </p:sp>
      <p:sp>
        <p:nvSpPr>
          <p:cNvPr id="9" name="TextBox 8"/>
          <p:cNvSpPr txBox="1"/>
          <p:nvPr/>
        </p:nvSpPr>
        <p:spPr>
          <a:xfrm>
            <a:off x="2926080" y="2304288"/>
            <a:ext cx="8686800" cy="347472"/>
          </a:xfrm>
          <a:prstGeom prst="rect">
            <a:avLst/>
          </a:prstGeom>
          <a:noFill/>
        </p:spPr>
        <p:txBody>
          <a:bodyPr wrap="square">
            <a:spAutoFit/>
          </a:bodyPr>
          <a:lstStyle/>
          <a:p>
            <a:pPr algn="l"/>
            <a:r>
              <a:rPr sz="1000" b="0" i="0">
                <a:solidFill>
                  <a:srgbClr val="222222"/>
                </a:solidFill>
              </a:rPr>
              <a:t>（担当者名・部署を記入）</a:t>
            </a:r>
          </a:p>
        </p:txBody>
      </p:sp>
      <p:sp>
        <p:nvSpPr>
          <p:cNvPr id="10" name="TextBox 9"/>
          <p:cNvSpPr txBox="1"/>
          <p:nvPr/>
        </p:nvSpPr>
        <p:spPr>
          <a:xfrm>
            <a:off x="731520" y="2688336"/>
            <a:ext cx="2103120" cy="347472"/>
          </a:xfrm>
          <a:prstGeom prst="rect">
            <a:avLst/>
          </a:prstGeom>
          <a:noFill/>
        </p:spPr>
        <p:txBody>
          <a:bodyPr wrap="square">
            <a:spAutoFit/>
          </a:bodyPr>
          <a:lstStyle/>
          <a:p>
            <a:pPr algn="l"/>
            <a:r>
              <a:rPr sz="1000" b="1" i="0">
                <a:solidFill>
                  <a:srgbClr val="1E3A5F"/>
                </a:solidFill>
              </a:rPr>
              <a:t>対象読者</a:t>
            </a:r>
          </a:p>
        </p:txBody>
      </p:sp>
      <p:sp>
        <p:nvSpPr>
          <p:cNvPr id="11" name="TextBox 10"/>
          <p:cNvSpPr txBox="1"/>
          <p:nvPr/>
        </p:nvSpPr>
        <p:spPr>
          <a:xfrm>
            <a:off x="2926080" y="2688336"/>
            <a:ext cx="8686800" cy="347472"/>
          </a:xfrm>
          <a:prstGeom prst="rect">
            <a:avLst/>
          </a:prstGeom>
          <a:noFill/>
        </p:spPr>
        <p:txBody>
          <a:bodyPr wrap="square">
            <a:spAutoFit/>
          </a:bodyPr>
          <a:lstStyle/>
          <a:p>
            <a:pPr algn="l"/>
            <a:r>
              <a:rPr sz="1000" b="0" i="0">
                <a:solidFill>
                  <a:srgbClr val="222222"/>
                </a:solidFill>
              </a:rPr>
              <a:t>EC事業責任者 / 仕入・物流担当 / 法務・コンプライアンス担当</a:t>
            </a:r>
          </a:p>
        </p:txBody>
      </p:sp>
      <p:sp>
        <p:nvSpPr>
          <p:cNvPr id="12" name="TextBox 11"/>
          <p:cNvSpPr txBox="1"/>
          <p:nvPr/>
        </p:nvSpPr>
        <p:spPr>
          <a:xfrm>
            <a:off x="731520" y="3072384"/>
            <a:ext cx="2103120" cy="347472"/>
          </a:xfrm>
          <a:prstGeom prst="rect">
            <a:avLst/>
          </a:prstGeom>
          <a:noFill/>
        </p:spPr>
        <p:txBody>
          <a:bodyPr wrap="square">
            <a:spAutoFit/>
          </a:bodyPr>
          <a:lstStyle/>
          <a:p>
            <a:pPr algn="l"/>
            <a:r>
              <a:rPr sz="1000" b="1" i="0">
                <a:solidFill>
                  <a:srgbClr val="1E3A5F"/>
                </a:solidFill>
              </a:rPr>
              <a:t>目的</a:t>
            </a:r>
          </a:p>
        </p:txBody>
      </p:sp>
      <p:sp>
        <p:nvSpPr>
          <p:cNvPr id="13" name="TextBox 12"/>
          <p:cNvSpPr txBox="1"/>
          <p:nvPr/>
        </p:nvSpPr>
        <p:spPr>
          <a:xfrm>
            <a:off x="2926080" y="3072384"/>
            <a:ext cx="8686800" cy="347472"/>
          </a:xfrm>
          <a:prstGeom prst="rect">
            <a:avLst/>
          </a:prstGeom>
          <a:noFill/>
        </p:spPr>
        <p:txBody>
          <a:bodyPr wrap="square">
            <a:spAutoFit/>
          </a:bodyPr>
          <a:lstStyle/>
          <a:p>
            <a:pPr algn="l"/>
            <a:r>
              <a:rPr sz="1000" b="0" i="0">
                <a:solidFill>
                  <a:srgbClr val="222222"/>
                </a:solidFill>
              </a:rPr>
              <a:t>保冷バッグの輸入販売に必要な家庭用品品質表示法・食品衛生法対応を整理し、対応方針・コスト・スケジュールを明確にする</a:t>
            </a:r>
          </a:p>
        </p:txBody>
      </p:sp>
      <p:sp>
        <p:nvSpPr>
          <p:cNvPr id="14" name="TextBox 13"/>
          <p:cNvSpPr txBox="1"/>
          <p:nvPr/>
        </p:nvSpPr>
        <p:spPr>
          <a:xfrm>
            <a:off x="731520" y="3456432"/>
            <a:ext cx="2103120" cy="347472"/>
          </a:xfrm>
          <a:prstGeom prst="rect">
            <a:avLst/>
          </a:prstGeom>
          <a:noFill/>
        </p:spPr>
        <p:txBody>
          <a:bodyPr wrap="square">
            <a:spAutoFit/>
          </a:bodyPr>
          <a:lstStyle/>
          <a:p>
            <a:pPr algn="l"/>
            <a:r>
              <a:rPr sz="1000" b="1" i="0">
                <a:solidFill>
                  <a:srgbClr val="1E3A5F"/>
                </a:solidFill>
              </a:rPr>
              <a:t>期待アクション</a:t>
            </a:r>
          </a:p>
        </p:txBody>
      </p:sp>
      <p:sp>
        <p:nvSpPr>
          <p:cNvPr id="15" name="TextBox 14"/>
          <p:cNvSpPr txBox="1"/>
          <p:nvPr/>
        </p:nvSpPr>
        <p:spPr>
          <a:xfrm>
            <a:off x="2926080" y="3456432"/>
            <a:ext cx="8686800" cy="347472"/>
          </a:xfrm>
          <a:prstGeom prst="rect">
            <a:avLst/>
          </a:prstGeom>
          <a:noFill/>
        </p:spPr>
        <p:txBody>
          <a:bodyPr wrap="square">
            <a:spAutoFit/>
          </a:bodyPr>
          <a:lstStyle/>
          <a:p>
            <a:pPr algn="l"/>
            <a:r>
              <a:rPr sz="1000" b="0" i="0">
                <a:solidFill>
                  <a:srgbClr val="222222"/>
                </a:solidFill>
              </a:rPr>
              <a:t>本提案に基づく対応フローの承認と、検査機関への発注判断</a:t>
            </a:r>
          </a:p>
        </p:txBody>
      </p:sp>
      <p:sp>
        <p:nvSpPr>
          <p:cNvPr id="16" name="Rectangle 15"/>
          <p:cNvSpPr/>
          <p:nvPr/>
        </p:nvSpPr>
        <p:spPr>
          <a:xfrm>
            <a:off x="640080" y="3931920"/>
            <a:ext cx="10607040" cy="36576"/>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069080"/>
            <a:ext cx="1371600" cy="274320"/>
          </a:xfrm>
          <a:prstGeom prst="rect">
            <a:avLst/>
          </a:prstGeom>
          <a:noFill/>
        </p:spPr>
        <p:txBody>
          <a:bodyPr wrap="square">
            <a:spAutoFit/>
          </a:bodyPr>
          <a:lstStyle/>
          <a:p>
            <a:pPr algn="l"/>
            <a:r>
              <a:rPr sz="900" b="0" i="0">
                <a:solidFill>
                  <a:srgbClr val="222222"/>
                </a:solidFill>
              </a:rPr>
              <a:t>凡例：</a:t>
            </a:r>
          </a:p>
        </p:txBody>
      </p:sp>
      <p:sp>
        <p:nvSpPr>
          <p:cNvPr id="18" name="TextBox 17"/>
          <p:cNvSpPr txBox="1"/>
          <p:nvPr/>
        </p:nvSpPr>
        <p:spPr>
          <a:xfrm>
            <a:off x="1828800" y="4069080"/>
            <a:ext cx="1280160" cy="274320"/>
          </a:xfrm>
          <a:prstGeom prst="rect">
            <a:avLst/>
          </a:prstGeom>
          <a:solidFill>
            <a:srgbClr val="D1FAE5"/>
          </a:solidFill>
        </p:spPr>
        <p:txBody>
          <a:bodyPr wrap="square">
            <a:spAutoFit/>
          </a:bodyPr>
          <a:lstStyle/>
          <a:p>
            <a:pPr algn="ctr"/>
            <a:r>
              <a:rPr sz="900" b="1" i="0">
                <a:solidFill>
                  <a:srgbClr val="065F46"/>
                </a:solidFill>
              </a:rPr>
              <a:t>[確定]</a:t>
            </a:r>
          </a:p>
        </p:txBody>
      </p:sp>
      <p:sp>
        <p:nvSpPr>
          <p:cNvPr id="19" name="TextBox 18"/>
          <p:cNvSpPr txBox="1"/>
          <p:nvPr/>
        </p:nvSpPr>
        <p:spPr>
          <a:xfrm>
            <a:off x="3154680" y="4069080"/>
            <a:ext cx="3200400" cy="274320"/>
          </a:xfrm>
          <a:prstGeom prst="rect">
            <a:avLst/>
          </a:prstGeom>
          <a:noFill/>
        </p:spPr>
        <p:txBody>
          <a:bodyPr wrap="square">
            <a:spAutoFit/>
          </a:bodyPr>
          <a:lstStyle/>
          <a:p>
            <a:pPr algn="l"/>
            <a:r>
              <a:rPr sz="900" b="0" i="0">
                <a:solidFill>
                  <a:srgbClr val="222222"/>
                </a:solidFill>
              </a:rPr>
              <a:t>=決定済み</a:t>
            </a:r>
          </a:p>
        </p:txBody>
      </p:sp>
      <p:sp>
        <p:nvSpPr>
          <p:cNvPr id="20" name="TextBox 19"/>
          <p:cNvSpPr txBox="1"/>
          <p:nvPr/>
        </p:nvSpPr>
        <p:spPr>
          <a:xfrm>
            <a:off x="5029200" y="4069080"/>
            <a:ext cx="1280160" cy="274320"/>
          </a:xfrm>
          <a:prstGeom prst="rect">
            <a:avLst/>
          </a:prstGeom>
          <a:solidFill>
            <a:srgbClr val="FEF3C7"/>
          </a:solidFill>
        </p:spPr>
        <p:txBody>
          <a:bodyPr wrap="square">
            <a:spAutoFit/>
          </a:bodyPr>
          <a:lstStyle/>
          <a:p>
            <a:pPr algn="ctr"/>
            <a:r>
              <a:rPr sz="900" b="1" i="0">
                <a:solidFill>
                  <a:srgbClr val="924009"/>
                </a:solidFill>
              </a:rPr>
              <a:t>[検討中]</a:t>
            </a:r>
          </a:p>
        </p:txBody>
      </p:sp>
      <p:sp>
        <p:nvSpPr>
          <p:cNvPr id="21" name="TextBox 20"/>
          <p:cNvSpPr txBox="1"/>
          <p:nvPr/>
        </p:nvSpPr>
        <p:spPr>
          <a:xfrm>
            <a:off x="6355080" y="4069080"/>
            <a:ext cx="3200400" cy="274320"/>
          </a:xfrm>
          <a:prstGeom prst="rect">
            <a:avLst/>
          </a:prstGeom>
          <a:noFill/>
        </p:spPr>
        <p:txBody>
          <a:bodyPr wrap="square">
            <a:spAutoFit/>
          </a:bodyPr>
          <a:lstStyle/>
          <a:p>
            <a:pPr algn="l"/>
            <a:r>
              <a:rPr sz="900" b="0" i="0">
                <a:solidFill>
                  <a:srgbClr val="222222"/>
                </a:solidFill>
              </a:rPr>
              <a:t>=変更可能性あり</a:t>
            </a:r>
          </a:p>
        </p:txBody>
      </p:sp>
      <p:sp>
        <p:nvSpPr>
          <p:cNvPr id="22" name="TextBox 21"/>
          <p:cNvSpPr txBox="1"/>
          <p:nvPr/>
        </p:nvSpPr>
        <p:spPr>
          <a:xfrm>
            <a:off x="8229600" y="4069080"/>
            <a:ext cx="1280160" cy="274320"/>
          </a:xfrm>
          <a:prstGeom prst="rect">
            <a:avLst/>
          </a:prstGeom>
          <a:solidFill>
            <a:srgbClr val="DBEAFE"/>
          </a:solidFill>
        </p:spPr>
        <p:txBody>
          <a:bodyPr wrap="square">
            <a:spAutoFit/>
          </a:bodyPr>
          <a:lstStyle/>
          <a:p>
            <a:pPr algn="ctr"/>
            <a:r>
              <a:rPr sz="900" b="1" i="0">
                <a:solidFill>
                  <a:srgbClr val="1E40AF"/>
                </a:solidFill>
              </a:rPr>
              <a:t>[参考]</a:t>
            </a:r>
          </a:p>
        </p:txBody>
      </p:sp>
      <p:sp>
        <p:nvSpPr>
          <p:cNvPr id="23" name="TextBox 22"/>
          <p:cNvSpPr txBox="1"/>
          <p:nvPr/>
        </p:nvSpPr>
        <p:spPr>
          <a:xfrm>
            <a:off x="9555480" y="4069080"/>
            <a:ext cx="3200400" cy="274320"/>
          </a:xfrm>
          <a:prstGeom prst="rect">
            <a:avLst/>
          </a:prstGeom>
          <a:noFill/>
        </p:spPr>
        <p:txBody>
          <a:bodyPr wrap="square">
            <a:spAutoFit/>
          </a:bodyPr>
          <a:lstStyle/>
          <a:p>
            <a:pPr algn="l"/>
            <a:r>
              <a:rPr sz="900" b="0" i="0">
                <a:solidFill>
                  <a:srgbClr val="222222"/>
                </a:solidFill>
              </a:rPr>
              <a:t>=外部引用</a:t>
            </a:r>
          </a:p>
        </p:txBody>
      </p:sp>
      <p:sp>
        <p:nvSpPr>
          <p:cNvPr id="24" name="Rectangle 23"/>
          <p:cNvSpPr/>
          <p:nvPr/>
        </p:nvSpPr>
        <p:spPr>
          <a:xfrm>
            <a:off x="0" y="6537960"/>
            <a:ext cx="12188952"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6565392"/>
            <a:ext cx="9144000" cy="256032"/>
          </a:xfrm>
          <a:prstGeom prst="rect">
            <a:avLst/>
          </a:prstGeom>
          <a:noFill/>
        </p:spPr>
        <p:txBody>
          <a:bodyPr wrap="square">
            <a:spAutoFit/>
          </a:bodyPr>
          <a:lstStyle/>
          <a:p>
            <a:pPr algn="l"/>
            <a:r>
              <a:rPr sz="800" b="0" i="0">
                <a:solidFill>
                  <a:srgbClr val="6B7280"/>
                </a:solidFill>
              </a:rPr>
              <a:t>保冷バッグ Amazon輸入 品質表示法対応 提案書  ©貴社名</a:t>
            </a:r>
          </a:p>
        </p:txBody>
      </p:sp>
      <p:sp>
        <p:nvSpPr>
          <p:cNvPr id="26" name="TextBox 25"/>
          <p:cNvSpPr txBox="1"/>
          <p:nvPr/>
        </p:nvSpPr>
        <p:spPr>
          <a:xfrm>
            <a:off x="11247120" y="6565392"/>
            <a:ext cx="914400" cy="256032"/>
          </a:xfrm>
          <a:prstGeom prst="rect">
            <a:avLst/>
          </a:prstGeom>
          <a:noFill/>
        </p:spPr>
        <p:txBody>
          <a:bodyPr wrap="square">
            <a:spAutoFit/>
          </a:bodyPr>
          <a:lstStyle/>
          <a:p>
            <a:pPr algn="r"/>
            <a:r>
              <a:rPr sz="800" b="0" i="0">
                <a:solidFill>
                  <a:srgbClr val="6B7280"/>
                </a:solidFill>
              </a:rP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029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10972800" cy="384048"/>
          </a:xfrm>
          <a:prstGeom prst="rect">
            <a:avLst/>
          </a:prstGeom>
          <a:noFill/>
        </p:spPr>
        <p:txBody>
          <a:bodyPr wrap="square">
            <a:spAutoFit/>
          </a:bodyPr>
          <a:lstStyle/>
          <a:p>
            <a:pPr algn="l"/>
            <a:r>
              <a:rPr sz="1100" b="1" i="0">
                <a:solidFill>
                  <a:srgbClr val="FFFFFF"/>
                </a:solidFill>
              </a:rPr>
              <a:t>目次</a:t>
            </a:r>
          </a:p>
        </p:txBody>
      </p:sp>
      <p:sp>
        <p:nvSpPr>
          <p:cNvPr id="4" name="TextBox 3"/>
          <p:cNvSpPr txBox="1"/>
          <p:nvPr/>
        </p:nvSpPr>
        <p:spPr>
          <a:xfrm>
            <a:off x="365760" y="566928"/>
            <a:ext cx="11430000" cy="502920"/>
          </a:xfrm>
          <a:prstGeom prst="rect">
            <a:avLst/>
          </a:prstGeom>
          <a:noFill/>
        </p:spPr>
        <p:txBody>
          <a:bodyPr wrap="square">
            <a:spAutoFit/>
          </a:bodyPr>
          <a:lstStyle/>
          <a:p>
            <a:pPr algn="l"/>
            <a:r>
              <a:rPr sz="1800" b="1" i="0">
                <a:solidFill>
                  <a:srgbClr val="1E3A5F"/>
                </a:solidFill>
              </a:rPr>
              <a:t>目次</a:t>
            </a:r>
          </a:p>
        </p:txBody>
      </p:sp>
      <p:sp>
        <p:nvSpPr>
          <p:cNvPr id="5" name="Rectangle 4"/>
          <p:cNvSpPr/>
          <p:nvPr/>
        </p:nvSpPr>
        <p:spPr>
          <a:xfrm>
            <a:off x="365760" y="1115568"/>
            <a:ext cx="11457432" cy="36576"/>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280160"/>
            <a:ext cx="457200" cy="384048"/>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316736"/>
            <a:ext cx="457200" cy="310896"/>
          </a:xfrm>
          <a:prstGeom prst="rect">
            <a:avLst/>
          </a:prstGeom>
          <a:noFill/>
        </p:spPr>
        <p:txBody>
          <a:bodyPr wrap="square">
            <a:spAutoFit/>
          </a:bodyPr>
          <a:lstStyle/>
          <a:p>
            <a:pPr algn="ctr"/>
            <a:r>
              <a:rPr sz="1000" b="1" i="0">
                <a:solidFill>
                  <a:srgbClr val="FFFFFF"/>
                </a:solidFill>
              </a:rPr>
              <a:t>1</a:t>
            </a:r>
          </a:p>
        </p:txBody>
      </p:sp>
      <p:sp>
        <p:nvSpPr>
          <p:cNvPr id="8" name="TextBox 7"/>
          <p:cNvSpPr txBox="1"/>
          <p:nvPr/>
        </p:nvSpPr>
        <p:spPr>
          <a:xfrm>
            <a:off x="868680" y="1316736"/>
            <a:ext cx="4114800" cy="310896"/>
          </a:xfrm>
          <a:prstGeom prst="rect">
            <a:avLst/>
          </a:prstGeom>
          <a:noFill/>
        </p:spPr>
        <p:txBody>
          <a:bodyPr wrap="square">
            <a:spAutoFit/>
          </a:bodyPr>
          <a:lstStyle/>
          <a:p>
            <a:pPr algn="l"/>
            <a:r>
              <a:rPr sz="1000" b="0" i="0">
                <a:solidFill>
                  <a:srgbClr val="222222"/>
                </a:solidFill>
              </a:rPr>
              <a:t>用語集</a:t>
            </a:r>
          </a:p>
        </p:txBody>
      </p:sp>
      <p:sp>
        <p:nvSpPr>
          <p:cNvPr id="9" name="TextBox 8"/>
          <p:cNvSpPr txBox="1"/>
          <p:nvPr/>
        </p:nvSpPr>
        <p:spPr>
          <a:xfrm>
            <a:off x="4663440" y="1316736"/>
            <a:ext cx="1097280" cy="310896"/>
          </a:xfrm>
          <a:prstGeom prst="rect">
            <a:avLst/>
          </a:prstGeom>
          <a:solidFill>
            <a:srgbClr val="D1FAE5"/>
          </a:solidFill>
        </p:spPr>
        <p:txBody>
          <a:bodyPr wrap="square">
            <a:spAutoFit/>
          </a:bodyPr>
          <a:lstStyle/>
          <a:p>
            <a:pPr algn="ctr"/>
            <a:r>
              <a:rPr sz="800" b="1" i="0">
                <a:solidFill>
                  <a:srgbClr val="065F46"/>
                </a:solidFill>
              </a:rPr>
              <a:t>[確定]</a:t>
            </a:r>
          </a:p>
        </p:txBody>
      </p:sp>
      <p:sp>
        <p:nvSpPr>
          <p:cNvPr id="10" name="Rectangle 9"/>
          <p:cNvSpPr/>
          <p:nvPr/>
        </p:nvSpPr>
        <p:spPr>
          <a:xfrm>
            <a:off x="365760" y="1737360"/>
            <a:ext cx="457200" cy="384048"/>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773936"/>
            <a:ext cx="457200" cy="310896"/>
          </a:xfrm>
          <a:prstGeom prst="rect">
            <a:avLst/>
          </a:prstGeom>
          <a:noFill/>
        </p:spPr>
        <p:txBody>
          <a:bodyPr wrap="square">
            <a:spAutoFit/>
          </a:bodyPr>
          <a:lstStyle/>
          <a:p>
            <a:pPr algn="ctr"/>
            <a:r>
              <a:rPr sz="1000" b="1" i="0">
                <a:solidFill>
                  <a:srgbClr val="FFFFFF"/>
                </a:solidFill>
              </a:rPr>
              <a:t>2</a:t>
            </a:r>
          </a:p>
        </p:txBody>
      </p:sp>
      <p:sp>
        <p:nvSpPr>
          <p:cNvPr id="12" name="TextBox 11"/>
          <p:cNvSpPr txBox="1"/>
          <p:nvPr/>
        </p:nvSpPr>
        <p:spPr>
          <a:xfrm>
            <a:off x="868680" y="1773936"/>
            <a:ext cx="4114800" cy="310896"/>
          </a:xfrm>
          <a:prstGeom prst="rect">
            <a:avLst/>
          </a:prstGeom>
          <a:noFill/>
        </p:spPr>
        <p:txBody>
          <a:bodyPr wrap="square">
            <a:spAutoFit/>
          </a:bodyPr>
          <a:lstStyle/>
          <a:p>
            <a:pPr algn="l"/>
            <a:r>
              <a:rPr sz="1000" b="0" i="0">
                <a:solidFill>
                  <a:srgbClr val="222222"/>
                </a:solidFill>
              </a:rPr>
              <a:t>背景・課題</a:t>
            </a:r>
          </a:p>
        </p:txBody>
      </p:sp>
      <p:sp>
        <p:nvSpPr>
          <p:cNvPr id="13" name="TextBox 12"/>
          <p:cNvSpPr txBox="1"/>
          <p:nvPr/>
        </p:nvSpPr>
        <p:spPr>
          <a:xfrm>
            <a:off x="4663440" y="1773936"/>
            <a:ext cx="1097280" cy="310896"/>
          </a:xfrm>
          <a:prstGeom prst="rect">
            <a:avLst/>
          </a:prstGeom>
          <a:solidFill>
            <a:srgbClr val="D1FAE5"/>
          </a:solidFill>
        </p:spPr>
        <p:txBody>
          <a:bodyPr wrap="square">
            <a:spAutoFit/>
          </a:bodyPr>
          <a:lstStyle/>
          <a:p>
            <a:pPr algn="ctr"/>
            <a:r>
              <a:rPr sz="800" b="1" i="0">
                <a:solidFill>
                  <a:srgbClr val="065F46"/>
                </a:solidFill>
              </a:rPr>
              <a:t>[確定]</a:t>
            </a:r>
          </a:p>
        </p:txBody>
      </p:sp>
      <p:sp>
        <p:nvSpPr>
          <p:cNvPr id="14" name="Rectangle 13"/>
          <p:cNvSpPr/>
          <p:nvPr/>
        </p:nvSpPr>
        <p:spPr>
          <a:xfrm>
            <a:off x="365760" y="2194560"/>
            <a:ext cx="457200" cy="384048"/>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231136"/>
            <a:ext cx="457200" cy="310896"/>
          </a:xfrm>
          <a:prstGeom prst="rect">
            <a:avLst/>
          </a:prstGeom>
          <a:noFill/>
        </p:spPr>
        <p:txBody>
          <a:bodyPr wrap="square">
            <a:spAutoFit/>
          </a:bodyPr>
          <a:lstStyle/>
          <a:p>
            <a:pPr algn="ctr"/>
            <a:r>
              <a:rPr sz="1000" b="1" i="0">
                <a:solidFill>
                  <a:srgbClr val="FFFFFF"/>
                </a:solidFill>
              </a:rPr>
              <a:t>3</a:t>
            </a:r>
          </a:p>
        </p:txBody>
      </p:sp>
      <p:sp>
        <p:nvSpPr>
          <p:cNvPr id="16" name="TextBox 15"/>
          <p:cNvSpPr txBox="1"/>
          <p:nvPr/>
        </p:nvSpPr>
        <p:spPr>
          <a:xfrm>
            <a:off x="868680" y="2231136"/>
            <a:ext cx="4114800" cy="310896"/>
          </a:xfrm>
          <a:prstGeom prst="rect">
            <a:avLst/>
          </a:prstGeom>
          <a:noFill/>
        </p:spPr>
        <p:txBody>
          <a:bodyPr wrap="square">
            <a:spAutoFit/>
          </a:bodyPr>
          <a:lstStyle/>
          <a:p>
            <a:pPr algn="l"/>
            <a:r>
              <a:rPr sz="1000" b="0" i="0">
                <a:solidFill>
                  <a:srgbClr val="222222"/>
                </a:solidFill>
              </a:rPr>
              <a:t>目的・位置づけ</a:t>
            </a:r>
          </a:p>
        </p:txBody>
      </p:sp>
      <p:sp>
        <p:nvSpPr>
          <p:cNvPr id="17" name="TextBox 16"/>
          <p:cNvSpPr txBox="1"/>
          <p:nvPr/>
        </p:nvSpPr>
        <p:spPr>
          <a:xfrm>
            <a:off x="4663440" y="2231136"/>
            <a:ext cx="1097280" cy="310896"/>
          </a:xfrm>
          <a:prstGeom prst="rect">
            <a:avLst/>
          </a:prstGeom>
          <a:solidFill>
            <a:srgbClr val="D1FAE5"/>
          </a:solidFill>
        </p:spPr>
        <p:txBody>
          <a:bodyPr wrap="square">
            <a:spAutoFit/>
          </a:bodyPr>
          <a:lstStyle/>
          <a:p>
            <a:pPr algn="ctr"/>
            <a:r>
              <a:rPr sz="800" b="1" i="0">
                <a:solidFill>
                  <a:srgbClr val="065F46"/>
                </a:solidFill>
              </a:rPr>
              <a:t>[確定]</a:t>
            </a:r>
          </a:p>
        </p:txBody>
      </p:sp>
      <p:sp>
        <p:nvSpPr>
          <p:cNvPr id="18" name="Rectangle 17"/>
          <p:cNvSpPr/>
          <p:nvPr/>
        </p:nvSpPr>
        <p:spPr>
          <a:xfrm>
            <a:off x="365760" y="2651760"/>
            <a:ext cx="457200" cy="384048"/>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2688336"/>
            <a:ext cx="457200" cy="310896"/>
          </a:xfrm>
          <a:prstGeom prst="rect">
            <a:avLst/>
          </a:prstGeom>
          <a:noFill/>
        </p:spPr>
        <p:txBody>
          <a:bodyPr wrap="square">
            <a:spAutoFit/>
          </a:bodyPr>
          <a:lstStyle/>
          <a:p>
            <a:pPr algn="ctr"/>
            <a:r>
              <a:rPr sz="1000" b="1" i="0">
                <a:solidFill>
                  <a:srgbClr val="FFFFFF"/>
                </a:solidFill>
              </a:rPr>
              <a:t>4</a:t>
            </a:r>
          </a:p>
        </p:txBody>
      </p:sp>
      <p:sp>
        <p:nvSpPr>
          <p:cNvPr id="20" name="TextBox 19"/>
          <p:cNvSpPr txBox="1"/>
          <p:nvPr/>
        </p:nvSpPr>
        <p:spPr>
          <a:xfrm>
            <a:off x="868680" y="2688336"/>
            <a:ext cx="4114800" cy="310896"/>
          </a:xfrm>
          <a:prstGeom prst="rect">
            <a:avLst/>
          </a:prstGeom>
          <a:noFill/>
        </p:spPr>
        <p:txBody>
          <a:bodyPr wrap="square">
            <a:spAutoFit/>
          </a:bodyPr>
          <a:lstStyle/>
          <a:p>
            <a:pPr algn="l"/>
            <a:r>
              <a:rPr sz="1000" b="0" i="0">
                <a:solidFill>
                  <a:srgbClr val="222222"/>
                </a:solidFill>
              </a:rPr>
              <a:t>法令要件の整理</a:t>
            </a:r>
          </a:p>
        </p:txBody>
      </p:sp>
      <p:sp>
        <p:nvSpPr>
          <p:cNvPr id="21" name="TextBox 20"/>
          <p:cNvSpPr txBox="1"/>
          <p:nvPr/>
        </p:nvSpPr>
        <p:spPr>
          <a:xfrm>
            <a:off x="4663440" y="2688336"/>
            <a:ext cx="1097280" cy="310896"/>
          </a:xfrm>
          <a:prstGeom prst="rect">
            <a:avLst/>
          </a:prstGeom>
          <a:solidFill>
            <a:srgbClr val="D1FAE5"/>
          </a:solidFill>
        </p:spPr>
        <p:txBody>
          <a:bodyPr wrap="square">
            <a:spAutoFit/>
          </a:bodyPr>
          <a:lstStyle/>
          <a:p>
            <a:pPr algn="ctr"/>
            <a:r>
              <a:rPr sz="800" b="1" i="0">
                <a:solidFill>
                  <a:srgbClr val="065F46"/>
                </a:solidFill>
              </a:rPr>
              <a:t>[確定]</a:t>
            </a:r>
          </a:p>
        </p:txBody>
      </p:sp>
      <p:sp>
        <p:nvSpPr>
          <p:cNvPr id="22" name="Rectangle 21"/>
          <p:cNvSpPr/>
          <p:nvPr/>
        </p:nvSpPr>
        <p:spPr>
          <a:xfrm>
            <a:off x="365760" y="3108960"/>
            <a:ext cx="457200" cy="384048"/>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3145536"/>
            <a:ext cx="457200" cy="310896"/>
          </a:xfrm>
          <a:prstGeom prst="rect">
            <a:avLst/>
          </a:prstGeom>
          <a:noFill/>
        </p:spPr>
        <p:txBody>
          <a:bodyPr wrap="square">
            <a:spAutoFit/>
          </a:bodyPr>
          <a:lstStyle/>
          <a:p>
            <a:pPr algn="ctr"/>
            <a:r>
              <a:rPr sz="1000" b="1" i="0">
                <a:solidFill>
                  <a:srgbClr val="FFFFFF"/>
                </a:solidFill>
              </a:rPr>
              <a:t>5</a:t>
            </a:r>
          </a:p>
        </p:txBody>
      </p:sp>
      <p:sp>
        <p:nvSpPr>
          <p:cNvPr id="24" name="TextBox 23"/>
          <p:cNvSpPr txBox="1"/>
          <p:nvPr/>
        </p:nvSpPr>
        <p:spPr>
          <a:xfrm>
            <a:off x="868680" y="3145536"/>
            <a:ext cx="4114800" cy="310896"/>
          </a:xfrm>
          <a:prstGeom prst="rect">
            <a:avLst/>
          </a:prstGeom>
          <a:noFill/>
        </p:spPr>
        <p:txBody>
          <a:bodyPr wrap="square">
            <a:spAutoFit/>
          </a:bodyPr>
          <a:lstStyle/>
          <a:p>
            <a:pPr algn="l"/>
            <a:r>
              <a:rPr sz="1000" b="0" i="0">
                <a:solidFill>
                  <a:srgbClr val="222222"/>
                </a:solidFill>
              </a:rPr>
              <a:t>対応前後の比較</a:t>
            </a:r>
          </a:p>
        </p:txBody>
      </p:sp>
      <p:sp>
        <p:nvSpPr>
          <p:cNvPr id="25" name="TextBox 24"/>
          <p:cNvSpPr txBox="1"/>
          <p:nvPr/>
        </p:nvSpPr>
        <p:spPr>
          <a:xfrm>
            <a:off x="4663440" y="3145536"/>
            <a:ext cx="1097280" cy="310896"/>
          </a:xfrm>
          <a:prstGeom prst="rect">
            <a:avLst/>
          </a:prstGeom>
          <a:solidFill>
            <a:srgbClr val="D1FAE5"/>
          </a:solidFill>
        </p:spPr>
        <p:txBody>
          <a:bodyPr wrap="square">
            <a:spAutoFit/>
          </a:bodyPr>
          <a:lstStyle/>
          <a:p>
            <a:pPr algn="ctr"/>
            <a:r>
              <a:rPr sz="800" b="1" i="0">
                <a:solidFill>
                  <a:srgbClr val="065F46"/>
                </a:solidFill>
              </a:rPr>
              <a:t>[確定]</a:t>
            </a:r>
          </a:p>
        </p:txBody>
      </p:sp>
      <p:sp>
        <p:nvSpPr>
          <p:cNvPr id="26" name="Rectangle 25"/>
          <p:cNvSpPr/>
          <p:nvPr/>
        </p:nvSpPr>
        <p:spPr>
          <a:xfrm>
            <a:off x="365760" y="3566160"/>
            <a:ext cx="457200" cy="384048"/>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3602736"/>
            <a:ext cx="457200" cy="310896"/>
          </a:xfrm>
          <a:prstGeom prst="rect">
            <a:avLst/>
          </a:prstGeom>
          <a:noFill/>
        </p:spPr>
        <p:txBody>
          <a:bodyPr wrap="square">
            <a:spAutoFit/>
          </a:bodyPr>
          <a:lstStyle/>
          <a:p>
            <a:pPr algn="ctr"/>
            <a:r>
              <a:rPr sz="1000" b="1" i="0">
                <a:solidFill>
                  <a:srgbClr val="FFFFFF"/>
                </a:solidFill>
              </a:rPr>
              <a:t>6</a:t>
            </a:r>
          </a:p>
        </p:txBody>
      </p:sp>
      <p:sp>
        <p:nvSpPr>
          <p:cNvPr id="28" name="TextBox 27"/>
          <p:cNvSpPr txBox="1"/>
          <p:nvPr/>
        </p:nvSpPr>
        <p:spPr>
          <a:xfrm>
            <a:off x="868680" y="3602736"/>
            <a:ext cx="4114800" cy="310896"/>
          </a:xfrm>
          <a:prstGeom prst="rect">
            <a:avLst/>
          </a:prstGeom>
          <a:noFill/>
        </p:spPr>
        <p:txBody>
          <a:bodyPr wrap="square">
            <a:spAutoFit/>
          </a:bodyPr>
          <a:lstStyle/>
          <a:p>
            <a:pPr algn="l"/>
            <a:r>
              <a:rPr sz="1000" b="0" i="0">
                <a:solidFill>
                  <a:srgbClr val="222222"/>
                </a:solidFill>
              </a:rPr>
              <a:t>リスク一覧</a:t>
            </a:r>
          </a:p>
        </p:txBody>
      </p:sp>
      <p:sp>
        <p:nvSpPr>
          <p:cNvPr id="29" name="TextBox 28"/>
          <p:cNvSpPr txBox="1"/>
          <p:nvPr/>
        </p:nvSpPr>
        <p:spPr>
          <a:xfrm>
            <a:off x="4663440" y="3602736"/>
            <a:ext cx="1097280" cy="310896"/>
          </a:xfrm>
          <a:prstGeom prst="rect">
            <a:avLst/>
          </a:prstGeom>
          <a:solidFill>
            <a:srgbClr val="D1FAE5"/>
          </a:solidFill>
        </p:spPr>
        <p:txBody>
          <a:bodyPr wrap="square">
            <a:spAutoFit/>
          </a:bodyPr>
          <a:lstStyle/>
          <a:p>
            <a:pPr algn="ctr"/>
            <a:r>
              <a:rPr sz="800" b="1" i="0">
                <a:solidFill>
                  <a:srgbClr val="065F46"/>
                </a:solidFill>
              </a:rPr>
              <a:t>[確定]</a:t>
            </a:r>
          </a:p>
        </p:txBody>
      </p:sp>
      <p:sp>
        <p:nvSpPr>
          <p:cNvPr id="30" name="Rectangle 29"/>
          <p:cNvSpPr/>
          <p:nvPr/>
        </p:nvSpPr>
        <p:spPr>
          <a:xfrm>
            <a:off x="6309360" y="1280160"/>
            <a:ext cx="457200" cy="384048"/>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1316736"/>
            <a:ext cx="457200" cy="310896"/>
          </a:xfrm>
          <a:prstGeom prst="rect">
            <a:avLst/>
          </a:prstGeom>
          <a:noFill/>
        </p:spPr>
        <p:txBody>
          <a:bodyPr wrap="square">
            <a:spAutoFit/>
          </a:bodyPr>
          <a:lstStyle/>
          <a:p>
            <a:pPr algn="ctr"/>
            <a:r>
              <a:rPr sz="1000" b="1" i="0">
                <a:solidFill>
                  <a:srgbClr val="FFFFFF"/>
                </a:solidFill>
              </a:rPr>
              <a:t>7</a:t>
            </a:r>
          </a:p>
        </p:txBody>
      </p:sp>
      <p:sp>
        <p:nvSpPr>
          <p:cNvPr id="32" name="TextBox 31"/>
          <p:cNvSpPr txBox="1"/>
          <p:nvPr/>
        </p:nvSpPr>
        <p:spPr>
          <a:xfrm>
            <a:off x="6812280" y="1316736"/>
            <a:ext cx="4114800" cy="310896"/>
          </a:xfrm>
          <a:prstGeom prst="rect">
            <a:avLst/>
          </a:prstGeom>
          <a:noFill/>
        </p:spPr>
        <p:txBody>
          <a:bodyPr wrap="square">
            <a:spAutoFit/>
          </a:bodyPr>
          <a:lstStyle/>
          <a:p>
            <a:pPr algn="l"/>
            <a:r>
              <a:rPr sz="1000" b="0" i="0">
                <a:solidFill>
                  <a:srgbClr val="222222"/>
                </a:solidFill>
              </a:rPr>
              <a:t>対応方針（原則）</a:t>
            </a:r>
          </a:p>
        </p:txBody>
      </p:sp>
      <p:sp>
        <p:nvSpPr>
          <p:cNvPr id="33" name="TextBox 32"/>
          <p:cNvSpPr txBox="1"/>
          <p:nvPr/>
        </p:nvSpPr>
        <p:spPr>
          <a:xfrm>
            <a:off x="10607040" y="1316736"/>
            <a:ext cx="1097280" cy="310896"/>
          </a:xfrm>
          <a:prstGeom prst="rect">
            <a:avLst/>
          </a:prstGeom>
          <a:solidFill>
            <a:srgbClr val="D1FAE5"/>
          </a:solidFill>
        </p:spPr>
        <p:txBody>
          <a:bodyPr wrap="square">
            <a:spAutoFit/>
          </a:bodyPr>
          <a:lstStyle/>
          <a:p>
            <a:pPr algn="ctr"/>
            <a:r>
              <a:rPr sz="800" b="1" i="0">
                <a:solidFill>
                  <a:srgbClr val="065F46"/>
                </a:solidFill>
              </a:rPr>
              <a:t>[確定]</a:t>
            </a:r>
          </a:p>
        </p:txBody>
      </p:sp>
      <p:sp>
        <p:nvSpPr>
          <p:cNvPr id="34" name="Rectangle 33"/>
          <p:cNvSpPr/>
          <p:nvPr/>
        </p:nvSpPr>
        <p:spPr>
          <a:xfrm>
            <a:off x="6309360" y="1737360"/>
            <a:ext cx="457200" cy="384048"/>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0" y="1773936"/>
            <a:ext cx="457200" cy="310896"/>
          </a:xfrm>
          <a:prstGeom prst="rect">
            <a:avLst/>
          </a:prstGeom>
          <a:noFill/>
        </p:spPr>
        <p:txBody>
          <a:bodyPr wrap="square">
            <a:spAutoFit/>
          </a:bodyPr>
          <a:lstStyle/>
          <a:p>
            <a:pPr algn="ctr"/>
            <a:r>
              <a:rPr sz="1000" b="1" i="0">
                <a:solidFill>
                  <a:srgbClr val="FFFFFF"/>
                </a:solidFill>
              </a:rPr>
              <a:t>8</a:t>
            </a:r>
          </a:p>
        </p:txBody>
      </p:sp>
      <p:sp>
        <p:nvSpPr>
          <p:cNvPr id="36" name="TextBox 35"/>
          <p:cNvSpPr txBox="1"/>
          <p:nvPr/>
        </p:nvSpPr>
        <p:spPr>
          <a:xfrm>
            <a:off x="6812280" y="1773936"/>
            <a:ext cx="4114800" cy="310896"/>
          </a:xfrm>
          <a:prstGeom prst="rect">
            <a:avLst/>
          </a:prstGeom>
          <a:noFill/>
        </p:spPr>
        <p:txBody>
          <a:bodyPr wrap="square">
            <a:spAutoFit/>
          </a:bodyPr>
          <a:lstStyle/>
          <a:p>
            <a:pPr algn="l"/>
            <a:r>
              <a:rPr sz="1000" b="0" i="0">
                <a:solidFill>
                  <a:srgbClr val="222222"/>
                </a:solidFill>
              </a:rPr>
              <a:t>法律・規制の詳細</a:t>
            </a:r>
          </a:p>
        </p:txBody>
      </p:sp>
      <p:sp>
        <p:nvSpPr>
          <p:cNvPr id="37" name="TextBox 36"/>
          <p:cNvSpPr txBox="1"/>
          <p:nvPr/>
        </p:nvSpPr>
        <p:spPr>
          <a:xfrm>
            <a:off x="10607040" y="1773936"/>
            <a:ext cx="1097280" cy="310896"/>
          </a:xfrm>
          <a:prstGeom prst="rect">
            <a:avLst/>
          </a:prstGeom>
          <a:solidFill>
            <a:srgbClr val="D1FAE5"/>
          </a:solidFill>
        </p:spPr>
        <p:txBody>
          <a:bodyPr wrap="square">
            <a:spAutoFit/>
          </a:bodyPr>
          <a:lstStyle/>
          <a:p>
            <a:pPr algn="ctr"/>
            <a:r>
              <a:rPr sz="800" b="1" i="0">
                <a:solidFill>
                  <a:srgbClr val="065F46"/>
                </a:solidFill>
              </a:rPr>
              <a:t>[確定]</a:t>
            </a:r>
          </a:p>
        </p:txBody>
      </p:sp>
      <p:sp>
        <p:nvSpPr>
          <p:cNvPr id="38" name="Rectangle 37"/>
          <p:cNvSpPr/>
          <p:nvPr/>
        </p:nvSpPr>
        <p:spPr>
          <a:xfrm>
            <a:off x="6309360" y="2194560"/>
            <a:ext cx="457200" cy="384048"/>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09360" y="2231136"/>
            <a:ext cx="457200" cy="310896"/>
          </a:xfrm>
          <a:prstGeom prst="rect">
            <a:avLst/>
          </a:prstGeom>
          <a:noFill/>
        </p:spPr>
        <p:txBody>
          <a:bodyPr wrap="square">
            <a:spAutoFit/>
          </a:bodyPr>
          <a:lstStyle/>
          <a:p>
            <a:pPr algn="ctr"/>
            <a:r>
              <a:rPr sz="1000" b="1" i="0">
                <a:solidFill>
                  <a:srgbClr val="FFFFFF"/>
                </a:solidFill>
              </a:rPr>
              <a:t>9</a:t>
            </a:r>
          </a:p>
        </p:txBody>
      </p:sp>
      <p:sp>
        <p:nvSpPr>
          <p:cNvPr id="40" name="TextBox 39"/>
          <p:cNvSpPr txBox="1"/>
          <p:nvPr/>
        </p:nvSpPr>
        <p:spPr>
          <a:xfrm>
            <a:off x="6812280" y="2231136"/>
            <a:ext cx="4114800" cy="310896"/>
          </a:xfrm>
          <a:prstGeom prst="rect">
            <a:avLst/>
          </a:prstGeom>
          <a:noFill/>
        </p:spPr>
        <p:txBody>
          <a:bodyPr wrap="square">
            <a:spAutoFit/>
          </a:bodyPr>
          <a:lstStyle/>
          <a:p>
            <a:pPr algn="l"/>
            <a:r>
              <a:rPr sz="1000" b="0" i="0">
                <a:solidFill>
                  <a:srgbClr val="222222"/>
                </a:solidFill>
              </a:rPr>
              <a:t>対応フロー</a:t>
            </a:r>
          </a:p>
        </p:txBody>
      </p:sp>
      <p:sp>
        <p:nvSpPr>
          <p:cNvPr id="41" name="TextBox 40"/>
          <p:cNvSpPr txBox="1"/>
          <p:nvPr/>
        </p:nvSpPr>
        <p:spPr>
          <a:xfrm>
            <a:off x="10607040" y="2231136"/>
            <a:ext cx="1097280" cy="310896"/>
          </a:xfrm>
          <a:prstGeom prst="rect">
            <a:avLst/>
          </a:prstGeom>
          <a:solidFill>
            <a:srgbClr val="D1FAE5"/>
          </a:solidFill>
        </p:spPr>
        <p:txBody>
          <a:bodyPr wrap="square">
            <a:spAutoFit/>
          </a:bodyPr>
          <a:lstStyle/>
          <a:p>
            <a:pPr algn="ctr"/>
            <a:r>
              <a:rPr sz="800" b="1" i="0">
                <a:solidFill>
                  <a:srgbClr val="065F46"/>
                </a:solidFill>
              </a:rPr>
              <a:t>[確定]</a:t>
            </a:r>
          </a:p>
        </p:txBody>
      </p:sp>
      <p:sp>
        <p:nvSpPr>
          <p:cNvPr id="42" name="Rectangle 41"/>
          <p:cNvSpPr/>
          <p:nvPr/>
        </p:nvSpPr>
        <p:spPr>
          <a:xfrm>
            <a:off x="6309360" y="2651760"/>
            <a:ext cx="457200" cy="384048"/>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09360" y="2688336"/>
            <a:ext cx="457200" cy="310896"/>
          </a:xfrm>
          <a:prstGeom prst="rect">
            <a:avLst/>
          </a:prstGeom>
          <a:noFill/>
        </p:spPr>
        <p:txBody>
          <a:bodyPr wrap="square">
            <a:spAutoFit/>
          </a:bodyPr>
          <a:lstStyle/>
          <a:p>
            <a:pPr algn="ctr"/>
            <a:r>
              <a:rPr sz="1000" b="1" i="0">
                <a:solidFill>
                  <a:srgbClr val="FFFFFF"/>
                </a:solidFill>
              </a:rPr>
              <a:t>10</a:t>
            </a:r>
          </a:p>
        </p:txBody>
      </p:sp>
      <p:sp>
        <p:nvSpPr>
          <p:cNvPr id="44" name="TextBox 43"/>
          <p:cNvSpPr txBox="1"/>
          <p:nvPr/>
        </p:nvSpPr>
        <p:spPr>
          <a:xfrm>
            <a:off x="6812280" y="2688336"/>
            <a:ext cx="4114800" cy="310896"/>
          </a:xfrm>
          <a:prstGeom prst="rect">
            <a:avLst/>
          </a:prstGeom>
          <a:noFill/>
        </p:spPr>
        <p:txBody>
          <a:bodyPr wrap="square">
            <a:spAutoFit/>
          </a:bodyPr>
          <a:lstStyle/>
          <a:p>
            <a:pPr algn="l"/>
            <a:r>
              <a:rPr sz="1000" b="0" i="0">
                <a:solidFill>
                  <a:srgbClr val="222222"/>
                </a:solidFill>
              </a:rPr>
              <a:t>コスト・ROI試算</a:t>
            </a:r>
          </a:p>
        </p:txBody>
      </p:sp>
      <p:sp>
        <p:nvSpPr>
          <p:cNvPr id="45" name="TextBox 44"/>
          <p:cNvSpPr txBox="1"/>
          <p:nvPr/>
        </p:nvSpPr>
        <p:spPr>
          <a:xfrm>
            <a:off x="10607040" y="2688336"/>
            <a:ext cx="1097280" cy="310896"/>
          </a:xfrm>
          <a:prstGeom prst="rect">
            <a:avLst/>
          </a:prstGeom>
          <a:solidFill>
            <a:srgbClr val="FEF3C7"/>
          </a:solidFill>
        </p:spPr>
        <p:txBody>
          <a:bodyPr wrap="square">
            <a:spAutoFit/>
          </a:bodyPr>
          <a:lstStyle/>
          <a:p>
            <a:pPr algn="ctr"/>
            <a:r>
              <a:rPr sz="800" b="1" i="0">
                <a:solidFill>
                  <a:srgbClr val="924009"/>
                </a:solidFill>
              </a:rPr>
              <a:t>[検討中]</a:t>
            </a:r>
          </a:p>
        </p:txBody>
      </p:sp>
      <p:sp>
        <p:nvSpPr>
          <p:cNvPr id="46" name="Rectangle 45"/>
          <p:cNvSpPr/>
          <p:nvPr/>
        </p:nvSpPr>
        <p:spPr>
          <a:xfrm>
            <a:off x="6309360" y="3108960"/>
            <a:ext cx="457200" cy="384048"/>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09360" y="3145536"/>
            <a:ext cx="457200" cy="310896"/>
          </a:xfrm>
          <a:prstGeom prst="rect">
            <a:avLst/>
          </a:prstGeom>
          <a:noFill/>
        </p:spPr>
        <p:txBody>
          <a:bodyPr wrap="square">
            <a:spAutoFit/>
          </a:bodyPr>
          <a:lstStyle/>
          <a:p>
            <a:pPr algn="ctr"/>
            <a:r>
              <a:rPr sz="1000" b="1" i="0">
                <a:solidFill>
                  <a:srgbClr val="FFFFFF"/>
                </a:solidFill>
              </a:rPr>
              <a:t>11</a:t>
            </a:r>
          </a:p>
        </p:txBody>
      </p:sp>
      <p:sp>
        <p:nvSpPr>
          <p:cNvPr id="48" name="TextBox 47"/>
          <p:cNvSpPr txBox="1"/>
          <p:nvPr/>
        </p:nvSpPr>
        <p:spPr>
          <a:xfrm>
            <a:off x="6812280" y="3145536"/>
            <a:ext cx="4114800" cy="310896"/>
          </a:xfrm>
          <a:prstGeom prst="rect">
            <a:avLst/>
          </a:prstGeom>
          <a:noFill/>
        </p:spPr>
        <p:txBody>
          <a:bodyPr wrap="square">
            <a:spAutoFit/>
          </a:bodyPr>
          <a:lstStyle/>
          <a:p>
            <a:pPr algn="l"/>
            <a:r>
              <a:rPr sz="1000" b="0" i="0">
                <a:solidFill>
                  <a:srgbClr val="222222"/>
                </a:solidFill>
              </a:rPr>
              <a:t>活用事例</a:t>
            </a:r>
          </a:p>
        </p:txBody>
      </p:sp>
      <p:sp>
        <p:nvSpPr>
          <p:cNvPr id="49" name="TextBox 48"/>
          <p:cNvSpPr txBox="1"/>
          <p:nvPr/>
        </p:nvSpPr>
        <p:spPr>
          <a:xfrm>
            <a:off x="10607040" y="3145536"/>
            <a:ext cx="1097280" cy="310896"/>
          </a:xfrm>
          <a:prstGeom prst="rect">
            <a:avLst/>
          </a:prstGeom>
          <a:solidFill>
            <a:srgbClr val="DBEAFE"/>
          </a:solidFill>
        </p:spPr>
        <p:txBody>
          <a:bodyPr wrap="square">
            <a:spAutoFit/>
          </a:bodyPr>
          <a:lstStyle/>
          <a:p>
            <a:pPr algn="ctr"/>
            <a:r>
              <a:rPr sz="800" b="1" i="0">
                <a:solidFill>
                  <a:srgbClr val="1E40AF"/>
                </a:solidFill>
              </a:rPr>
              <a:t>[参考]</a:t>
            </a:r>
          </a:p>
        </p:txBody>
      </p:sp>
      <p:sp>
        <p:nvSpPr>
          <p:cNvPr id="50" name="Rectangle 49"/>
          <p:cNvSpPr/>
          <p:nvPr/>
        </p:nvSpPr>
        <p:spPr>
          <a:xfrm>
            <a:off x="6309360" y="3566160"/>
            <a:ext cx="457200" cy="384048"/>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09360" y="3602736"/>
            <a:ext cx="457200" cy="310896"/>
          </a:xfrm>
          <a:prstGeom prst="rect">
            <a:avLst/>
          </a:prstGeom>
          <a:noFill/>
        </p:spPr>
        <p:txBody>
          <a:bodyPr wrap="square">
            <a:spAutoFit/>
          </a:bodyPr>
          <a:lstStyle/>
          <a:p>
            <a:pPr algn="ctr"/>
            <a:r>
              <a:rPr sz="1000" b="1" i="0">
                <a:solidFill>
                  <a:srgbClr val="FFFFFF"/>
                </a:solidFill>
              </a:rPr>
              <a:t>12</a:t>
            </a:r>
          </a:p>
        </p:txBody>
      </p:sp>
      <p:sp>
        <p:nvSpPr>
          <p:cNvPr id="52" name="TextBox 51"/>
          <p:cNvSpPr txBox="1"/>
          <p:nvPr/>
        </p:nvSpPr>
        <p:spPr>
          <a:xfrm>
            <a:off x="6812280" y="3602736"/>
            <a:ext cx="4114800" cy="310896"/>
          </a:xfrm>
          <a:prstGeom prst="rect">
            <a:avLst/>
          </a:prstGeom>
          <a:noFill/>
        </p:spPr>
        <p:txBody>
          <a:bodyPr wrap="square">
            <a:spAutoFit/>
          </a:bodyPr>
          <a:lstStyle/>
          <a:p>
            <a:pPr algn="l"/>
            <a:r>
              <a:rPr sz="1000" b="0" i="0">
                <a:solidFill>
                  <a:srgbClr val="222222"/>
                </a:solidFill>
              </a:rPr>
              <a:t>まとめ・今後のアクション</a:t>
            </a:r>
          </a:p>
        </p:txBody>
      </p:sp>
      <p:sp>
        <p:nvSpPr>
          <p:cNvPr id="53" name="TextBox 52"/>
          <p:cNvSpPr txBox="1"/>
          <p:nvPr/>
        </p:nvSpPr>
        <p:spPr>
          <a:xfrm>
            <a:off x="10607040" y="3602736"/>
            <a:ext cx="1097280" cy="310896"/>
          </a:xfrm>
          <a:prstGeom prst="rect">
            <a:avLst/>
          </a:prstGeom>
          <a:solidFill>
            <a:srgbClr val="D1FAE5"/>
          </a:solidFill>
        </p:spPr>
        <p:txBody>
          <a:bodyPr wrap="square">
            <a:spAutoFit/>
          </a:bodyPr>
          <a:lstStyle/>
          <a:p>
            <a:pPr algn="ctr"/>
            <a:r>
              <a:rPr sz="800" b="1" i="0">
                <a:solidFill>
                  <a:srgbClr val="065F46"/>
                </a:solidFill>
              </a:rPr>
              <a:t>[確定]</a:t>
            </a:r>
          </a:p>
        </p:txBody>
      </p:sp>
      <p:sp>
        <p:nvSpPr>
          <p:cNvPr id="54" name="Rectangle 53"/>
          <p:cNvSpPr/>
          <p:nvPr/>
        </p:nvSpPr>
        <p:spPr>
          <a:xfrm>
            <a:off x="0" y="6537960"/>
            <a:ext cx="12188952"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74320" y="6565392"/>
            <a:ext cx="9144000" cy="256032"/>
          </a:xfrm>
          <a:prstGeom prst="rect">
            <a:avLst/>
          </a:prstGeom>
          <a:noFill/>
        </p:spPr>
        <p:txBody>
          <a:bodyPr wrap="square">
            <a:spAutoFit/>
          </a:bodyPr>
          <a:lstStyle/>
          <a:p>
            <a:pPr algn="l"/>
            <a:r>
              <a:rPr sz="800" b="0" i="0">
                <a:solidFill>
                  <a:srgbClr val="6B7280"/>
                </a:solidFill>
              </a:rPr>
              <a:t>保冷バッグ Amazon輸入 品質表示法対応 提案書  ©貴社名</a:t>
            </a:r>
          </a:p>
        </p:txBody>
      </p:sp>
      <p:sp>
        <p:nvSpPr>
          <p:cNvPr id="56" name="TextBox 55"/>
          <p:cNvSpPr txBox="1"/>
          <p:nvPr/>
        </p:nvSpPr>
        <p:spPr>
          <a:xfrm>
            <a:off x="11247120" y="6565392"/>
            <a:ext cx="914400" cy="256032"/>
          </a:xfrm>
          <a:prstGeom prst="rect">
            <a:avLst/>
          </a:prstGeom>
          <a:noFill/>
        </p:spPr>
        <p:txBody>
          <a:bodyPr wrap="square">
            <a:spAutoFit/>
          </a:bodyPr>
          <a:lstStyle/>
          <a:p>
            <a:pPr algn="r"/>
            <a:r>
              <a:rPr sz="800" b="0" i="0">
                <a:solidFill>
                  <a:srgbClr val="6B7280"/>
                </a:solidFill>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029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10972800" cy="384048"/>
          </a:xfrm>
          <a:prstGeom prst="rect">
            <a:avLst/>
          </a:prstGeom>
          <a:noFill/>
        </p:spPr>
        <p:txBody>
          <a:bodyPr wrap="square">
            <a:spAutoFit/>
          </a:bodyPr>
          <a:lstStyle/>
          <a:p>
            <a:pPr algn="l"/>
            <a:r>
              <a:rPr sz="1100" b="1" i="0">
                <a:solidFill>
                  <a:srgbClr val="FFFFFF"/>
                </a:solidFill>
              </a:rPr>
              <a:t>1. 用語集</a:t>
            </a:r>
          </a:p>
        </p:txBody>
      </p:sp>
      <p:sp>
        <p:nvSpPr>
          <p:cNvPr id="4" name="TextBox 3"/>
          <p:cNvSpPr txBox="1"/>
          <p:nvPr/>
        </p:nvSpPr>
        <p:spPr>
          <a:xfrm>
            <a:off x="365760" y="566928"/>
            <a:ext cx="11430000" cy="502920"/>
          </a:xfrm>
          <a:prstGeom prst="rect">
            <a:avLst/>
          </a:prstGeom>
          <a:noFill/>
        </p:spPr>
        <p:txBody>
          <a:bodyPr wrap="square">
            <a:spAutoFit/>
          </a:bodyPr>
          <a:lstStyle/>
          <a:p>
            <a:pPr algn="l"/>
            <a:r>
              <a:rPr sz="1800" b="1" i="0">
                <a:solidFill>
                  <a:srgbClr val="1E3A5F"/>
                </a:solidFill>
              </a:rPr>
              <a:t>用語集  ― 本資料で使用する主要用語</a:t>
            </a:r>
          </a:p>
        </p:txBody>
      </p:sp>
      <p:sp>
        <p:nvSpPr>
          <p:cNvPr id="5" name="Rectangle 4"/>
          <p:cNvSpPr/>
          <p:nvPr/>
        </p:nvSpPr>
        <p:spPr>
          <a:xfrm>
            <a:off x="365760" y="1115568"/>
            <a:ext cx="11457432" cy="36576"/>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73152"/>
            <a:ext cx="1280160" cy="320040"/>
          </a:xfrm>
          <a:prstGeom prst="rect">
            <a:avLst/>
          </a:prstGeom>
          <a:solidFill>
            <a:srgbClr val="D1FAE5"/>
          </a:solidFill>
        </p:spPr>
        <p:txBody>
          <a:bodyPr wrap="square">
            <a:spAutoFit/>
          </a:bodyPr>
          <a:lstStyle/>
          <a:p>
            <a:pPr algn="ctr"/>
            <a:r>
              <a:rPr sz="800" b="1" i="0">
                <a:solidFill>
                  <a:srgbClr val="065F46"/>
                </a:solidFill>
              </a:rPr>
              <a:t>[確定]</a:t>
            </a:r>
          </a:p>
        </p:txBody>
      </p:sp>
      <p:graphicFrame>
        <p:nvGraphicFramePr>
          <p:cNvPr id="7" name="Table 6"/>
          <p:cNvGraphicFramePr>
            <a:graphicFrameLocks noGrp="1"/>
          </p:cNvGraphicFramePr>
          <p:nvPr/>
        </p:nvGraphicFramePr>
        <p:xfrm>
          <a:off x="365760" y="1234440"/>
          <a:ext cx="11430000" cy="4169664"/>
        </p:xfrm>
        <a:graphic>
          <a:graphicData uri="http://schemas.openxmlformats.org/drawingml/2006/table">
            <a:tbl>
              <a:tblPr firstRow="1" bandRow="1">
                <a:tableStyleId>{5C22544A-7EE6-4342-B048-85BDC9FD1C3A}</a:tableStyleId>
              </a:tblPr>
              <a:tblGrid>
                <a:gridCol w="3200400"/>
                <a:gridCol w="8229600"/>
              </a:tblGrid>
              <a:tr h="347472">
                <a:tc>
                  <a:txBody>
                    <a:bodyPr wrap="square"/>
                    <a:lstStyle/>
                    <a:p>
                      <a:pPr algn="l"/>
                      <a:r>
                        <a:rPr sz="800" b="1">
                          <a:solidFill>
                            <a:srgbClr val="FFFFFF"/>
                          </a:solidFill>
                        </a:rPr>
                        <a:t>用語</a:t>
                      </a:r>
                    </a:p>
                  </a:txBody>
                  <a:tcPr>
                    <a:solidFill>
                      <a:srgbClr val="1A56DB"/>
                    </a:solidFill>
                  </a:tcPr>
                </a:tc>
                <a:tc>
                  <a:txBody>
                    <a:bodyPr wrap="square"/>
                    <a:lstStyle/>
                    <a:p>
                      <a:pPr algn="l"/>
                      <a:r>
                        <a:rPr sz="800" b="1">
                          <a:solidFill>
                            <a:srgbClr val="FFFFFF"/>
                          </a:solidFill>
                        </a:rPr>
                        <a:t>定義・意味</a:t>
                      </a:r>
                    </a:p>
                  </a:txBody>
                  <a:tcPr>
                    <a:solidFill>
                      <a:srgbClr val="1A56DB"/>
                    </a:solidFill>
                  </a:tcPr>
                </a:tc>
              </a:tr>
              <a:tr h="347472">
                <a:tc>
                  <a:txBody>
                    <a:bodyPr wrap="square"/>
                    <a:lstStyle/>
                    <a:p>
                      <a:pPr algn="l"/>
                      <a:r>
                        <a:rPr sz="800" b="0">
                          <a:solidFill>
                            <a:srgbClr val="222222"/>
                          </a:solidFill>
                        </a:rPr>
                        <a:t>家庭用品品質表示法（家表法）</a:t>
                      </a:r>
                    </a:p>
                  </a:txBody>
                  <a:tcPr>
                    <a:solidFill>
                      <a:srgbClr val="FFFFFF"/>
                    </a:solidFill>
                  </a:tcPr>
                </a:tc>
                <a:tc>
                  <a:txBody>
                    <a:bodyPr wrap="square"/>
                    <a:lstStyle/>
                    <a:p>
                      <a:pPr algn="l"/>
                      <a:r>
                        <a:rPr sz="800" b="0">
                          <a:solidFill>
                            <a:srgbClr val="222222"/>
                          </a:solidFill>
                        </a:rPr>
                        <a:t>家庭用品の品質表示の適正化を図る法律（昭和37年法律第104号）。違反時は20万円以下の罰金</a:t>
                      </a:r>
                    </a:p>
                  </a:txBody>
                  <a:tcPr>
                    <a:solidFill>
                      <a:srgbClr val="FFFFFF"/>
                    </a:solidFill>
                  </a:tcPr>
                </a:tc>
              </a:tr>
              <a:tr h="347472">
                <a:tc>
                  <a:txBody>
                    <a:bodyPr wrap="square"/>
                    <a:lstStyle/>
                    <a:p>
                      <a:pPr algn="l"/>
                      <a:r>
                        <a:rPr sz="800" b="0">
                          <a:solidFill>
                            <a:srgbClr val="222222"/>
                          </a:solidFill>
                        </a:rPr>
                        <a:t>合成樹脂加工品品質表示規程</a:t>
                      </a:r>
                    </a:p>
                  </a:txBody>
                  <a:tcPr>
                    <a:solidFill>
                      <a:srgbClr val="F8FAFC"/>
                    </a:solidFill>
                  </a:tcPr>
                </a:tc>
                <a:tc>
                  <a:txBody>
                    <a:bodyPr wrap="square"/>
                    <a:lstStyle/>
                    <a:p>
                      <a:pPr algn="l"/>
                      <a:r>
                        <a:rPr sz="800" b="0">
                          <a:solidFill>
                            <a:srgbClr val="222222"/>
                          </a:solidFill>
                        </a:rPr>
                        <a:t>家表法に基づき、合成樹脂製品の材質・耐熱温度・耐冷温度等の表示方法を定めた消費者庁告示</a:t>
                      </a:r>
                    </a:p>
                  </a:txBody>
                  <a:tcPr>
                    <a:solidFill>
                      <a:srgbClr val="F8FAFC"/>
                    </a:solidFill>
                  </a:tcPr>
                </a:tc>
              </a:tr>
              <a:tr h="347472">
                <a:tc>
                  <a:txBody>
                    <a:bodyPr wrap="square"/>
                    <a:lstStyle/>
                    <a:p>
                      <a:pPr algn="l"/>
                      <a:r>
                        <a:rPr sz="800" b="0">
                          <a:solidFill>
                            <a:srgbClr val="222222"/>
                          </a:solidFill>
                        </a:rPr>
                        <a:t>食品衛生法</a:t>
                      </a:r>
                    </a:p>
                  </a:txBody>
                  <a:tcPr>
                    <a:solidFill>
                      <a:srgbClr val="FFFFFF"/>
                    </a:solidFill>
                  </a:tcPr>
                </a:tc>
                <a:tc>
                  <a:txBody>
                    <a:bodyPr wrap="square"/>
                    <a:lstStyle/>
                    <a:p>
                      <a:pPr algn="l"/>
                      <a:r>
                        <a:rPr sz="800" b="0">
                          <a:solidFill>
                            <a:srgbClr val="222222"/>
                          </a:solidFill>
                        </a:rPr>
                        <a:t>食品の安全性を確保するための法律。食品に触れる器具・容器包装の規格基準を規定</a:t>
                      </a:r>
                    </a:p>
                  </a:txBody>
                  <a:tcPr>
                    <a:solidFill>
                      <a:srgbClr val="FFFFFF"/>
                    </a:solidFill>
                  </a:tcPr>
                </a:tc>
              </a:tr>
              <a:tr h="347472">
                <a:tc>
                  <a:txBody>
                    <a:bodyPr wrap="square"/>
                    <a:lstStyle/>
                    <a:p>
                      <a:pPr algn="l"/>
                      <a:r>
                        <a:rPr sz="800" b="0">
                          <a:solidFill>
                            <a:srgbClr val="222222"/>
                          </a:solidFill>
                        </a:rPr>
                        <a:t>ポジティブリスト（PL）制度</a:t>
                      </a:r>
                    </a:p>
                  </a:txBody>
                  <a:tcPr>
                    <a:solidFill>
                      <a:srgbClr val="F8FAFC"/>
                    </a:solidFill>
                  </a:tcPr>
                </a:tc>
                <a:tc>
                  <a:txBody>
                    <a:bodyPr wrap="square"/>
                    <a:lstStyle/>
                    <a:p>
                      <a:pPr algn="l"/>
                      <a:r>
                        <a:rPr sz="800" b="0">
                          <a:solidFill>
                            <a:srgbClr val="222222"/>
                          </a:solidFill>
                        </a:rPr>
                        <a:t>食品用器具・容器包装に使用できる物質をリスト化し、未掲載物質の使用を原則禁止する制度。2025年6月1日より経過措置終了・完全施行</a:t>
                      </a:r>
                    </a:p>
                  </a:txBody>
                  <a:tcPr>
                    <a:solidFill>
                      <a:srgbClr val="F8FAFC"/>
                    </a:solidFill>
                  </a:tcPr>
                </a:tc>
              </a:tr>
              <a:tr h="347472">
                <a:tc>
                  <a:txBody>
                    <a:bodyPr wrap="square"/>
                    <a:lstStyle/>
                    <a:p>
                      <a:pPr algn="l"/>
                      <a:r>
                        <a:rPr sz="800" b="0">
                          <a:solidFill>
                            <a:srgbClr val="222222"/>
                          </a:solidFill>
                        </a:rPr>
                        <a:t>適合証明書</a:t>
                      </a:r>
                    </a:p>
                  </a:txBody>
                  <a:tcPr>
                    <a:solidFill>
                      <a:srgbClr val="FFFFFF"/>
                    </a:solidFill>
                  </a:tcPr>
                </a:tc>
                <a:tc>
                  <a:txBody>
                    <a:bodyPr wrap="square"/>
                    <a:lstStyle/>
                    <a:p>
                      <a:pPr algn="l"/>
                      <a:r>
                        <a:rPr sz="800" b="0">
                          <a:solidFill>
                            <a:srgbClr val="222222"/>
                          </a:solidFill>
                        </a:rPr>
                        <a:t>製品がポジティブリスト基準に適合していることを証明する書類。仕入先（中国工場）から取得が必要</a:t>
                      </a:r>
                    </a:p>
                  </a:txBody>
                  <a:tcPr>
                    <a:solidFill>
                      <a:srgbClr val="FFFFFF"/>
                    </a:solidFill>
                  </a:tcPr>
                </a:tc>
              </a:tr>
              <a:tr h="347472">
                <a:tc>
                  <a:txBody>
                    <a:bodyPr wrap="square"/>
                    <a:lstStyle/>
                    <a:p>
                      <a:pPr algn="l"/>
                      <a:r>
                        <a:rPr sz="800" b="0">
                          <a:solidFill>
                            <a:srgbClr val="222222"/>
                          </a:solidFill>
                        </a:rPr>
                        <a:t>耐熱温度</a:t>
                      </a:r>
                    </a:p>
                  </a:txBody>
                  <a:tcPr>
                    <a:solidFill>
                      <a:srgbClr val="F8FAFC"/>
                    </a:solidFill>
                  </a:tcPr>
                </a:tc>
                <a:tc>
                  <a:txBody>
                    <a:bodyPr wrap="square"/>
                    <a:lstStyle/>
                    <a:p>
                      <a:pPr algn="l"/>
                      <a:r>
                        <a:rPr sz="800" b="0">
                          <a:solidFill>
                            <a:srgbClr val="222222"/>
                          </a:solidFill>
                        </a:rPr>
                        <a:t>合成樹脂製品が変形しない上限温度。家表法で表示義務あり</a:t>
                      </a:r>
                    </a:p>
                  </a:txBody>
                  <a:tcPr>
                    <a:solidFill>
                      <a:srgbClr val="F8FAFC"/>
                    </a:solidFill>
                  </a:tcPr>
                </a:tc>
              </a:tr>
              <a:tr h="347472">
                <a:tc>
                  <a:txBody>
                    <a:bodyPr wrap="square"/>
                    <a:lstStyle/>
                    <a:p>
                      <a:pPr algn="l"/>
                      <a:r>
                        <a:rPr sz="800" b="0">
                          <a:solidFill>
                            <a:srgbClr val="222222"/>
                          </a:solidFill>
                        </a:rPr>
                        <a:t>耐冷温度</a:t>
                      </a:r>
                    </a:p>
                  </a:txBody>
                  <a:tcPr>
                    <a:solidFill>
                      <a:srgbClr val="FFFFFF"/>
                    </a:solidFill>
                  </a:tcPr>
                </a:tc>
                <a:tc>
                  <a:txBody>
                    <a:bodyPr wrap="square"/>
                    <a:lstStyle/>
                    <a:p>
                      <a:pPr algn="l"/>
                      <a:r>
                        <a:rPr sz="800" b="0">
                          <a:solidFill>
                            <a:srgbClr val="222222"/>
                          </a:solidFill>
                        </a:rPr>
                        <a:t>合成樹脂製品が割れ・変色しない下限温度。保冷バッグでは特に重要な表示項目</a:t>
                      </a:r>
                    </a:p>
                  </a:txBody>
                  <a:tcPr>
                    <a:solidFill>
                      <a:srgbClr val="FFFFFF"/>
                    </a:solidFill>
                  </a:tcPr>
                </a:tc>
              </a:tr>
              <a:tr h="347472">
                <a:tc>
                  <a:txBody>
                    <a:bodyPr wrap="square"/>
                    <a:lstStyle/>
                    <a:p>
                      <a:pPr algn="l"/>
                      <a:r>
                        <a:rPr sz="800" b="0">
                          <a:solidFill>
                            <a:srgbClr val="222222"/>
                          </a:solidFill>
                        </a:rPr>
                        <a:t>原料樹脂</a:t>
                      </a:r>
                    </a:p>
                  </a:txBody>
                  <a:tcPr>
                    <a:solidFill>
                      <a:srgbClr val="F8FAFC"/>
                    </a:solidFill>
                  </a:tcPr>
                </a:tc>
                <a:tc>
                  <a:txBody>
                    <a:bodyPr wrap="square"/>
                    <a:lstStyle/>
                    <a:p>
                      <a:pPr algn="l"/>
                      <a:r>
                        <a:rPr sz="800" b="0">
                          <a:solidFill>
                            <a:srgbClr val="222222"/>
                          </a:solidFill>
                        </a:rPr>
                        <a:t>製品に使用されている合成樹脂の種類（例：ポリエステル、ポリプロピレン等）。家表法で全種表示義務あり</a:t>
                      </a:r>
                    </a:p>
                  </a:txBody>
                  <a:tcPr>
                    <a:solidFill>
                      <a:srgbClr val="F8FAFC"/>
                    </a:solidFill>
                  </a:tcPr>
                </a:tc>
              </a:tr>
              <a:tr h="347472">
                <a:tc>
                  <a:txBody>
                    <a:bodyPr wrap="square"/>
                    <a:lstStyle/>
                    <a:p>
                      <a:pPr algn="l"/>
                      <a:r>
                        <a:rPr sz="800" b="0">
                          <a:solidFill>
                            <a:srgbClr val="222222"/>
                          </a:solidFill>
                        </a:rPr>
                        <a:t>景品表示法（景表法）</a:t>
                      </a:r>
                    </a:p>
                  </a:txBody>
                  <a:tcPr>
                    <a:solidFill>
                      <a:srgbClr val="FFFFFF"/>
                    </a:solidFill>
                  </a:tcPr>
                </a:tc>
                <a:tc>
                  <a:txBody>
                    <a:bodyPr wrap="square"/>
                    <a:lstStyle/>
                    <a:p>
                      <a:pPr algn="l"/>
                      <a:r>
                        <a:rPr sz="800" b="0">
                          <a:solidFill>
                            <a:srgbClr val="222222"/>
                          </a:solidFill>
                        </a:rPr>
                        <a:t>不当景品類及び不当表示防止法。「保冷時間〇時間」等の効果表示に合理的根拠を求める</a:t>
                      </a:r>
                    </a:p>
                  </a:txBody>
                  <a:tcPr>
                    <a:solidFill>
                      <a:srgbClr val="FFFFFF"/>
                    </a:solidFill>
                  </a:tcPr>
                </a:tc>
              </a:tr>
              <a:tr h="347472">
                <a:tc>
                  <a:txBody>
                    <a:bodyPr wrap="square"/>
                    <a:lstStyle/>
                    <a:p>
                      <a:pPr algn="l"/>
                      <a:r>
                        <a:rPr sz="800" b="0">
                          <a:solidFill>
                            <a:srgbClr val="222222"/>
                          </a:solidFill>
                        </a:rPr>
                        <a:t>不実証広告規制</a:t>
                      </a:r>
                    </a:p>
                  </a:txBody>
                  <a:tcPr>
                    <a:solidFill>
                      <a:srgbClr val="F8FAFC"/>
                    </a:solidFill>
                  </a:tcPr>
                </a:tc>
                <a:tc>
                  <a:txBody>
                    <a:bodyPr wrap="square"/>
                    <a:lstStyle/>
                    <a:p>
                      <a:pPr algn="l"/>
                      <a:r>
                        <a:rPr sz="800" b="0">
                          <a:solidFill>
                            <a:srgbClr val="222222"/>
                          </a:solidFill>
                        </a:rPr>
                        <a:t>景表法第7条第2項。根拠資料の提出を求められた場合、15日以内に客観的根拠を提出できなければ不当表示とみなす</a:t>
                      </a:r>
                    </a:p>
                  </a:txBody>
                  <a:tcPr>
                    <a:solidFill>
                      <a:srgbClr val="F8FAFC"/>
                    </a:solidFill>
                  </a:tcPr>
                </a:tc>
              </a:tr>
              <a:tr h="347472">
                <a:tc>
                  <a:txBody>
                    <a:bodyPr wrap="square"/>
                    <a:lstStyle/>
                    <a:p>
                      <a:pPr algn="l"/>
                      <a:r>
                        <a:rPr sz="800" b="0">
                          <a:solidFill>
                            <a:srgbClr val="222222"/>
                          </a:solidFill>
                        </a:rPr>
                        <a:t>FBA</a:t>
                      </a:r>
                    </a:p>
                  </a:txBody>
                  <a:tcPr>
                    <a:solidFill>
                      <a:srgbClr val="FFFFFF"/>
                    </a:solidFill>
                  </a:tcPr>
                </a:tc>
                <a:tc>
                  <a:txBody>
                    <a:bodyPr wrap="square"/>
                    <a:lstStyle/>
                    <a:p>
                      <a:pPr algn="l"/>
                      <a:r>
                        <a:rPr sz="800" b="0">
                          <a:solidFill>
                            <a:srgbClr val="222222"/>
                          </a:solidFill>
                        </a:rPr>
                        <a:t>Fulfillment by Amazon。Amazonが保管・梱包・発送を代行するサービス</a:t>
                      </a:r>
                    </a:p>
                  </a:txBody>
                  <a:tcPr>
                    <a:solidFill>
                      <a:srgbClr val="FFFFFF"/>
                    </a:solidFill>
                  </a:tcPr>
                </a:tc>
              </a:tr>
            </a:tbl>
          </a:graphicData>
        </a:graphic>
      </p:graphicFrame>
      <p:sp>
        <p:nvSpPr>
          <p:cNvPr id="8" name="Rectangle 7"/>
          <p:cNvSpPr/>
          <p:nvPr/>
        </p:nvSpPr>
        <p:spPr>
          <a:xfrm>
            <a:off x="0" y="6537960"/>
            <a:ext cx="12188952"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65392"/>
            <a:ext cx="9144000" cy="256032"/>
          </a:xfrm>
          <a:prstGeom prst="rect">
            <a:avLst/>
          </a:prstGeom>
          <a:noFill/>
        </p:spPr>
        <p:txBody>
          <a:bodyPr wrap="square">
            <a:spAutoFit/>
          </a:bodyPr>
          <a:lstStyle/>
          <a:p>
            <a:pPr algn="l"/>
            <a:r>
              <a:rPr sz="800" b="0" i="0">
                <a:solidFill>
                  <a:srgbClr val="6B7280"/>
                </a:solidFill>
              </a:rPr>
              <a:t>保冷バッグ Amazon輸入 品質表示法対応 提案書  ©貴社名</a:t>
            </a:r>
          </a:p>
        </p:txBody>
      </p:sp>
      <p:sp>
        <p:nvSpPr>
          <p:cNvPr id="10" name="TextBox 9"/>
          <p:cNvSpPr txBox="1"/>
          <p:nvPr/>
        </p:nvSpPr>
        <p:spPr>
          <a:xfrm>
            <a:off x="11247120" y="6565392"/>
            <a:ext cx="914400" cy="256032"/>
          </a:xfrm>
          <a:prstGeom prst="rect">
            <a:avLst/>
          </a:prstGeom>
          <a:noFill/>
        </p:spPr>
        <p:txBody>
          <a:bodyPr wrap="square">
            <a:spAutoFit/>
          </a:bodyPr>
          <a:lstStyle/>
          <a:p>
            <a:pPr algn="r"/>
            <a:r>
              <a:rPr sz="800" b="0" i="0">
                <a:solidFill>
                  <a:srgbClr val="6B7280"/>
                </a:solidFill>
              </a:rP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029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10972800" cy="384048"/>
          </a:xfrm>
          <a:prstGeom prst="rect">
            <a:avLst/>
          </a:prstGeom>
          <a:noFill/>
        </p:spPr>
        <p:txBody>
          <a:bodyPr wrap="square">
            <a:spAutoFit/>
          </a:bodyPr>
          <a:lstStyle/>
          <a:p>
            <a:pPr algn="l"/>
            <a:r>
              <a:rPr sz="1100" b="1" i="0">
                <a:solidFill>
                  <a:srgbClr val="FFFFFF"/>
                </a:solidFill>
              </a:rPr>
              <a:t>2. 背景・課題</a:t>
            </a:r>
          </a:p>
        </p:txBody>
      </p:sp>
      <p:sp>
        <p:nvSpPr>
          <p:cNvPr id="4" name="TextBox 3"/>
          <p:cNvSpPr txBox="1"/>
          <p:nvPr/>
        </p:nvSpPr>
        <p:spPr>
          <a:xfrm>
            <a:off x="365760" y="566928"/>
            <a:ext cx="11430000" cy="502920"/>
          </a:xfrm>
          <a:prstGeom prst="rect">
            <a:avLst/>
          </a:prstGeom>
          <a:noFill/>
        </p:spPr>
        <p:txBody>
          <a:bodyPr wrap="square">
            <a:spAutoFit/>
          </a:bodyPr>
          <a:lstStyle/>
          <a:p>
            <a:pPr algn="l"/>
            <a:r>
              <a:rPr sz="1800" b="1" i="0">
                <a:solidFill>
                  <a:srgbClr val="1E3A5F"/>
                </a:solidFill>
              </a:rPr>
              <a:t>背景と課題  ― なぜ今対応が必要か</a:t>
            </a:r>
          </a:p>
        </p:txBody>
      </p:sp>
      <p:sp>
        <p:nvSpPr>
          <p:cNvPr id="5" name="Rectangle 4"/>
          <p:cNvSpPr/>
          <p:nvPr/>
        </p:nvSpPr>
        <p:spPr>
          <a:xfrm>
            <a:off x="365760" y="1115568"/>
            <a:ext cx="11457432" cy="36576"/>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73152"/>
            <a:ext cx="1280160" cy="320040"/>
          </a:xfrm>
          <a:prstGeom prst="rect">
            <a:avLst/>
          </a:prstGeom>
          <a:solidFill>
            <a:srgbClr val="D1FAE5"/>
          </a:solidFill>
        </p:spPr>
        <p:txBody>
          <a:bodyPr wrap="square">
            <a:spAutoFit/>
          </a:bodyPr>
          <a:lstStyle/>
          <a:p>
            <a:pPr algn="ctr"/>
            <a:r>
              <a:rPr sz="800" b="1" i="0">
                <a:solidFill>
                  <a:srgbClr val="065F46"/>
                </a:solidFill>
              </a:rPr>
              <a:t>[確定]</a:t>
            </a:r>
          </a:p>
        </p:txBody>
      </p:sp>
      <p:sp>
        <p:nvSpPr>
          <p:cNvPr id="7" name="Rectangle 6"/>
          <p:cNvSpPr/>
          <p:nvPr/>
        </p:nvSpPr>
        <p:spPr>
          <a:xfrm>
            <a:off x="365760" y="1234440"/>
            <a:ext cx="3749039" cy="4023360"/>
          </a:xfrm>
          <a:prstGeom prst="rect">
            <a:avLst/>
          </a:prstGeom>
          <a:solidFill>
            <a:srgbClr val="FEE2E2"/>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325880"/>
            <a:ext cx="3566160" cy="777240"/>
          </a:xfrm>
          <a:prstGeom prst="rect">
            <a:avLst/>
          </a:prstGeom>
          <a:noFill/>
        </p:spPr>
        <p:txBody>
          <a:bodyPr wrap="square">
            <a:spAutoFit/>
          </a:bodyPr>
          <a:lstStyle/>
          <a:p>
            <a:pPr algn="l"/>
            <a:r>
              <a:rPr sz="1050" b="1" i="0">
                <a:solidFill>
                  <a:srgbClr val="1E3A5F"/>
                </a:solidFill>
              </a:rPr>
              <a:t>課題①
合成樹脂加工品の
品質表示未対応</a:t>
            </a:r>
          </a:p>
        </p:txBody>
      </p:sp>
      <p:sp>
        <p:nvSpPr>
          <p:cNvPr id="9" name="Rectangle 8"/>
          <p:cNvSpPr/>
          <p:nvPr/>
        </p:nvSpPr>
        <p:spPr>
          <a:xfrm>
            <a:off x="457200" y="2148840"/>
            <a:ext cx="3566160" cy="36576"/>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240280"/>
            <a:ext cx="3566160" cy="2834640"/>
          </a:xfrm>
          <a:prstGeom prst="rect">
            <a:avLst/>
          </a:prstGeom>
          <a:noFill/>
        </p:spPr>
        <p:txBody>
          <a:bodyPr wrap="square">
            <a:spAutoFit/>
          </a:bodyPr>
          <a:lstStyle/>
          <a:p>
            <a:pPr algn="l"/>
            <a:r>
              <a:rPr sz="900" b="0" i="0">
                <a:solidFill>
                  <a:srgbClr val="222222"/>
                </a:solidFill>
              </a:rPr>
              <a:t>保冷バッグは家表法「合成樹脂加工品」に該当。原料樹脂・耐熱温度・耐冷温度・表示者名の記載が義務（must）。未対応での販売は違反状態。
違反時：20万円以下の罰金（家表法第34条）</a:t>
            </a:r>
          </a:p>
        </p:txBody>
      </p:sp>
      <p:sp>
        <p:nvSpPr>
          <p:cNvPr id="11" name="Rectangle 10"/>
          <p:cNvSpPr/>
          <p:nvPr/>
        </p:nvSpPr>
        <p:spPr>
          <a:xfrm>
            <a:off x="4297680" y="1234440"/>
            <a:ext cx="3749039" cy="4023360"/>
          </a:xfrm>
          <a:prstGeom prst="rect">
            <a:avLst/>
          </a:prstGeom>
          <a:solidFill>
            <a:srgbClr val="FFF9C4"/>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325880"/>
            <a:ext cx="3566160" cy="777240"/>
          </a:xfrm>
          <a:prstGeom prst="rect">
            <a:avLst/>
          </a:prstGeom>
          <a:noFill/>
        </p:spPr>
        <p:txBody>
          <a:bodyPr wrap="square">
            <a:spAutoFit/>
          </a:bodyPr>
          <a:lstStyle/>
          <a:p>
            <a:pPr algn="l"/>
            <a:r>
              <a:rPr sz="1050" b="1" i="0">
                <a:solidFill>
                  <a:srgbClr val="1E3A5F"/>
                </a:solidFill>
              </a:rPr>
              <a:t>課題②
食品衛生法
ポジティブリスト
完全施行</a:t>
            </a:r>
          </a:p>
        </p:txBody>
      </p:sp>
      <p:sp>
        <p:nvSpPr>
          <p:cNvPr id="13" name="Rectangle 12"/>
          <p:cNvSpPr/>
          <p:nvPr/>
        </p:nvSpPr>
        <p:spPr>
          <a:xfrm>
            <a:off x="4389120" y="2148840"/>
            <a:ext cx="3566160" cy="36576"/>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2240280"/>
            <a:ext cx="3566160" cy="2834640"/>
          </a:xfrm>
          <a:prstGeom prst="rect">
            <a:avLst/>
          </a:prstGeom>
          <a:noFill/>
        </p:spPr>
        <p:txBody>
          <a:bodyPr wrap="square">
            <a:spAutoFit/>
          </a:bodyPr>
          <a:lstStyle/>
          <a:p>
            <a:pPr algn="l"/>
            <a:r>
              <a:rPr sz="900" b="0" i="0">
                <a:solidFill>
                  <a:srgbClr val="222222"/>
                </a:solidFill>
              </a:rPr>
              <a:t>2025年6月1日より経過措置終了。保冷バッグの内装素材（食品と接触する可能性がある合成樹脂）はリスト未掲載物質の使用が原則禁止。仕入先から適合証明書の取得が必須。</a:t>
            </a:r>
          </a:p>
        </p:txBody>
      </p:sp>
      <p:sp>
        <p:nvSpPr>
          <p:cNvPr id="15" name="Rectangle 14"/>
          <p:cNvSpPr/>
          <p:nvPr/>
        </p:nvSpPr>
        <p:spPr>
          <a:xfrm>
            <a:off x="8229600" y="1234440"/>
            <a:ext cx="3749039" cy="4023360"/>
          </a:xfrm>
          <a:prstGeom prst="rect">
            <a:avLst/>
          </a:prstGeom>
          <a:solidFill>
            <a:srgbClr val="EFF6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1325880"/>
            <a:ext cx="3566160" cy="777240"/>
          </a:xfrm>
          <a:prstGeom prst="rect">
            <a:avLst/>
          </a:prstGeom>
          <a:noFill/>
        </p:spPr>
        <p:txBody>
          <a:bodyPr wrap="square">
            <a:spAutoFit/>
          </a:bodyPr>
          <a:lstStyle/>
          <a:p>
            <a:pPr algn="l"/>
            <a:r>
              <a:rPr sz="1050" b="1" i="0">
                <a:solidFill>
                  <a:srgbClr val="1E3A5F"/>
                </a:solidFill>
              </a:rPr>
              <a:t>課題③
保冷性能表示の
根拠不足</a:t>
            </a:r>
          </a:p>
        </p:txBody>
      </p:sp>
      <p:sp>
        <p:nvSpPr>
          <p:cNvPr id="17" name="Rectangle 16"/>
          <p:cNvSpPr/>
          <p:nvPr/>
        </p:nvSpPr>
        <p:spPr>
          <a:xfrm>
            <a:off x="8321040" y="2148840"/>
            <a:ext cx="3566160" cy="36576"/>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2240280"/>
            <a:ext cx="3566160" cy="2834640"/>
          </a:xfrm>
          <a:prstGeom prst="rect">
            <a:avLst/>
          </a:prstGeom>
          <a:noFill/>
        </p:spPr>
        <p:txBody>
          <a:bodyPr wrap="square">
            <a:spAutoFit/>
          </a:bodyPr>
          <a:lstStyle/>
          <a:p>
            <a:pPr algn="l"/>
            <a:r>
              <a:rPr sz="900" b="0" i="0">
                <a:solidFill>
                  <a:srgbClr val="222222"/>
                </a:solidFill>
              </a:rPr>
              <a:t>「〇時間保冷」「高保冷力」等の訴求は景表法の優良誤認リスク（第5条第1号）あり。根拠提出要求から15日以内に客観的データを示せなければ不当表示。</a:t>
            </a:r>
          </a:p>
        </p:txBody>
      </p:sp>
      <p:sp>
        <p:nvSpPr>
          <p:cNvPr id="19" name="TextBox 18"/>
          <p:cNvSpPr txBox="1"/>
          <p:nvPr/>
        </p:nvSpPr>
        <p:spPr>
          <a:xfrm>
            <a:off x="365760" y="5349240"/>
            <a:ext cx="11430000" cy="256032"/>
          </a:xfrm>
          <a:prstGeom prst="rect">
            <a:avLst/>
          </a:prstGeom>
          <a:solidFill>
            <a:srgbClr val="FEE2E2"/>
          </a:solidFill>
        </p:spPr>
        <p:txBody>
          <a:bodyPr wrap="square">
            <a:spAutoFit/>
          </a:bodyPr>
          <a:lstStyle/>
          <a:p>
            <a:pPr algn="l"/>
            <a:r>
              <a:rPr sz="900" b="1" i="0">
                <a:solidFill>
                  <a:srgbClr val="B91C1C"/>
                </a:solidFill>
              </a:rPr>
              <a:t>▼ このまま対応しない場合のリスク：行政処分（指示・公表）→ 改善命令 → Amazon出品停止 → 消費者庁による事業者名の公表</a:t>
            </a:r>
          </a:p>
        </p:txBody>
      </p:sp>
      <p:sp>
        <p:nvSpPr>
          <p:cNvPr id="20" name="TextBox 19"/>
          <p:cNvSpPr txBox="1"/>
          <p:nvPr/>
        </p:nvSpPr>
        <p:spPr>
          <a:xfrm>
            <a:off x="365760" y="5715000"/>
            <a:ext cx="11430000" cy="256032"/>
          </a:xfrm>
          <a:prstGeom prst="rect">
            <a:avLst/>
          </a:prstGeom>
          <a:noFill/>
        </p:spPr>
        <p:txBody>
          <a:bodyPr wrap="square">
            <a:spAutoFit/>
          </a:bodyPr>
          <a:lstStyle/>
          <a:p>
            <a:pPr algn="l"/>
            <a:r>
              <a:rPr sz="750" b="0" i="1">
                <a:solidFill>
                  <a:srgbClr val="6B7280"/>
                </a:solidFill>
              </a:rPr>
              <a:t>出典：消費者庁「家庭用品品質表示法」「食品用器具・容器包装ポジティブリスト制度（2025年6月1日以降）」「景品表示法」</a:t>
            </a:r>
          </a:p>
        </p:txBody>
      </p:sp>
      <p:sp>
        <p:nvSpPr>
          <p:cNvPr id="21" name="Rectangle 20"/>
          <p:cNvSpPr/>
          <p:nvPr/>
        </p:nvSpPr>
        <p:spPr>
          <a:xfrm>
            <a:off x="0" y="6537960"/>
            <a:ext cx="12188952"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6565392"/>
            <a:ext cx="9144000" cy="256032"/>
          </a:xfrm>
          <a:prstGeom prst="rect">
            <a:avLst/>
          </a:prstGeom>
          <a:noFill/>
        </p:spPr>
        <p:txBody>
          <a:bodyPr wrap="square">
            <a:spAutoFit/>
          </a:bodyPr>
          <a:lstStyle/>
          <a:p>
            <a:pPr algn="l"/>
            <a:r>
              <a:rPr sz="800" b="0" i="0">
                <a:solidFill>
                  <a:srgbClr val="6B7280"/>
                </a:solidFill>
              </a:rPr>
              <a:t>保冷バッグ Amazon輸入 品質表示法対応 提案書  ©貴社名</a:t>
            </a:r>
          </a:p>
        </p:txBody>
      </p:sp>
      <p:sp>
        <p:nvSpPr>
          <p:cNvPr id="23" name="TextBox 22"/>
          <p:cNvSpPr txBox="1"/>
          <p:nvPr/>
        </p:nvSpPr>
        <p:spPr>
          <a:xfrm>
            <a:off x="11247120" y="6565392"/>
            <a:ext cx="914400" cy="256032"/>
          </a:xfrm>
          <a:prstGeom prst="rect">
            <a:avLst/>
          </a:prstGeom>
          <a:noFill/>
        </p:spPr>
        <p:txBody>
          <a:bodyPr wrap="square">
            <a:spAutoFit/>
          </a:bodyPr>
          <a:lstStyle/>
          <a:p>
            <a:pPr algn="r"/>
            <a:r>
              <a:rPr sz="800" b="0" i="0">
                <a:solidFill>
                  <a:srgbClr val="6B7280"/>
                </a:solidFill>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029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10972800" cy="384048"/>
          </a:xfrm>
          <a:prstGeom prst="rect">
            <a:avLst/>
          </a:prstGeom>
          <a:noFill/>
        </p:spPr>
        <p:txBody>
          <a:bodyPr wrap="square">
            <a:spAutoFit/>
          </a:bodyPr>
          <a:lstStyle/>
          <a:p>
            <a:pPr algn="l"/>
            <a:r>
              <a:rPr sz="1100" b="1" i="0">
                <a:solidFill>
                  <a:srgbClr val="FFFFFF"/>
                </a:solidFill>
              </a:rPr>
              <a:t>3. 目的・位置づけ</a:t>
            </a:r>
          </a:p>
        </p:txBody>
      </p:sp>
      <p:sp>
        <p:nvSpPr>
          <p:cNvPr id="4" name="TextBox 3"/>
          <p:cNvSpPr txBox="1"/>
          <p:nvPr/>
        </p:nvSpPr>
        <p:spPr>
          <a:xfrm>
            <a:off x="365760" y="566928"/>
            <a:ext cx="11430000" cy="502920"/>
          </a:xfrm>
          <a:prstGeom prst="rect">
            <a:avLst/>
          </a:prstGeom>
          <a:noFill/>
        </p:spPr>
        <p:txBody>
          <a:bodyPr wrap="square">
            <a:spAutoFit/>
          </a:bodyPr>
          <a:lstStyle/>
          <a:p>
            <a:pPr algn="l"/>
            <a:r>
              <a:rPr sz="1800" b="1" i="0">
                <a:solidFill>
                  <a:srgbClr val="1E3A5F"/>
                </a:solidFill>
              </a:rPr>
              <a:t>目的・位置づけ</a:t>
            </a:r>
          </a:p>
        </p:txBody>
      </p:sp>
      <p:sp>
        <p:nvSpPr>
          <p:cNvPr id="5" name="Rectangle 4"/>
          <p:cNvSpPr/>
          <p:nvPr/>
        </p:nvSpPr>
        <p:spPr>
          <a:xfrm>
            <a:off x="365760" y="1115568"/>
            <a:ext cx="11457432" cy="36576"/>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73152"/>
            <a:ext cx="1280160" cy="320040"/>
          </a:xfrm>
          <a:prstGeom prst="rect">
            <a:avLst/>
          </a:prstGeom>
          <a:solidFill>
            <a:srgbClr val="D1FAE5"/>
          </a:solidFill>
        </p:spPr>
        <p:txBody>
          <a:bodyPr wrap="square">
            <a:spAutoFit/>
          </a:bodyPr>
          <a:lstStyle/>
          <a:p>
            <a:pPr algn="ctr"/>
            <a:r>
              <a:rPr sz="800" b="1" i="0">
                <a:solidFill>
                  <a:srgbClr val="065F46"/>
                </a:solidFill>
              </a:rPr>
              <a:t>[確定]</a:t>
            </a:r>
          </a:p>
        </p:txBody>
      </p:sp>
      <p:sp>
        <p:nvSpPr>
          <p:cNvPr id="7" name="TextBox 6"/>
          <p:cNvSpPr txBox="1"/>
          <p:nvPr/>
        </p:nvSpPr>
        <p:spPr>
          <a:xfrm>
            <a:off x="365760" y="1234440"/>
            <a:ext cx="11430000" cy="347472"/>
          </a:xfrm>
          <a:prstGeom prst="rect">
            <a:avLst/>
          </a:prstGeom>
          <a:noFill/>
        </p:spPr>
        <p:txBody>
          <a:bodyPr wrap="square">
            <a:spAutoFit/>
          </a:bodyPr>
          <a:lstStyle/>
          <a:p>
            <a:pPr algn="l"/>
            <a:r>
              <a:rPr sz="1000" b="0" i="0">
                <a:solidFill>
                  <a:srgbClr val="222222"/>
                </a:solidFill>
              </a:rPr>
              <a:t>目的：保冷バッグの中国輸入・Amazon販売において、家庭用品品質表示法・食品衛生法・景品表示法を遵守した販売体制を構築し、法的リスクを排除したうえで安定的な販売を実現する。</a:t>
            </a:r>
          </a:p>
        </p:txBody>
      </p:sp>
      <p:sp>
        <p:nvSpPr>
          <p:cNvPr id="8" name="TextBox 7"/>
          <p:cNvSpPr txBox="1"/>
          <p:nvPr/>
        </p:nvSpPr>
        <p:spPr>
          <a:xfrm>
            <a:off x="365760" y="1691640"/>
            <a:ext cx="3657600" cy="274320"/>
          </a:xfrm>
          <a:prstGeom prst="rect">
            <a:avLst/>
          </a:prstGeom>
          <a:noFill/>
        </p:spPr>
        <p:txBody>
          <a:bodyPr wrap="square">
            <a:spAutoFit/>
          </a:bodyPr>
          <a:lstStyle/>
          <a:p>
            <a:pPr algn="l"/>
            <a:r>
              <a:rPr sz="1000" b="1" i="0">
                <a:solidFill>
                  <a:srgbClr val="1E3A5F"/>
                </a:solidFill>
              </a:rPr>
              <a:t>位置づけ（関連法令との優先順位）</a:t>
            </a:r>
          </a:p>
        </p:txBody>
      </p:sp>
      <p:graphicFrame>
        <p:nvGraphicFramePr>
          <p:cNvPr id="9" name="Table 8"/>
          <p:cNvGraphicFramePr>
            <a:graphicFrameLocks noGrp="1"/>
          </p:cNvGraphicFramePr>
          <p:nvPr/>
        </p:nvGraphicFramePr>
        <p:xfrm>
          <a:off x="365760" y="2011680"/>
          <a:ext cx="11247120" cy="2084832"/>
        </p:xfrm>
        <a:graphic>
          <a:graphicData uri="http://schemas.openxmlformats.org/drawingml/2006/table">
            <a:tbl>
              <a:tblPr firstRow="1" bandRow="1">
                <a:tableStyleId>{5C22544A-7EE6-4342-B048-85BDC9FD1C3A}</a:tableStyleId>
              </a:tblPr>
              <a:tblGrid>
                <a:gridCol w="3474720"/>
                <a:gridCol w="5029200"/>
                <a:gridCol w="2743200"/>
              </a:tblGrid>
              <a:tr h="347472">
                <a:tc>
                  <a:txBody>
                    <a:bodyPr wrap="square"/>
                    <a:lstStyle/>
                    <a:p>
                      <a:pPr algn="l"/>
                      <a:r>
                        <a:rPr sz="900" b="1">
                          <a:solidFill>
                            <a:srgbClr val="FFFFFF"/>
                          </a:solidFill>
                        </a:rPr>
                        <a:t>法令・ガイドライン</a:t>
                      </a:r>
                    </a:p>
                  </a:txBody>
                  <a:tcPr>
                    <a:solidFill>
                      <a:srgbClr val="1A56DB"/>
                    </a:solidFill>
                  </a:tcPr>
                </a:tc>
                <a:tc>
                  <a:txBody>
                    <a:bodyPr wrap="square"/>
                    <a:lstStyle/>
                    <a:p>
                      <a:pPr algn="l"/>
                      <a:r>
                        <a:rPr sz="900" b="1">
                          <a:solidFill>
                            <a:srgbClr val="FFFFFF"/>
                          </a:solidFill>
                        </a:rPr>
                        <a:t>本資料との関係</a:t>
                      </a:r>
                    </a:p>
                  </a:txBody>
                  <a:tcPr>
                    <a:solidFill>
                      <a:srgbClr val="1A56DB"/>
                    </a:solidFill>
                  </a:tcPr>
                </a:tc>
                <a:tc>
                  <a:txBody>
                    <a:bodyPr wrap="square"/>
                    <a:lstStyle/>
                    <a:p>
                      <a:pPr algn="l"/>
                      <a:r>
                        <a:rPr sz="900" b="1">
                          <a:solidFill>
                            <a:srgbClr val="FFFFFF"/>
                          </a:solidFill>
                        </a:rPr>
                        <a:t>矛盾時の優先順位</a:t>
                      </a:r>
                    </a:p>
                  </a:txBody>
                  <a:tcPr>
                    <a:solidFill>
                      <a:srgbClr val="1A56DB"/>
                    </a:solidFill>
                  </a:tcPr>
                </a:tc>
              </a:tr>
              <a:tr h="347472">
                <a:tc>
                  <a:txBody>
                    <a:bodyPr wrap="square"/>
                    <a:lstStyle/>
                    <a:p>
                      <a:pPr algn="l"/>
                      <a:r>
                        <a:rPr sz="900" b="0">
                          <a:solidFill>
                            <a:srgbClr val="222222"/>
                          </a:solidFill>
                        </a:rPr>
                        <a:t>家庭用品品質表示法・合成樹脂加工品品質表示規程</a:t>
                      </a:r>
                    </a:p>
                  </a:txBody>
                  <a:tcPr>
                    <a:solidFill>
                      <a:srgbClr val="FFFFFF"/>
                    </a:solidFill>
                  </a:tcPr>
                </a:tc>
                <a:tc>
                  <a:txBody>
                    <a:bodyPr wrap="square"/>
                    <a:lstStyle/>
                    <a:p>
                      <a:pPr algn="l"/>
                      <a:r>
                        <a:rPr sz="900" b="0">
                          <a:solidFill>
                            <a:srgbClr val="222222"/>
                          </a:solidFill>
                        </a:rPr>
                        <a:t>品質表示ラベルの記載内容・方法の根拠</a:t>
                      </a:r>
                    </a:p>
                  </a:txBody>
                  <a:tcPr>
                    <a:solidFill>
                      <a:srgbClr val="FFFFFF"/>
                    </a:solidFill>
                  </a:tcPr>
                </a:tc>
                <a:tc>
                  <a:txBody>
                    <a:bodyPr wrap="square"/>
                    <a:lstStyle/>
                    <a:p>
                      <a:pPr algn="l"/>
                      <a:r>
                        <a:rPr sz="900" b="0">
                          <a:solidFill>
                            <a:srgbClr val="222222"/>
                          </a:solidFill>
                        </a:rPr>
                        <a:t>最優先（法的義務）</a:t>
                      </a:r>
                    </a:p>
                  </a:txBody>
                  <a:tcPr>
                    <a:solidFill>
                      <a:srgbClr val="FFFFFF"/>
                    </a:solidFill>
                  </a:tcPr>
                </a:tc>
              </a:tr>
              <a:tr h="347472">
                <a:tc>
                  <a:txBody>
                    <a:bodyPr wrap="square"/>
                    <a:lstStyle/>
                    <a:p>
                      <a:pPr algn="l"/>
                      <a:r>
                        <a:rPr sz="900" b="0">
                          <a:solidFill>
                            <a:srgbClr val="222222"/>
                          </a:solidFill>
                        </a:rPr>
                        <a:t>食品衛生法・ポジティブリスト制度</a:t>
                      </a:r>
                    </a:p>
                  </a:txBody>
                  <a:tcPr>
                    <a:solidFill>
                      <a:srgbClr val="F8FAFC"/>
                    </a:solidFill>
                  </a:tcPr>
                </a:tc>
                <a:tc>
                  <a:txBody>
                    <a:bodyPr wrap="square"/>
                    <a:lstStyle/>
                    <a:p>
                      <a:pPr algn="l"/>
                      <a:r>
                        <a:rPr sz="900" b="0">
                          <a:solidFill>
                            <a:srgbClr val="222222"/>
                          </a:solidFill>
                        </a:rPr>
                        <a:t>内装素材の安全基準の根拠</a:t>
                      </a:r>
                    </a:p>
                  </a:txBody>
                  <a:tcPr>
                    <a:solidFill>
                      <a:srgbClr val="F8FAFC"/>
                    </a:solidFill>
                  </a:tcPr>
                </a:tc>
                <a:tc>
                  <a:txBody>
                    <a:bodyPr wrap="square"/>
                    <a:lstStyle/>
                    <a:p>
                      <a:pPr algn="l"/>
                      <a:r>
                        <a:rPr sz="900" b="0">
                          <a:solidFill>
                            <a:srgbClr val="222222"/>
                          </a:solidFill>
                        </a:rPr>
                        <a:t>最優先（法的義務）</a:t>
                      </a:r>
                    </a:p>
                  </a:txBody>
                  <a:tcPr>
                    <a:solidFill>
                      <a:srgbClr val="F8FAFC"/>
                    </a:solidFill>
                  </a:tcPr>
                </a:tc>
              </a:tr>
              <a:tr h="347472">
                <a:tc>
                  <a:txBody>
                    <a:bodyPr wrap="square"/>
                    <a:lstStyle/>
                    <a:p>
                      <a:pPr algn="l"/>
                      <a:r>
                        <a:rPr sz="900" b="0">
                          <a:solidFill>
                            <a:srgbClr val="222222"/>
                          </a:solidFill>
                        </a:rPr>
                        <a:t>景品表示法</a:t>
                      </a:r>
                    </a:p>
                  </a:txBody>
                  <a:tcPr>
                    <a:solidFill>
                      <a:srgbClr val="FFFFFF"/>
                    </a:solidFill>
                  </a:tcPr>
                </a:tc>
                <a:tc>
                  <a:txBody>
                    <a:bodyPr wrap="square"/>
                    <a:lstStyle/>
                    <a:p>
                      <a:pPr algn="l"/>
                      <a:r>
                        <a:rPr sz="900" b="0">
                          <a:solidFill>
                            <a:srgbClr val="222222"/>
                          </a:solidFill>
                        </a:rPr>
                        <a:t>保冷性能表示の根拠資料要件</a:t>
                      </a:r>
                    </a:p>
                  </a:txBody>
                  <a:tcPr>
                    <a:solidFill>
                      <a:srgbClr val="FFFFFF"/>
                    </a:solidFill>
                  </a:tcPr>
                </a:tc>
                <a:tc>
                  <a:txBody>
                    <a:bodyPr wrap="square"/>
                    <a:lstStyle/>
                    <a:p>
                      <a:pPr algn="l"/>
                      <a:r>
                        <a:rPr sz="900" b="0">
                          <a:solidFill>
                            <a:srgbClr val="222222"/>
                          </a:solidFill>
                        </a:rPr>
                        <a:t>最優先（法的義務）</a:t>
                      </a:r>
                    </a:p>
                  </a:txBody>
                  <a:tcPr>
                    <a:solidFill>
                      <a:srgbClr val="FFFFFF"/>
                    </a:solidFill>
                  </a:tcPr>
                </a:tc>
              </a:tr>
              <a:tr h="347472">
                <a:tc>
                  <a:txBody>
                    <a:bodyPr wrap="square"/>
                    <a:lstStyle/>
                    <a:p>
                      <a:pPr algn="l"/>
                      <a:r>
                        <a:rPr sz="900" b="0">
                          <a:solidFill>
                            <a:srgbClr val="222222"/>
                          </a:solidFill>
                        </a:rPr>
                        <a:t>Amazon出品ポリシー</a:t>
                      </a:r>
                    </a:p>
                  </a:txBody>
                  <a:tcPr>
                    <a:solidFill>
                      <a:srgbClr val="F8FAFC"/>
                    </a:solidFill>
                  </a:tcPr>
                </a:tc>
                <a:tc>
                  <a:txBody>
                    <a:bodyPr wrap="square"/>
                    <a:lstStyle/>
                    <a:p>
                      <a:pPr algn="l"/>
                      <a:r>
                        <a:rPr sz="900" b="0">
                          <a:solidFill>
                            <a:srgbClr val="222222"/>
                          </a:solidFill>
                        </a:rPr>
                        <a:t>出品時の表示要件</a:t>
                      </a:r>
                    </a:p>
                  </a:txBody>
                  <a:tcPr>
                    <a:solidFill>
                      <a:srgbClr val="F8FAFC"/>
                    </a:solidFill>
                  </a:tcPr>
                </a:tc>
                <a:tc>
                  <a:txBody>
                    <a:bodyPr wrap="square"/>
                    <a:lstStyle/>
                    <a:p>
                      <a:pPr algn="l"/>
                      <a:r>
                        <a:rPr sz="900" b="0">
                          <a:solidFill>
                            <a:srgbClr val="222222"/>
                          </a:solidFill>
                        </a:rPr>
                        <a:t>法令を満たせば原則充足</a:t>
                      </a:r>
                    </a:p>
                  </a:txBody>
                  <a:tcPr>
                    <a:solidFill>
                      <a:srgbClr val="F8FAFC"/>
                    </a:solidFill>
                  </a:tcPr>
                </a:tc>
              </a:tr>
              <a:tr h="347472">
                <a:tc>
                  <a:txBody>
                    <a:bodyPr wrap="square"/>
                    <a:lstStyle/>
                    <a:p>
                      <a:pPr algn="l"/>
                      <a:r>
                        <a:rPr sz="900" b="0">
                          <a:solidFill>
                            <a:srgbClr val="222222"/>
                          </a:solidFill>
                        </a:rPr>
                        <a:t>本資料の推奨事項（should）</a:t>
                      </a:r>
                    </a:p>
                  </a:txBody>
                  <a:tcPr>
                    <a:solidFill>
                      <a:srgbClr val="FFFFFF"/>
                    </a:solidFill>
                  </a:tcPr>
                </a:tc>
                <a:tc>
                  <a:txBody>
                    <a:bodyPr wrap="square"/>
                    <a:lstStyle/>
                    <a:p>
                      <a:pPr algn="l"/>
                      <a:r>
                        <a:rPr sz="900" b="0">
                          <a:solidFill>
                            <a:srgbClr val="222222"/>
                          </a:solidFill>
                        </a:rPr>
                        <a:t>法令を超える自主基準</a:t>
                      </a:r>
                    </a:p>
                  </a:txBody>
                  <a:tcPr>
                    <a:solidFill>
                      <a:srgbClr val="FFFFFF"/>
                    </a:solidFill>
                  </a:tcPr>
                </a:tc>
                <a:tc>
                  <a:txBody>
                    <a:bodyPr wrap="square"/>
                    <a:lstStyle/>
                    <a:p>
                      <a:pPr algn="l"/>
                      <a:r>
                        <a:rPr sz="900" b="0">
                          <a:solidFill>
                            <a:srgbClr val="222222"/>
                          </a:solidFill>
                        </a:rPr>
                        <a:t>法令が優先</a:t>
                      </a:r>
                    </a:p>
                  </a:txBody>
                  <a:tcPr>
                    <a:solidFill>
                      <a:srgbClr val="FFFFFF"/>
                    </a:solidFill>
                  </a:tcPr>
                </a:tc>
              </a:tr>
            </a:tbl>
          </a:graphicData>
        </a:graphic>
      </p:graphicFrame>
      <p:sp>
        <p:nvSpPr>
          <p:cNvPr id="10" name="Rectangle 9"/>
          <p:cNvSpPr/>
          <p:nvPr/>
        </p:nvSpPr>
        <p:spPr>
          <a:xfrm>
            <a:off x="365760" y="5166360"/>
            <a:ext cx="11430000" cy="822960"/>
          </a:xfrm>
          <a:prstGeom prst="rect">
            <a:avLst/>
          </a:prstGeom>
          <a:solidFill>
            <a:srgbClr val="EFF6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230368"/>
            <a:ext cx="11064240" cy="685800"/>
          </a:xfrm>
          <a:prstGeom prst="rect">
            <a:avLst/>
          </a:prstGeom>
          <a:noFill/>
        </p:spPr>
        <p:txBody>
          <a:bodyPr wrap="square">
            <a:spAutoFit/>
          </a:bodyPr>
          <a:lstStyle/>
          <a:p>
            <a:pPr algn="l"/>
            <a:r>
              <a:rPr sz="900" b="0" i="0">
                <a:solidFill>
                  <a:srgbClr val="1E3A5F"/>
                </a:solidFill>
              </a:rPr>
              <a:t>【免責事項】本資料は保冷バッグ輸入販売における品質表示対応の実務指針であり、法的助言を構成するものではない。本資料に基づく判断は各事業者の責任において行うものとする。法令の解釈に疑義がある場合は消費者庁への事前相談または弁護士への確認を推奨する。</a:t>
            </a:r>
          </a:p>
        </p:txBody>
      </p:sp>
      <p:sp>
        <p:nvSpPr>
          <p:cNvPr id="12" name="Rectangle 11"/>
          <p:cNvSpPr/>
          <p:nvPr/>
        </p:nvSpPr>
        <p:spPr>
          <a:xfrm>
            <a:off x="0" y="6537960"/>
            <a:ext cx="12188952"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6565392"/>
            <a:ext cx="9144000" cy="256032"/>
          </a:xfrm>
          <a:prstGeom prst="rect">
            <a:avLst/>
          </a:prstGeom>
          <a:noFill/>
        </p:spPr>
        <p:txBody>
          <a:bodyPr wrap="square">
            <a:spAutoFit/>
          </a:bodyPr>
          <a:lstStyle/>
          <a:p>
            <a:pPr algn="l"/>
            <a:r>
              <a:rPr sz="800" b="0" i="0">
                <a:solidFill>
                  <a:srgbClr val="6B7280"/>
                </a:solidFill>
              </a:rPr>
              <a:t>保冷バッグ Amazon輸入 品質表示法対応 提案書  ©貴社名</a:t>
            </a:r>
          </a:p>
        </p:txBody>
      </p:sp>
      <p:sp>
        <p:nvSpPr>
          <p:cNvPr id="14" name="TextBox 13"/>
          <p:cNvSpPr txBox="1"/>
          <p:nvPr/>
        </p:nvSpPr>
        <p:spPr>
          <a:xfrm>
            <a:off x="11247120" y="6565392"/>
            <a:ext cx="914400" cy="256032"/>
          </a:xfrm>
          <a:prstGeom prst="rect">
            <a:avLst/>
          </a:prstGeom>
          <a:noFill/>
        </p:spPr>
        <p:txBody>
          <a:bodyPr wrap="square">
            <a:spAutoFit/>
          </a:bodyPr>
          <a:lstStyle/>
          <a:p>
            <a:pPr algn="r"/>
            <a:r>
              <a:rPr sz="800" b="0" i="0">
                <a:solidFill>
                  <a:srgbClr val="6B7280"/>
                </a:solidFill>
              </a:rP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029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10972800" cy="384048"/>
          </a:xfrm>
          <a:prstGeom prst="rect">
            <a:avLst/>
          </a:prstGeom>
          <a:noFill/>
        </p:spPr>
        <p:txBody>
          <a:bodyPr wrap="square">
            <a:spAutoFit/>
          </a:bodyPr>
          <a:lstStyle/>
          <a:p>
            <a:pPr algn="l"/>
            <a:r>
              <a:rPr sz="1100" b="1" i="0">
                <a:solidFill>
                  <a:srgbClr val="FFFFFF"/>
                </a:solidFill>
              </a:rPr>
              <a:t>4. 法令要件の整理</a:t>
            </a:r>
          </a:p>
        </p:txBody>
      </p:sp>
      <p:sp>
        <p:nvSpPr>
          <p:cNvPr id="4" name="TextBox 3"/>
          <p:cNvSpPr txBox="1"/>
          <p:nvPr/>
        </p:nvSpPr>
        <p:spPr>
          <a:xfrm>
            <a:off x="365760" y="566928"/>
            <a:ext cx="11430000" cy="502920"/>
          </a:xfrm>
          <a:prstGeom prst="rect">
            <a:avLst/>
          </a:prstGeom>
          <a:noFill/>
        </p:spPr>
        <p:txBody>
          <a:bodyPr wrap="square">
            <a:spAutoFit/>
          </a:bodyPr>
          <a:lstStyle/>
          <a:p>
            <a:pPr algn="l"/>
            <a:r>
              <a:rPr sz="1800" b="1" i="0">
                <a:solidFill>
                  <a:srgbClr val="1E3A5F"/>
                </a:solidFill>
              </a:rPr>
              <a:t>品質表示ラベルの必須記載事項（家庭用品品質表示法）</a:t>
            </a:r>
          </a:p>
        </p:txBody>
      </p:sp>
      <p:sp>
        <p:nvSpPr>
          <p:cNvPr id="5" name="Rectangle 4"/>
          <p:cNvSpPr/>
          <p:nvPr/>
        </p:nvSpPr>
        <p:spPr>
          <a:xfrm>
            <a:off x="365760" y="1115568"/>
            <a:ext cx="11457432" cy="36576"/>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73152"/>
            <a:ext cx="1280160" cy="320040"/>
          </a:xfrm>
          <a:prstGeom prst="rect">
            <a:avLst/>
          </a:prstGeom>
          <a:solidFill>
            <a:srgbClr val="D1FAE5"/>
          </a:solidFill>
        </p:spPr>
        <p:txBody>
          <a:bodyPr wrap="square">
            <a:spAutoFit/>
          </a:bodyPr>
          <a:lstStyle/>
          <a:p>
            <a:pPr algn="ctr"/>
            <a:r>
              <a:rPr sz="800" b="1" i="0">
                <a:solidFill>
                  <a:srgbClr val="065F46"/>
                </a:solidFill>
              </a:rPr>
              <a:t>[確定]</a:t>
            </a:r>
          </a:p>
        </p:txBody>
      </p:sp>
      <p:graphicFrame>
        <p:nvGraphicFramePr>
          <p:cNvPr id="7" name="Table 6"/>
          <p:cNvGraphicFramePr>
            <a:graphicFrameLocks noGrp="1"/>
          </p:cNvGraphicFramePr>
          <p:nvPr/>
        </p:nvGraphicFramePr>
        <p:xfrm>
          <a:off x="365760" y="1234440"/>
          <a:ext cx="11430000" cy="2779776"/>
        </p:xfrm>
        <a:graphic>
          <a:graphicData uri="http://schemas.openxmlformats.org/drawingml/2006/table">
            <a:tbl>
              <a:tblPr firstRow="1" bandRow="1">
                <a:tableStyleId>{5C22544A-7EE6-4342-B048-85BDC9FD1C3A}</a:tableStyleId>
              </a:tblPr>
              <a:tblGrid>
                <a:gridCol w="365760"/>
                <a:gridCol w="2194560"/>
                <a:gridCol w="640080"/>
                <a:gridCol w="6583680"/>
                <a:gridCol w="1645920"/>
              </a:tblGrid>
              <a:tr h="347472">
                <a:tc>
                  <a:txBody>
                    <a:bodyPr wrap="square"/>
                    <a:lstStyle/>
                    <a:p>
                      <a:pPr algn="l"/>
                      <a:r>
                        <a:rPr sz="800" b="1">
                          <a:solidFill>
                            <a:srgbClr val="FFFFFF"/>
                          </a:solidFill>
                        </a:rPr>
                        <a:t>#</a:t>
                      </a:r>
                    </a:p>
                  </a:txBody>
                  <a:tcPr>
                    <a:solidFill>
                      <a:srgbClr val="1A56DB"/>
                    </a:solidFill>
                  </a:tcPr>
                </a:tc>
                <a:tc>
                  <a:txBody>
                    <a:bodyPr wrap="square"/>
                    <a:lstStyle/>
                    <a:p>
                      <a:pPr algn="l"/>
                      <a:r>
                        <a:rPr sz="800" b="1">
                          <a:solidFill>
                            <a:srgbClr val="FFFFFF"/>
                          </a:solidFill>
                        </a:rPr>
                        <a:t>記載項目</a:t>
                      </a:r>
                    </a:p>
                  </a:txBody>
                  <a:tcPr>
                    <a:solidFill>
                      <a:srgbClr val="1A56DB"/>
                    </a:solidFill>
                  </a:tcPr>
                </a:tc>
                <a:tc>
                  <a:txBody>
                    <a:bodyPr wrap="square"/>
                    <a:lstStyle/>
                    <a:p>
                      <a:pPr algn="l"/>
                      <a:r>
                        <a:rPr sz="800" b="1">
                          <a:solidFill>
                            <a:srgbClr val="FFFFFF"/>
                          </a:solidFill>
                        </a:rPr>
                        <a:t>義務</a:t>
                      </a:r>
                    </a:p>
                  </a:txBody>
                  <a:tcPr>
                    <a:solidFill>
                      <a:srgbClr val="1A56DB"/>
                    </a:solidFill>
                  </a:tcPr>
                </a:tc>
                <a:tc>
                  <a:txBody>
                    <a:bodyPr wrap="square"/>
                    <a:lstStyle/>
                    <a:p>
                      <a:pPr algn="l"/>
                      <a:r>
                        <a:rPr sz="800" b="1">
                          <a:solidFill>
                            <a:srgbClr val="FFFFFF"/>
                          </a:solidFill>
                        </a:rPr>
                        <a:t>具体的な要件</a:t>
                      </a:r>
                    </a:p>
                  </a:txBody>
                  <a:tcPr>
                    <a:solidFill>
                      <a:srgbClr val="1A56DB"/>
                    </a:solidFill>
                  </a:tcPr>
                </a:tc>
                <a:tc>
                  <a:txBody>
                    <a:bodyPr wrap="square"/>
                    <a:lstStyle/>
                    <a:p>
                      <a:pPr algn="l"/>
                      <a:r>
                        <a:rPr sz="800" b="1">
                          <a:solidFill>
                            <a:srgbClr val="FFFFFF"/>
                          </a:solidFill>
                        </a:rPr>
                        <a:t>根拠条文</a:t>
                      </a:r>
                    </a:p>
                  </a:txBody>
                  <a:tcPr>
                    <a:solidFill>
                      <a:srgbClr val="1A56DB"/>
                    </a:solidFill>
                  </a:tcPr>
                </a:tc>
              </a:tr>
              <a:tr h="347472">
                <a:tc>
                  <a:txBody>
                    <a:bodyPr wrap="square"/>
                    <a:lstStyle/>
                    <a:p>
                      <a:pPr algn="l"/>
                      <a:r>
                        <a:rPr sz="800" b="0">
                          <a:solidFill>
                            <a:srgbClr val="222222"/>
                          </a:solidFill>
                        </a:rPr>
                        <a:t>1</a:t>
                      </a:r>
                    </a:p>
                  </a:txBody>
                  <a:tcPr>
                    <a:solidFill>
                      <a:srgbClr val="FFFFFF"/>
                    </a:solidFill>
                  </a:tcPr>
                </a:tc>
                <a:tc>
                  <a:txBody>
                    <a:bodyPr wrap="square"/>
                    <a:lstStyle/>
                    <a:p>
                      <a:pPr algn="l"/>
                      <a:r>
                        <a:rPr sz="800" b="0">
                          <a:solidFill>
                            <a:srgbClr val="222222"/>
                          </a:solidFill>
                        </a:rPr>
                        <a:t>原料樹脂の種類</a:t>
                      </a:r>
                    </a:p>
                  </a:txBody>
                  <a:tcPr>
                    <a:solidFill>
                      <a:srgbClr val="FFFFFF"/>
                    </a:solidFill>
                  </a:tcPr>
                </a:tc>
                <a:tc>
                  <a:txBody>
                    <a:bodyPr wrap="square"/>
                    <a:lstStyle/>
                    <a:p>
                      <a:pPr algn="l"/>
                      <a:r>
                        <a:rPr sz="800" b="0">
                          <a:solidFill>
                            <a:srgbClr val="222222"/>
                          </a:solidFill>
                        </a:rPr>
                        <a:t>must</a:t>
                      </a:r>
                    </a:p>
                  </a:txBody>
                  <a:tcPr>
                    <a:solidFill>
                      <a:srgbClr val="FFFFFF"/>
                    </a:solidFill>
                  </a:tcPr>
                </a:tc>
                <a:tc>
                  <a:txBody>
                    <a:bodyPr wrap="square"/>
                    <a:lstStyle/>
                    <a:p>
                      <a:pPr algn="l"/>
                      <a:r>
                        <a:rPr sz="800" b="0">
                          <a:solidFill>
                            <a:srgbClr val="222222"/>
                          </a:solidFill>
                        </a:rPr>
                        <a:t>全ての合成樹脂の名称を表示。2種類以上は混入割合の大きい順に列記
例：「外装：ポリエステル100%　保冷材：発泡ポリスチレン　内装：アルミ蒸着ポリエチレン」</a:t>
                      </a:r>
                    </a:p>
                  </a:txBody>
                  <a:tcPr>
                    <a:solidFill>
                      <a:srgbClr val="FFFFFF"/>
                    </a:solidFill>
                  </a:tcPr>
                </a:tc>
                <a:tc>
                  <a:txBody>
                    <a:bodyPr wrap="square"/>
                    <a:lstStyle/>
                    <a:p>
                      <a:pPr algn="l"/>
                      <a:r>
                        <a:rPr sz="800" b="0">
                          <a:solidFill>
                            <a:srgbClr val="222222"/>
                          </a:solidFill>
                        </a:rPr>
                        <a:t>合成樹脂加工品品質表示規程 第2条</a:t>
                      </a:r>
                    </a:p>
                  </a:txBody>
                  <a:tcPr>
                    <a:solidFill>
                      <a:srgbClr val="FFFFFF"/>
                    </a:solidFill>
                  </a:tcPr>
                </a:tc>
              </a:tr>
              <a:tr h="347472">
                <a:tc>
                  <a:txBody>
                    <a:bodyPr wrap="square"/>
                    <a:lstStyle/>
                    <a:p>
                      <a:pPr algn="l"/>
                      <a:r>
                        <a:rPr sz="800" b="0">
                          <a:solidFill>
                            <a:srgbClr val="222222"/>
                          </a:solidFill>
                        </a:rPr>
                        <a:t>2</a:t>
                      </a:r>
                    </a:p>
                  </a:txBody>
                  <a:tcPr>
                    <a:solidFill>
                      <a:srgbClr val="F8FAFC"/>
                    </a:solidFill>
                  </a:tcPr>
                </a:tc>
                <a:tc>
                  <a:txBody>
                    <a:bodyPr wrap="square"/>
                    <a:lstStyle/>
                    <a:p>
                      <a:pPr algn="l"/>
                      <a:r>
                        <a:rPr sz="800" b="0">
                          <a:solidFill>
                            <a:srgbClr val="222222"/>
                          </a:solidFill>
                        </a:rPr>
                        <a:t>耐熱温度</a:t>
                      </a:r>
                    </a:p>
                  </a:txBody>
                  <a:tcPr>
                    <a:solidFill>
                      <a:srgbClr val="F8FAFC"/>
                    </a:solidFill>
                  </a:tcPr>
                </a:tc>
                <a:tc>
                  <a:txBody>
                    <a:bodyPr wrap="square"/>
                    <a:lstStyle/>
                    <a:p>
                      <a:pPr algn="l"/>
                      <a:r>
                        <a:rPr sz="800" b="0">
                          <a:solidFill>
                            <a:srgbClr val="222222"/>
                          </a:solidFill>
                        </a:rPr>
                        <a:t>must</a:t>
                      </a:r>
                    </a:p>
                  </a:txBody>
                  <a:tcPr>
                    <a:solidFill>
                      <a:srgbClr val="F8FAFC"/>
                    </a:solidFill>
                  </a:tcPr>
                </a:tc>
                <a:tc>
                  <a:txBody>
                    <a:bodyPr wrap="square"/>
                    <a:lstStyle/>
                    <a:p>
                      <a:pPr algn="l"/>
                      <a:r>
                        <a:rPr sz="800" b="0">
                          <a:solidFill>
                            <a:srgbClr val="222222"/>
                          </a:solidFill>
                        </a:rPr>
                        <a:t>規程所定の試験方法で測定した数値を℃で表示
例：「耐熱温度 80℃」</a:t>
                      </a:r>
                    </a:p>
                  </a:txBody>
                  <a:tcPr>
                    <a:solidFill>
                      <a:srgbClr val="F8FAFC"/>
                    </a:solidFill>
                  </a:tcPr>
                </a:tc>
                <a:tc>
                  <a:txBody>
                    <a:bodyPr wrap="square"/>
                    <a:lstStyle/>
                    <a:p>
                      <a:pPr algn="l"/>
                      <a:r>
                        <a:rPr sz="800" b="0">
                          <a:solidFill>
                            <a:srgbClr val="222222"/>
                          </a:solidFill>
                        </a:rPr>
                        <a:t>同規程 第3条</a:t>
                      </a:r>
                    </a:p>
                  </a:txBody>
                  <a:tcPr>
                    <a:solidFill>
                      <a:srgbClr val="F8FAFC"/>
                    </a:solidFill>
                  </a:tcPr>
                </a:tc>
              </a:tr>
              <a:tr h="347472">
                <a:tc>
                  <a:txBody>
                    <a:bodyPr wrap="square"/>
                    <a:lstStyle/>
                    <a:p>
                      <a:pPr algn="l"/>
                      <a:r>
                        <a:rPr sz="800" b="0">
                          <a:solidFill>
                            <a:srgbClr val="222222"/>
                          </a:solidFill>
                        </a:rPr>
                        <a:t>3</a:t>
                      </a:r>
                    </a:p>
                  </a:txBody>
                  <a:tcPr>
                    <a:solidFill>
                      <a:srgbClr val="FFFFFF"/>
                    </a:solidFill>
                  </a:tcPr>
                </a:tc>
                <a:tc>
                  <a:txBody>
                    <a:bodyPr wrap="square"/>
                    <a:lstStyle/>
                    <a:p>
                      <a:pPr algn="l"/>
                      <a:r>
                        <a:rPr sz="800" b="0">
                          <a:solidFill>
                            <a:srgbClr val="222222"/>
                          </a:solidFill>
                        </a:rPr>
                        <a:t>耐冷温度</a:t>
                      </a:r>
                    </a:p>
                  </a:txBody>
                  <a:tcPr>
                    <a:solidFill>
                      <a:srgbClr val="FFFFFF"/>
                    </a:solidFill>
                  </a:tcPr>
                </a:tc>
                <a:tc>
                  <a:txBody>
                    <a:bodyPr wrap="square"/>
                    <a:lstStyle/>
                    <a:p>
                      <a:pPr algn="l"/>
                      <a:r>
                        <a:rPr sz="800" b="0">
                          <a:solidFill>
                            <a:srgbClr val="222222"/>
                          </a:solidFill>
                        </a:rPr>
                        <a:t>must</a:t>
                      </a:r>
                    </a:p>
                  </a:txBody>
                  <a:tcPr>
                    <a:solidFill>
                      <a:srgbClr val="FFFFFF"/>
                    </a:solidFill>
                  </a:tcPr>
                </a:tc>
                <a:tc>
                  <a:txBody>
                    <a:bodyPr wrap="square"/>
                    <a:lstStyle/>
                    <a:p>
                      <a:pPr algn="l"/>
                      <a:r>
                        <a:rPr sz="800" b="0">
                          <a:solidFill>
                            <a:srgbClr val="222222"/>
                          </a:solidFill>
                        </a:rPr>
                        <a:t>規程所定の試験方法で測定した数値を℃で表示。保冷バッグは氷・冷凍品に直接触れる用途のため特に重要
例：「耐冷温度 −30℃」</a:t>
                      </a:r>
                    </a:p>
                  </a:txBody>
                  <a:tcPr>
                    <a:solidFill>
                      <a:srgbClr val="FFFFFF"/>
                    </a:solidFill>
                  </a:tcPr>
                </a:tc>
                <a:tc>
                  <a:txBody>
                    <a:bodyPr wrap="square"/>
                    <a:lstStyle/>
                    <a:p>
                      <a:pPr algn="l"/>
                      <a:r>
                        <a:rPr sz="800" b="0">
                          <a:solidFill>
                            <a:srgbClr val="222222"/>
                          </a:solidFill>
                        </a:rPr>
                        <a:t>同規程 第3条</a:t>
                      </a:r>
                    </a:p>
                  </a:txBody>
                  <a:tcPr>
                    <a:solidFill>
                      <a:srgbClr val="FFFFFF"/>
                    </a:solidFill>
                  </a:tcPr>
                </a:tc>
              </a:tr>
              <a:tr h="347472">
                <a:tc>
                  <a:txBody>
                    <a:bodyPr wrap="square"/>
                    <a:lstStyle/>
                    <a:p>
                      <a:pPr algn="l"/>
                      <a:r>
                        <a:rPr sz="800" b="0">
                          <a:solidFill>
                            <a:srgbClr val="222222"/>
                          </a:solidFill>
                        </a:rPr>
                        <a:t>4</a:t>
                      </a:r>
                    </a:p>
                  </a:txBody>
                  <a:tcPr>
                    <a:solidFill>
                      <a:srgbClr val="F8FAFC"/>
                    </a:solidFill>
                  </a:tcPr>
                </a:tc>
                <a:tc>
                  <a:txBody>
                    <a:bodyPr wrap="square"/>
                    <a:lstStyle/>
                    <a:p>
                      <a:pPr algn="l"/>
                      <a:r>
                        <a:rPr sz="800" b="0">
                          <a:solidFill>
                            <a:srgbClr val="222222"/>
                          </a:solidFill>
                        </a:rPr>
                        <a:t>冷凍時の注意事項（該当時）</a:t>
                      </a:r>
                    </a:p>
                  </a:txBody>
                  <a:tcPr>
                    <a:solidFill>
                      <a:srgbClr val="F8FAFC"/>
                    </a:solidFill>
                  </a:tcPr>
                </a:tc>
                <a:tc>
                  <a:txBody>
                    <a:bodyPr wrap="square"/>
                    <a:lstStyle/>
                    <a:p>
                      <a:pPr algn="l"/>
                      <a:r>
                        <a:rPr sz="800" b="0">
                          <a:solidFill>
                            <a:srgbClr val="222222"/>
                          </a:solidFill>
                        </a:rPr>
                        <a:t>must</a:t>
                      </a:r>
                    </a:p>
                  </a:txBody>
                  <a:tcPr>
                    <a:solidFill>
                      <a:srgbClr val="F8FAFC"/>
                    </a:solidFill>
                  </a:tcPr>
                </a:tc>
                <a:tc>
                  <a:txBody>
                    <a:bodyPr wrap="square"/>
                    <a:lstStyle/>
                    <a:p>
                      <a:pPr algn="l"/>
                      <a:r>
                        <a:rPr sz="800" b="0">
                          <a:solidFill>
                            <a:srgbClr val="222222"/>
                          </a:solidFill>
                        </a:rPr>
                        <a:t>冷凍する際に注意すべき事項を表示
例：「冷凍庫に入れないでください」</a:t>
                      </a:r>
                    </a:p>
                  </a:txBody>
                  <a:tcPr>
                    <a:solidFill>
                      <a:srgbClr val="F8FAFC"/>
                    </a:solidFill>
                  </a:tcPr>
                </a:tc>
                <a:tc>
                  <a:txBody>
                    <a:bodyPr wrap="square"/>
                    <a:lstStyle/>
                    <a:p>
                      <a:pPr algn="l"/>
                      <a:r>
                        <a:rPr sz="800" b="0">
                          <a:solidFill>
                            <a:srgbClr val="222222"/>
                          </a:solidFill>
                        </a:rPr>
                        <a:t>同規程</a:t>
                      </a:r>
                    </a:p>
                  </a:txBody>
                  <a:tcPr>
                    <a:solidFill>
                      <a:srgbClr val="F8FAFC"/>
                    </a:solidFill>
                  </a:tcPr>
                </a:tc>
              </a:tr>
              <a:tr h="347472">
                <a:tc>
                  <a:txBody>
                    <a:bodyPr wrap="square"/>
                    <a:lstStyle/>
                    <a:p>
                      <a:pPr algn="l"/>
                      <a:r>
                        <a:rPr sz="800" b="0">
                          <a:solidFill>
                            <a:srgbClr val="222222"/>
                          </a:solidFill>
                        </a:rPr>
                        <a:t>5</a:t>
                      </a:r>
                    </a:p>
                  </a:txBody>
                  <a:tcPr>
                    <a:solidFill>
                      <a:srgbClr val="FFFFFF"/>
                    </a:solidFill>
                  </a:tcPr>
                </a:tc>
                <a:tc>
                  <a:txBody>
                    <a:bodyPr wrap="square"/>
                    <a:lstStyle/>
                    <a:p>
                      <a:pPr algn="l"/>
                      <a:r>
                        <a:rPr sz="800" b="0">
                          <a:solidFill>
                            <a:srgbClr val="222222"/>
                          </a:solidFill>
                        </a:rPr>
                        <a:t>容量（該当時）</a:t>
                      </a:r>
                    </a:p>
                  </a:txBody>
                  <a:tcPr>
                    <a:solidFill>
                      <a:srgbClr val="FFFFFF"/>
                    </a:solidFill>
                  </a:tcPr>
                </a:tc>
                <a:tc>
                  <a:txBody>
                    <a:bodyPr wrap="square"/>
                    <a:lstStyle/>
                    <a:p>
                      <a:pPr algn="l"/>
                      <a:r>
                        <a:rPr sz="800" b="0">
                          <a:solidFill>
                            <a:srgbClr val="222222"/>
                          </a:solidFill>
                        </a:rPr>
                        <a:t>should</a:t>
                      </a:r>
                    </a:p>
                  </a:txBody>
                  <a:tcPr>
                    <a:solidFill>
                      <a:srgbClr val="FFFFFF"/>
                    </a:solidFill>
                  </a:tcPr>
                </a:tc>
                <a:tc>
                  <a:txBody>
                    <a:bodyPr wrap="square"/>
                    <a:lstStyle/>
                    <a:p>
                      <a:pPr algn="l"/>
                      <a:r>
                        <a:rPr sz="800" b="0">
                          <a:solidFill>
                            <a:srgbClr val="222222"/>
                          </a:solidFill>
                        </a:rPr>
                        <a:t>容量が明示できる製品には表示が望ましい
例：「容量 10L」</a:t>
                      </a:r>
                    </a:p>
                  </a:txBody>
                  <a:tcPr>
                    <a:solidFill>
                      <a:srgbClr val="FFFFFF"/>
                    </a:solidFill>
                  </a:tcPr>
                </a:tc>
                <a:tc>
                  <a:txBody>
                    <a:bodyPr wrap="square"/>
                    <a:lstStyle/>
                    <a:p>
                      <a:pPr algn="l"/>
                      <a:r>
                        <a:rPr sz="800" b="0">
                          <a:solidFill>
                            <a:srgbClr val="222222"/>
                          </a:solidFill>
                        </a:rPr>
                        <a:t>同規程</a:t>
                      </a:r>
                    </a:p>
                  </a:txBody>
                  <a:tcPr>
                    <a:solidFill>
                      <a:srgbClr val="FFFFFF"/>
                    </a:solidFill>
                  </a:tcPr>
                </a:tc>
              </a:tr>
              <a:tr h="347472">
                <a:tc>
                  <a:txBody>
                    <a:bodyPr wrap="square"/>
                    <a:lstStyle/>
                    <a:p>
                      <a:pPr algn="l"/>
                      <a:r>
                        <a:rPr sz="800" b="0">
                          <a:solidFill>
                            <a:srgbClr val="222222"/>
                          </a:solidFill>
                        </a:rPr>
                        <a:t>6</a:t>
                      </a:r>
                    </a:p>
                  </a:txBody>
                  <a:tcPr>
                    <a:solidFill>
                      <a:srgbClr val="F8FAFC"/>
                    </a:solidFill>
                  </a:tcPr>
                </a:tc>
                <a:tc>
                  <a:txBody>
                    <a:bodyPr wrap="square"/>
                    <a:lstStyle/>
                    <a:p>
                      <a:pPr algn="l"/>
                      <a:r>
                        <a:rPr sz="800" b="0">
                          <a:solidFill>
                            <a:srgbClr val="222222"/>
                          </a:solidFill>
                        </a:rPr>
                        <a:t>表示者名・住所/電話</a:t>
                      </a:r>
                    </a:p>
                  </a:txBody>
                  <a:tcPr>
                    <a:solidFill>
                      <a:srgbClr val="F8FAFC"/>
                    </a:solidFill>
                  </a:tcPr>
                </a:tc>
                <a:tc>
                  <a:txBody>
                    <a:bodyPr wrap="square"/>
                    <a:lstStyle/>
                    <a:p>
                      <a:pPr algn="l"/>
                      <a:r>
                        <a:rPr sz="800" b="0">
                          <a:solidFill>
                            <a:srgbClr val="222222"/>
                          </a:solidFill>
                        </a:rPr>
                        <a:t>must</a:t>
                      </a:r>
                    </a:p>
                  </a:txBody>
                  <a:tcPr>
                    <a:solidFill>
                      <a:srgbClr val="F8FAFC"/>
                    </a:solidFill>
                  </a:tcPr>
                </a:tc>
                <a:tc>
                  <a:txBody>
                    <a:bodyPr wrap="square"/>
                    <a:lstStyle/>
                    <a:p>
                      <a:pPr algn="l"/>
                      <a:r>
                        <a:rPr sz="800" b="0">
                          <a:solidFill>
                            <a:srgbClr val="222222"/>
                          </a:solidFill>
                        </a:rPr>
                        <a:t>表示者の氏名または名称、および住所または電話番号
日本国内の住所・連絡先が必要</a:t>
                      </a:r>
                    </a:p>
                  </a:txBody>
                  <a:tcPr>
                    <a:solidFill>
                      <a:srgbClr val="F8FAFC"/>
                    </a:solidFill>
                  </a:tcPr>
                </a:tc>
                <a:tc>
                  <a:txBody>
                    <a:bodyPr wrap="square"/>
                    <a:lstStyle/>
                    <a:p>
                      <a:pPr algn="l"/>
                      <a:r>
                        <a:rPr sz="800" b="0">
                          <a:solidFill>
                            <a:srgbClr val="222222"/>
                          </a:solidFill>
                        </a:rPr>
                        <a:t>家表法 第3条第2項</a:t>
                      </a:r>
                    </a:p>
                  </a:txBody>
                  <a:tcPr>
                    <a:solidFill>
                      <a:srgbClr val="F8FAFC"/>
                    </a:solidFill>
                  </a:tcPr>
                </a:tc>
              </a:tr>
              <a:tr h="347472">
                <a:tc>
                  <a:txBody>
                    <a:bodyPr wrap="square"/>
                    <a:lstStyle/>
                    <a:p>
                      <a:pPr algn="l"/>
                      <a:r>
                        <a:rPr sz="800" b="0">
                          <a:solidFill>
                            <a:srgbClr val="222222"/>
                          </a:solidFill>
                        </a:rPr>
                        <a:t>7</a:t>
                      </a:r>
                    </a:p>
                  </a:txBody>
                  <a:tcPr>
                    <a:solidFill>
                      <a:srgbClr val="FFFFFF"/>
                    </a:solidFill>
                  </a:tcPr>
                </a:tc>
                <a:tc>
                  <a:txBody>
                    <a:bodyPr wrap="square"/>
                    <a:lstStyle/>
                    <a:p>
                      <a:pPr algn="l"/>
                      <a:r>
                        <a:rPr sz="800" b="0">
                          <a:solidFill>
                            <a:srgbClr val="222222"/>
                          </a:solidFill>
                        </a:rPr>
                        <a:t>日本語表示</a:t>
                      </a:r>
                    </a:p>
                  </a:txBody>
                  <a:tcPr>
                    <a:solidFill>
                      <a:srgbClr val="FFFFFF"/>
                    </a:solidFill>
                  </a:tcPr>
                </a:tc>
                <a:tc>
                  <a:txBody>
                    <a:bodyPr wrap="square"/>
                    <a:lstStyle/>
                    <a:p>
                      <a:pPr algn="l"/>
                      <a:r>
                        <a:rPr sz="800" b="0">
                          <a:solidFill>
                            <a:srgbClr val="222222"/>
                          </a:solidFill>
                        </a:rPr>
                        <a:t>must</a:t>
                      </a:r>
                    </a:p>
                  </a:txBody>
                  <a:tcPr>
                    <a:solidFill>
                      <a:srgbClr val="FFFFFF"/>
                    </a:solidFill>
                  </a:tcPr>
                </a:tc>
                <a:tc>
                  <a:txBody>
                    <a:bodyPr wrap="square"/>
                    <a:lstStyle/>
                    <a:p>
                      <a:pPr algn="l"/>
                      <a:r>
                        <a:rPr sz="800" b="0">
                          <a:solidFill>
                            <a:srgbClr val="222222"/>
                          </a:solidFill>
                        </a:rPr>
                        <a:t>全ての品質表示を日本語で行う</a:t>
                      </a:r>
                    </a:p>
                  </a:txBody>
                  <a:tcPr>
                    <a:solidFill>
                      <a:srgbClr val="FFFFFF"/>
                    </a:solidFill>
                  </a:tcPr>
                </a:tc>
                <a:tc>
                  <a:txBody>
                    <a:bodyPr wrap="square"/>
                    <a:lstStyle/>
                    <a:p>
                      <a:pPr algn="l"/>
                      <a:r>
                        <a:rPr sz="800" b="0">
                          <a:solidFill>
                            <a:srgbClr val="222222"/>
                          </a:solidFill>
                        </a:rPr>
                        <a:t>家表法・同規程</a:t>
                      </a:r>
                    </a:p>
                  </a:txBody>
                  <a:tcPr>
                    <a:solidFill>
                      <a:srgbClr val="FFFFFF"/>
                    </a:solidFill>
                  </a:tcPr>
                </a:tc>
              </a:tr>
            </a:tbl>
          </a:graphicData>
        </a:graphic>
      </p:graphicFrame>
      <p:sp>
        <p:nvSpPr>
          <p:cNvPr id="8" name="Rectangle 7"/>
          <p:cNvSpPr/>
          <p:nvPr/>
        </p:nvSpPr>
        <p:spPr>
          <a:xfrm>
            <a:off x="0" y="6537960"/>
            <a:ext cx="12188952"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65392"/>
            <a:ext cx="9144000" cy="256032"/>
          </a:xfrm>
          <a:prstGeom prst="rect">
            <a:avLst/>
          </a:prstGeom>
          <a:noFill/>
        </p:spPr>
        <p:txBody>
          <a:bodyPr wrap="square">
            <a:spAutoFit/>
          </a:bodyPr>
          <a:lstStyle/>
          <a:p>
            <a:pPr algn="l"/>
            <a:r>
              <a:rPr sz="800" b="0" i="0">
                <a:solidFill>
                  <a:srgbClr val="6B7280"/>
                </a:solidFill>
              </a:rPr>
              <a:t>保冷バッグ Amazon輸入 品質表示法対応 提案書  ©貴社名</a:t>
            </a:r>
          </a:p>
        </p:txBody>
      </p:sp>
      <p:sp>
        <p:nvSpPr>
          <p:cNvPr id="10" name="TextBox 9"/>
          <p:cNvSpPr txBox="1"/>
          <p:nvPr/>
        </p:nvSpPr>
        <p:spPr>
          <a:xfrm>
            <a:off x="11247120" y="6565392"/>
            <a:ext cx="914400" cy="256032"/>
          </a:xfrm>
          <a:prstGeom prst="rect">
            <a:avLst/>
          </a:prstGeom>
          <a:noFill/>
        </p:spPr>
        <p:txBody>
          <a:bodyPr wrap="square">
            <a:spAutoFit/>
          </a:bodyPr>
          <a:lstStyle/>
          <a:p>
            <a:pPr algn="r"/>
            <a:r>
              <a:rPr sz="800" b="0" i="0">
                <a:solidFill>
                  <a:srgbClr val="6B7280"/>
                </a:solidFill>
              </a:rP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029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10972800" cy="384048"/>
          </a:xfrm>
          <a:prstGeom prst="rect">
            <a:avLst/>
          </a:prstGeom>
          <a:noFill/>
        </p:spPr>
        <p:txBody>
          <a:bodyPr wrap="square">
            <a:spAutoFit/>
          </a:bodyPr>
          <a:lstStyle/>
          <a:p>
            <a:pPr algn="l"/>
            <a:r>
              <a:rPr sz="1100" b="1" i="0">
                <a:solidFill>
                  <a:srgbClr val="FFFFFF"/>
                </a:solidFill>
              </a:rPr>
              <a:t>4. 法令要件の整理</a:t>
            </a:r>
          </a:p>
        </p:txBody>
      </p:sp>
      <p:sp>
        <p:nvSpPr>
          <p:cNvPr id="4" name="TextBox 3"/>
          <p:cNvSpPr txBox="1"/>
          <p:nvPr/>
        </p:nvSpPr>
        <p:spPr>
          <a:xfrm>
            <a:off x="365760" y="566928"/>
            <a:ext cx="11430000" cy="502920"/>
          </a:xfrm>
          <a:prstGeom prst="rect">
            <a:avLst/>
          </a:prstGeom>
          <a:noFill/>
        </p:spPr>
        <p:txBody>
          <a:bodyPr wrap="square">
            <a:spAutoFit/>
          </a:bodyPr>
          <a:lstStyle/>
          <a:p>
            <a:pPr algn="l"/>
            <a:r>
              <a:rPr sz="1800" b="1" i="0">
                <a:solidFill>
                  <a:srgbClr val="1E3A5F"/>
                </a:solidFill>
              </a:rPr>
              <a:t>食品衛生法 ポジティブリスト制度への対応（2025年6月1日 完全施行）</a:t>
            </a:r>
          </a:p>
        </p:txBody>
      </p:sp>
      <p:sp>
        <p:nvSpPr>
          <p:cNvPr id="5" name="Rectangle 4"/>
          <p:cNvSpPr/>
          <p:nvPr/>
        </p:nvSpPr>
        <p:spPr>
          <a:xfrm>
            <a:off x="365760" y="1115568"/>
            <a:ext cx="11457432" cy="36576"/>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73152"/>
            <a:ext cx="1280160" cy="320040"/>
          </a:xfrm>
          <a:prstGeom prst="rect">
            <a:avLst/>
          </a:prstGeom>
          <a:solidFill>
            <a:srgbClr val="D1FAE5"/>
          </a:solidFill>
        </p:spPr>
        <p:txBody>
          <a:bodyPr wrap="square">
            <a:spAutoFit/>
          </a:bodyPr>
          <a:lstStyle/>
          <a:p>
            <a:pPr algn="ctr"/>
            <a:r>
              <a:rPr sz="800" b="1" i="0">
                <a:solidFill>
                  <a:srgbClr val="065F46"/>
                </a:solidFill>
              </a:rPr>
              <a:t>[確定]</a:t>
            </a:r>
          </a:p>
        </p:txBody>
      </p:sp>
      <p:sp>
        <p:nvSpPr>
          <p:cNvPr id="7" name="TextBox 6"/>
          <p:cNvSpPr txBox="1"/>
          <p:nvPr/>
        </p:nvSpPr>
        <p:spPr>
          <a:xfrm>
            <a:off x="365760" y="1234440"/>
            <a:ext cx="11430000" cy="320040"/>
          </a:xfrm>
          <a:prstGeom prst="rect">
            <a:avLst/>
          </a:prstGeom>
          <a:noFill/>
        </p:spPr>
        <p:txBody>
          <a:bodyPr wrap="square">
            <a:spAutoFit/>
          </a:bodyPr>
          <a:lstStyle/>
          <a:p>
            <a:pPr algn="l"/>
            <a:r>
              <a:rPr sz="950" b="0" i="0">
                <a:solidFill>
                  <a:srgbClr val="222222"/>
                </a:solidFill>
              </a:rPr>
              <a:t>保冷バッグの内装素材（食品と接触する可能性がある合成樹脂部分）は、食品衛生法のポジティブリスト（PL）制度の対象。2025年6月1日より経過措置が終了し、PL未掲載物質の使用が原則禁止となった。</a:t>
            </a:r>
          </a:p>
        </p:txBody>
      </p:sp>
      <p:graphicFrame>
        <p:nvGraphicFramePr>
          <p:cNvPr id="8" name="Table 7"/>
          <p:cNvGraphicFramePr>
            <a:graphicFrameLocks noGrp="1"/>
          </p:cNvGraphicFramePr>
          <p:nvPr/>
        </p:nvGraphicFramePr>
        <p:xfrm>
          <a:off x="365760" y="1645920"/>
          <a:ext cx="11430000" cy="2432304"/>
        </p:xfrm>
        <a:graphic>
          <a:graphicData uri="http://schemas.openxmlformats.org/drawingml/2006/table">
            <a:tbl>
              <a:tblPr firstRow="1" bandRow="1">
                <a:tableStyleId>{5C22544A-7EE6-4342-B048-85BDC9FD1C3A}</a:tableStyleId>
              </a:tblPr>
              <a:tblGrid>
                <a:gridCol w="3200400"/>
                <a:gridCol w="1097280"/>
                <a:gridCol w="7132320"/>
              </a:tblGrid>
              <a:tr h="347472">
                <a:tc>
                  <a:txBody>
                    <a:bodyPr wrap="square"/>
                    <a:lstStyle/>
                    <a:p>
                      <a:pPr algn="l"/>
                      <a:r>
                        <a:rPr sz="850" b="1">
                          <a:solidFill>
                            <a:srgbClr val="FFFFFF"/>
                          </a:solidFill>
                        </a:rPr>
                        <a:t>対応項目</a:t>
                      </a:r>
                    </a:p>
                  </a:txBody>
                  <a:tcPr>
                    <a:solidFill>
                      <a:srgbClr val="1A56DB"/>
                    </a:solidFill>
                  </a:tcPr>
                </a:tc>
                <a:tc>
                  <a:txBody>
                    <a:bodyPr wrap="square"/>
                    <a:lstStyle/>
                    <a:p>
                      <a:pPr algn="l"/>
                      <a:r>
                        <a:rPr sz="850" b="1">
                          <a:solidFill>
                            <a:srgbClr val="FFFFFF"/>
                          </a:solidFill>
                        </a:rPr>
                        <a:t>義務区分</a:t>
                      </a:r>
                    </a:p>
                  </a:txBody>
                  <a:tcPr>
                    <a:solidFill>
                      <a:srgbClr val="1A56DB"/>
                    </a:solidFill>
                  </a:tcPr>
                </a:tc>
                <a:tc>
                  <a:txBody>
                    <a:bodyPr wrap="square"/>
                    <a:lstStyle/>
                    <a:p>
                      <a:pPr algn="l"/>
                      <a:r>
                        <a:rPr sz="850" b="1">
                          <a:solidFill>
                            <a:srgbClr val="FFFFFF"/>
                          </a:solidFill>
                        </a:rPr>
                        <a:t>具体的な対応内容</a:t>
                      </a:r>
                    </a:p>
                  </a:txBody>
                  <a:tcPr>
                    <a:solidFill>
                      <a:srgbClr val="1A56DB"/>
                    </a:solidFill>
                  </a:tcPr>
                </a:tc>
              </a:tr>
              <a:tr h="347472">
                <a:tc>
                  <a:txBody>
                    <a:bodyPr wrap="square"/>
                    <a:lstStyle/>
                    <a:p>
                      <a:pPr algn="l"/>
                      <a:r>
                        <a:rPr sz="850" b="0">
                          <a:solidFill>
                            <a:srgbClr val="222222"/>
                          </a:solidFill>
                        </a:rPr>
                        <a:t>適合証明書の取得</a:t>
                      </a:r>
                    </a:p>
                  </a:txBody>
                  <a:tcPr>
                    <a:solidFill>
                      <a:srgbClr val="FFFFFF"/>
                    </a:solidFill>
                  </a:tcPr>
                </a:tc>
                <a:tc>
                  <a:txBody>
                    <a:bodyPr wrap="square"/>
                    <a:lstStyle/>
                    <a:p>
                      <a:pPr algn="l"/>
                      <a:r>
                        <a:rPr sz="850" b="0">
                          <a:solidFill>
                            <a:srgbClr val="222222"/>
                          </a:solidFill>
                        </a:rPr>
                        <a:t>must</a:t>
                      </a:r>
                    </a:p>
                  </a:txBody>
                  <a:tcPr>
                    <a:solidFill>
                      <a:srgbClr val="FFFFFF"/>
                    </a:solidFill>
                  </a:tcPr>
                </a:tc>
                <a:tc>
                  <a:txBody>
                    <a:bodyPr wrap="square"/>
                    <a:lstStyle/>
                    <a:p>
                      <a:pPr algn="l"/>
                      <a:r>
                        <a:rPr sz="850" b="0">
                          <a:solidFill>
                            <a:srgbClr val="222222"/>
                          </a:solidFill>
                        </a:rPr>
                        <a:t>中国工場（製造者）から「ポジティブリスト適合証明書」を取得する。
記載内容：使用物質名・CAS番号・用途・適合根拠</a:t>
                      </a:r>
                    </a:p>
                  </a:txBody>
                  <a:tcPr>
                    <a:solidFill>
                      <a:srgbClr val="FFFFFF"/>
                    </a:solidFill>
                  </a:tcPr>
                </a:tc>
              </a:tr>
              <a:tr h="347472">
                <a:tc>
                  <a:txBody>
                    <a:bodyPr wrap="square"/>
                    <a:lstStyle/>
                    <a:p>
                      <a:pPr algn="l"/>
                      <a:r>
                        <a:rPr sz="850" b="0">
                          <a:solidFill>
                            <a:srgbClr val="222222"/>
                          </a:solidFill>
                        </a:rPr>
                        <a:t>成分表・材料仕様書の入手</a:t>
                      </a:r>
                    </a:p>
                  </a:txBody>
                  <a:tcPr>
                    <a:solidFill>
                      <a:srgbClr val="F8FAFC"/>
                    </a:solidFill>
                  </a:tcPr>
                </a:tc>
                <a:tc>
                  <a:txBody>
                    <a:bodyPr wrap="square"/>
                    <a:lstStyle/>
                    <a:p>
                      <a:pPr algn="l"/>
                      <a:r>
                        <a:rPr sz="850" b="0">
                          <a:solidFill>
                            <a:srgbClr val="222222"/>
                          </a:solidFill>
                        </a:rPr>
                        <a:t>must</a:t>
                      </a:r>
                    </a:p>
                  </a:txBody>
                  <a:tcPr>
                    <a:solidFill>
                      <a:srgbClr val="F8FAFC"/>
                    </a:solidFill>
                  </a:tcPr>
                </a:tc>
                <a:tc>
                  <a:txBody>
                    <a:bodyPr wrap="square"/>
                    <a:lstStyle/>
                    <a:p>
                      <a:pPr algn="l"/>
                      <a:r>
                        <a:rPr sz="850" b="0">
                          <a:solidFill>
                            <a:srgbClr val="222222"/>
                          </a:solidFill>
                        </a:rPr>
                        <a:t>全素材の成分表または材料仕様書（Material Safety Data Sheet等）を仕入先から取得・保管する</a:t>
                      </a:r>
                    </a:p>
                  </a:txBody>
                  <a:tcPr>
                    <a:solidFill>
                      <a:srgbClr val="F8FAFC"/>
                    </a:solidFill>
                  </a:tcPr>
                </a:tc>
              </a:tr>
              <a:tr h="347472">
                <a:tc>
                  <a:txBody>
                    <a:bodyPr wrap="square"/>
                    <a:lstStyle/>
                    <a:p>
                      <a:pPr algn="l"/>
                      <a:r>
                        <a:rPr sz="850" b="0">
                          <a:solidFill>
                            <a:srgbClr val="222222"/>
                          </a:solidFill>
                        </a:rPr>
                        <a:t>食品等輸入届出</a:t>
                      </a:r>
                    </a:p>
                  </a:txBody>
                  <a:tcPr>
                    <a:solidFill>
                      <a:srgbClr val="FFFFFF"/>
                    </a:solidFill>
                  </a:tcPr>
                </a:tc>
                <a:tc>
                  <a:txBody>
                    <a:bodyPr wrap="square"/>
                    <a:lstStyle/>
                    <a:p>
                      <a:pPr algn="l"/>
                      <a:r>
                        <a:rPr sz="850" b="0">
                          <a:solidFill>
                            <a:srgbClr val="222222"/>
                          </a:solidFill>
                        </a:rPr>
                        <a:t>must</a:t>
                      </a:r>
                    </a:p>
                  </a:txBody>
                  <a:tcPr>
                    <a:solidFill>
                      <a:srgbClr val="FFFFFF"/>
                    </a:solidFill>
                  </a:tcPr>
                </a:tc>
                <a:tc>
                  <a:txBody>
                    <a:bodyPr wrap="square"/>
                    <a:lstStyle/>
                    <a:p>
                      <a:pPr algn="l"/>
                      <a:r>
                        <a:rPr sz="850" b="0">
                          <a:solidFill>
                            <a:srgbClr val="222222"/>
                          </a:solidFill>
                        </a:rPr>
                        <a:t>食品に接触する器具・容器包装を輸入する場合、厚生労働大臣への輸入届出が必要（食品衛生法第27条）</a:t>
                      </a:r>
                    </a:p>
                  </a:txBody>
                  <a:tcPr>
                    <a:solidFill>
                      <a:srgbClr val="FFFFFF"/>
                    </a:solidFill>
                  </a:tcPr>
                </a:tc>
              </a:tr>
              <a:tr h="347472">
                <a:tc>
                  <a:txBody>
                    <a:bodyPr wrap="square"/>
                    <a:lstStyle/>
                    <a:p>
                      <a:pPr algn="l"/>
                      <a:r>
                        <a:rPr sz="850" b="0">
                          <a:solidFill>
                            <a:srgbClr val="222222"/>
                          </a:solidFill>
                        </a:rPr>
                        <a:t>適合性の説明義務</a:t>
                      </a:r>
                    </a:p>
                  </a:txBody>
                  <a:tcPr>
                    <a:solidFill>
                      <a:srgbClr val="F8FAFC"/>
                    </a:solidFill>
                  </a:tcPr>
                </a:tc>
                <a:tc>
                  <a:txBody>
                    <a:bodyPr wrap="square"/>
                    <a:lstStyle/>
                    <a:p>
                      <a:pPr algn="l"/>
                      <a:r>
                        <a:rPr sz="850" b="0">
                          <a:solidFill>
                            <a:srgbClr val="222222"/>
                          </a:solidFill>
                        </a:rPr>
                        <a:t>must</a:t>
                      </a:r>
                    </a:p>
                  </a:txBody>
                  <a:tcPr>
                    <a:solidFill>
                      <a:srgbClr val="F8FAFC"/>
                    </a:solidFill>
                  </a:tcPr>
                </a:tc>
                <a:tc>
                  <a:txBody>
                    <a:bodyPr wrap="square"/>
                    <a:lstStyle/>
                    <a:p>
                      <a:pPr algn="l"/>
                      <a:r>
                        <a:rPr sz="850" b="0">
                          <a:solidFill>
                            <a:srgbClr val="222222"/>
                          </a:solidFill>
                        </a:rPr>
                        <a:t>販売の相手方（Amazon等のプラットフォーム含む）に対し、ポジティブリスト適合の旨を説明する義務あり（食衛法第18条の2）</a:t>
                      </a:r>
                    </a:p>
                  </a:txBody>
                  <a:tcPr>
                    <a:solidFill>
                      <a:srgbClr val="F8FAFC"/>
                    </a:solidFill>
                  </a:tcPr>
                </a:tc>
              </a:tr>
              <a:tr h="347472">
                <a:tc>
                  <a:txBody>
                    <a:bodyPr wrap="square"/>
                    <a:lstStyle/>
                    <a:p>
                      <a:pPr algn="l"/>
                      <a:r>
                        <a:rPr sz="850" b="0">
                          <a:solidFill>
                            <a:srgbClr val="222222"/>
                          </a:solidFill>
                        </a:rPr>
                        <a:t>書類の保管</a:t>
                      </a:r>
                    </a:p>
                  </a:txBody>
                  <a:tcPr>
                    <a:solidFill>
                      <a:srgbClr val="FFFFFF"/>
                    </a:solidFill>
                  </a:tcPr>
                </a:tc>
                <a:tc>
                  <a:txBody>
                    <a:bodyPr wrap="square"/>
                    <a:lstStyle/>
                    <a:p>
                      <a:pPr algn="l"/>
                      <a:r>
                        <a:rPr sz="850" b="0">
                          <a:solidFill>
                            <a:srgbClr val="222222"/>
                          </a:solidFill>
                        </a:rPr>
                        <a:t>should</a:t>
                      </a:r>
                    </a:p>
                  </a:txBody>
                  <a:tcPr>
                    <a:solidFill>
                      <a:srgbClr val="FFFFFF"/>
                    </a:solidFill>
                  </a:tcPr>
                </a:tc>
                <a:tc>
                  <a:txBody>
                    <a:bodyPr wrap="square"/>
                    <a:lstStyle/>
                    <a:p>
                      <a:pPr algn="l"/>
                      <a:r>
                        <a:rPr sz="850" b="0">
                          <a:solidFill>
                            <a:srgbClr val="222222"/>
                          </a:solidFill>
                        </a:rPr>
                        <a:t>適合証明書・成分表・届出書類を販売終了後3年間保管する</a:t>
                      </a:r>
                    </a:p>
                  </a:txBody>
                  <a:tcPr>
                    <a:solidFill>
                      <a:srgbClr val="FFFFFF"/>
                    </a:solidFill>
                  </a:tcPr>
                </a:tc>
              </a:tr>
              <a:tr h="347472">
                <a:tc>
                  <a:txBody>
                    <a:bodyPr wrap="square"/>
                    <a:lstStyle/>
                    <a:p>
                      <a:pPr algn="l"/>
                      <a:r>
                        <a:rPr sz="850" b="0">
                          <a:solidFill>
                            <a:srgbClr val="222222"/>
                          </a:solidFill>
                        </a:rPr>
                        <a:t>製造者変更時の再取得</a:t>
                      </a:r>
                    </a:p>
                  </a:txBody>
                  <a:tcPr>
                    <a:solidFill>
                      <a:srgbClr val="F8FAFC"/>
                    </a:solidFill>
                  </a:tcPr>
                </a:tc>
                <a:tc>
                  <a:txBody>
                    <a:bodyPr wrap="square"/>
                    <a:lstStyle/>
                    <a:p>
                      <a:pPr algn="l"/>
                      <a:r>
                        <a:rPr sz="850" b="0">
                          <a:solidFill>
                            <a:srgbClr val="222222"/>
                          </a:solidFill>
                        </a:rPr>
                        <a:t>must</a:t>
                      </a:r>
                    </a:p>
                  </a:txBody>
                  <a:tcPr>
                    <a:solidFill>
                      <a:srgbClr val="F8FAFC"/>
                    </a:solidFill>
                  </a:tcPr>
                </a:tc>
                <a:tc>
                  <a:txBody>
                    <a:bodyPr wrap="square"/>
                    <a:lstStyle/>
                    <a:p>
                      <a:pPr algn="l"/>
                      <a:r>
                        <a:rPr sz="850" b="0">
                          <a:solidFill>
                            <a:srgbClr val="222222"/>
                          </a:solidFill>
                        </a:rPr>
                        <a:t>仕入先・製造工場を変更した場合は適合証明書を再取得する</a:t>
                      </a:r>
                    </a:p>
                  </a:txBody>
                  <a:tcPr>
                    <a:solidFill>
                      <a:srgbClr val="F8FAFC"/>
                    </a:solidFill>
                  </a:tcPr>
                </a:tc>
              </a:tr>
            </a:tbl>
          </a:graphicData>
        </a:graphic>
      </p:graphicFrame>
      <p:sp>
        <p:nvSpPr>
          <p:cNvPr id="9" name="Rectangle 8"/>
          <p:cNvSpPr/>
          <p:nvPr/>
        </p:nvSpPr>
        <p:spPr>
          <a:xfrm>
            <a:off x="365760" y="5760720"/>
            <a:ext cx="11430000" cy="411480"/>
          </a:xfrm>
          <a:prstGeom prst="rect">
            <a:avLst/>
          </a:prstGeom>
          <a:solidFill>
            <a:srgbClr val="FFF9C4"/>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5824728"/>
            <a:ext cx="11064240" cy="320040"/>
          </a:xfrm>
          <a:prstGeom prst="rect">
            <a:avLst/>
          </a:prstGeom>
          <a:noFill/>
        </p:spPr>
        <p:txBody>
          <a:bodyPr wrap="square">
            <a:spAutoFit/>
          </a:bodyPr>
          <a:lstStyle/>
          <a:p>
            <a:pPr algn="l"/>
            <a:r>
              <a:rPr sz="850" b="0" i="0">
                <a:solidFill>
                  <a:srgbClr val="783500"/>
                </a:solidFill>
              </a:rPr>
              <a:t>⚠ 注意：保冷バッグが食品と「直接」接触しない構造（二重袋・密封パック前提）でも、接触可能性がある場合はPL制度の対象となる可能性がある。消費者庁・厚労省への事前確認を推奨する（should）。</a:t>
            </a:r>
          </a:p>
        </p:txBody>
      </p:sp>
      <p:sp>
        <p:nvSpPr>
          <p:cNvPr id="11" name="Rectangle 10"/>
          <p:cNvSpPr/>
          <p:nvPr/>
        </p:nvSpPr>
        <p:spPr>
          <a:xfrm>
            <a:off x="0" y="6537960"/>
            <a:ext cx="12188952"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6565392"/>
            <a:ext cx="9144000" cy="256032"/>
          </a:xfrm>
          <a:prstGeom prst="rect">
            <a:avLst/>
          </a:prstGeom>
          <a:noFill/>
        </p:spPr>
        <p:txBody>
          <a:bodyPr wrap="square">
            <a:spAutoFit/>
          </a:bodyPr>
          <a:lstStyle/>
          <a:p>
            <a:pPr algn="l"/>
            <a:r>
              <a:rPr sz="800" b="0" i="0">
                <a:solidFill>
                  <a:srgbClr val="6B7280"/>
                </a:solidFill>
              </a:rPr>
              <a:t>保冷バッグ Amazon輸入 品質表示法対応 提案書  ©貴社名</a:t>
            </a:r>
          </a:p>
        </p:txBody>
      </p:sp>
      <p:sp>
        <p:nvSpPr>
          <p:cNvPr id="13" name="TextBox 12"/>
          <p:cNvSpPr txBox="1"/>
          <p:nvPr/>
        </p:nvSpPr>
        <p:spPr>
          <a:xfrm>
            <a:off x="11247120" y="6565392"/>
            <a:ext cx="914400" cy="256032"/>
          </a:xfrm>
          <a:prstGeom prst="rect">
            <a:avLst/>
          </a:prstGeom>
          <a:noFill/>
        </p:spPr>
        <p:txBody>
          <a:bodyPr wrap="square">
            <a:spAutoFit/>
          </a:bodyPr>
          <a:lstStyle/>
          <a:p>
            <a:pPr algn="r"/>
            <a:r>
              <a:rPr sz="800" b="0" i="0">
                <a:solidFill>
                  <a:srgbClr val="6B7280"/>
                </a:solidFill>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029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10972800" cy="384048"/>
          </a:xfrm>
          <a:prstGeom prst="rect">
            <a:avLst/>
          </a:prstGeom>
          <a:noFill/>
        </p:spPr>
        <p:txBody>
          <a:bodyPr wrap="square">
            <a:spAutoFit/>
          </a:bodyPr>
          <a:lstStyle/>
          <a:p>
            <a:pPr algn="l"/>
            <a:r>
              <a:rPr sz="1100" b="1" i="0">
                <a:solidFill>
                  <a:srgbClr val="FFFFFF"/>
                </a:solidFill>
              </a:rPr>
              <a:t>5. 対応前後の比較</a:t>
            </a:r>
          </a:p>
        </p:txBody>
      </p:sp>
      <p:sp>
        <p:nvSpPr>
          <p:cNvPr id="4" name="TextBox 3"/>
          <p:cNvSpPr txBox="1"/>
          <p:nvPr/>
        </p:nvSpPr>
        <p:spPr>
          <a:xfrm>
            <a:off x="365760" y="566928"/>
            <a:ext cx="11430000" cy="502920"/>
          </a:xfrm>
          <a:prstGeom prst="rect">
            <a:avLst/>
          </a:prstGeom>
          <a:noFill/>
        </p:spPr>
        <p:txBody>
          <a:bodyPr wrap="square">
            <a:spAutoFit/>
          </a:bodyPr>
          <a:lstStyle/>
          <a:p>
            <a:pPr algn="l"/>
            <a:r>
              <a:rPr sz="1800" b="1" i="0">
                <a:solidFill>
                  <a:srgbClr val="1E3A5F"/>
                </a:solidFill>
              </a:rPr>
              <a:t>対応前後の比較  ― 法令遵守状態・リスク・コスト</a:t>
            </a:r>
          </a:p>
        </p:txBody>
      </p:sp>
      <p:sp>
        <p:nvSpPr>
          <p:cNvPr id="5" name="Rectangle 4"/>
          <p:cNvSpPr/>
          <p:nvPr/>
        </p:nvSpPr>
        <p:spPr>
          <a:xfrm>
            <a:off x="365760" y="1115568"/>
            <a:ext cx="11457432" cy="36576"/>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73152"/>
            <a:ext cx="1280160" cy="320040"/>
          </a:xfrm>
          <a:prstGeom prst="rect">
            <a:avLst/>
          </a:prstGeom>
          <a:solidFill>
            <a:srgbClr val="D1FAE5"/>
          </a:solidFill>
        </p:spPr>
        <p:txBody>
          <a:bodyPr wrap="square">
            <a:spAutoFit/>
          </a:bodyPr>
          <a:lstStyle/>
          <a:p>
            <a:pPr algn="ctr"/>
            <a:r>
              <a:rPr sz="800" b="1" i="0">
                <a:solidFill>
                  <a:srgbClr val="065F46"/>
                </a:solidFill>
              </a:rPr>
              <a:t>[確定]</a:t>
            </a:r>
          </a:p>
        </p:txBody>
      </p:sp>
      <p:sp>
        <p:nvSpPr>
          <p:cNvPr id="7" name="TextBox 6"/>
          <p:cNvSpPr txBox="1"/>
          <p:nvPr/>
        </p:nvSpPr>
        <p:spPr>
          <a:xfrm>
            <a:off x="365760" y="1234440"/>
            <a:ext cx="11430000" cy="256032"/>
          </a:xfrm>
          <a:prstGeom prst="rect">
            <a:avLst/>
          </a:prstGeom>
          <a:noFill/>
        </p:spPr>
        <p:txBody>
          <a:bodyPr wrap="square">
            <a:spAutoFit/>
          </a:bodyPr>
          <a:lstStyle/>
          <a:p>
            <a:pPr algn="l"/>
            <a:r>
              <a:rPr sz="950" b="0" i="0">
                <a:solidFill>
                  <a:srgbClr val="222222"/>
                </a:solidFill>
              </a:rPr>
              <a:t>比較の目的：品質表示法・食品衛生法対応の有無による法的リスク・販売安定性・追加コストの差異を明確にする。</a:t>
            </a:r>
          </a:p>
        </p:txBody>
      </p:sp>
      <p:graphicFrame>
        <p:nvGraphicFramePr>
          <p:cNvPr id="8" name="Table 7"/>
          <p:cNvGraphicFramePr>
            <a:graphicFrameLocks noGrp="1"/>
          </p:cNvGraphicFramePr>
          <p:nvPr/>
        </p:nvGraphicFramePr>
        <p:xfrm>
          <a:off x="365760" y="1600200"/>
          <a:ext cx="11430000" cy="2779776"/>
        </p:xfrm>
        <a:graphic>
          <a:graphicData uri="http://schemas.openxmlformats.org/drawingml/2006/table">
            <a:tbl>
              <a:tblPr firstRow="1" bandRow="1">
                <a:tableStyleId>{5C22544A-7EE6-4342-B048-85BDC9FD1C3A}</a:tableStyleId>
              </a:tblPr>
              <a:tblGrid>
                <a:gridCol w="2743200"/>
                <a:gridCol w="4297680"/>
                <a:gridCol w="4389120"/>
              </a:tblGrid>
              <a:tr h="347472">
                <a:tc>
                  <a:txBody>
                    <a:bodyPr wrap="square"/>
                    <a:lstStyle/>
                    <a:p>
                      <a:pPr algn="l"/>
                      <a:r>
                        <a:rPr sz="900" b="1">
                          <a:solidFill>
                            <a:srgbClr val="FFFFFF"/>
                          </a:solidFill>
                        </a:rPr>
                        <a:t>項目</a:t>
                      </a:r>
                    </a:p>
                  </a:txBody>
                  <a:tcPr>
                    <a:solidFill>
                      <a:srgbClr val="1A56DB"/>
                    </a:solidFill>
                  </a:tcPr>
                </a:tc>
                <a:tc>
                  <a:txBody>
                    <a:bodyPr wrap="square"/>
                    <a:lstStyle/>
                    <a:p>
                      <a:pPr algn="l"/>
                      <a:r>
                        <a:rPr sz="900" b="1">
                          <a:solidFill>
                            <a:srgbClr val="FFFFFF"/>
                          </a:solidFill>
                        </a:rPr>
                        <a:t>対応なし（現状）</a:t>
                      </a:r>
                    </a:p>
                  </a:txBody>
                  <a:tcPr>
                    <a:solidFill>
                      <a:srgbClr val="1A56DB"/>
                    </a:solidFill>
                  </a:tcPr>
                </a:tc>
                <a:tc>
                  <a:txBody>
                    <a:bodyPr wrap="square"/>
                    <a:lstStyle/>
                    <a:p>
                      <a:pPr algn="l"/>
                      <a:r>
                        <a:rPr sz="900" b="1">
                          <a:solidFill>
                            <a:srgbClr val="FFFFFF"/>
                          </a:solidFill>
                        </a:rPr>
                        <a:t>対応あり（本提案実施後）</a:t>
                      </a:r>
                    </a:p>
                  </a:txBody>
                  <a:tcPr>
                    <a:solidFill>
                      <a:srgbClr val="1A56DB"/>
                    </a:solidFill>
                  </a:tcPr>
                </a:tc>
              </a:tr>
              <a:tr h="347472">
                <a:tc>
                  <a:txBody>
                    <a:bodyPr wrap="square"/>
                    <a:lstStyle/>
                    <a:p>
                      <a:pPr algn="l"/>
                      <a:r>
                        <a:rPr sz="900" b="0">
                          <a:solidFill>
                            <a:srgbClr val="222222"/>
                          </a:solidFill>
                        </a:rPr>
                        <a:t>法令遵守状態</a:t>
                      </a:r>
                    </a:p>
                  </a:txBody>
                  <a:tcPr>
                    <a:solidFill>
                      <a:srgbClr val="FFFFFF"/>
                    </a:solidFill>
                  </a:tcPr>
                </a:tc>
                <a:tc>
                  <a:txBody>
                    <a:bodyPr wrap="square"/>
                    <a:lstStyle/>
                    <a:p>
                      <a:pPr algn="l"/>
                      <a:r>
                        <a:rPr sz="900" b="0">
                          <a:solidFill>
                            <a:srgbClr val="222222"/>
                          </a:solidFill>
                        </a:rPr>
                        <a:t>違反状態（家表法・食衛法）</a:t>
                      </a:r>
                    </a:p>
                  </a:txBody>
                  <a:tcPr>
                    <a:solidFill>
                      <a:srgbClr val="FFFFFF"/>
                    </a:solidFill>
                  </a:tcPr>
                </a:tc>
                <a:tc>
                  <a:txBody>
                    <a:bodyPr wrap="square"/>
                    <a:lstStyle/>
                    <a:p>
                      <a:pPr algn="l"/>
                      <a:r>
                        <a:rPr sz="900" b="0">
                          <a:solidFill>
                            <a:srgbClr val="222222"/>
                          </a:solidFill>
                        </a:rPr>
                        <a:t>完全遵守</a:t>
                      </a:r>
                    </a:p>
                  </a:txBody>
                  <a:tcPr>
                    <a:solidFill>
                      <a:srgbClr val="FFFFFF"/>
                    </a:solidFill>
                  </a:tcPr>
                </a:tc>
              </a:tr>
              <a:tr h="347472">
                <a:tc>
                  <a:txBody>
                    <a:bodyPr wrap="square"/>
                    <a:lstStyle/>
                    <a:p>
                      <a:pPr algn="l"/>
                      <a:r>
                        <a:rPr sz="900" b="0">
                          <a:solidFill>
                            <a:srgbClr val="222222"/>
                          </a:solidFill>
                        </a:rPr>
                        <a:t>Amazonアカウント</a:t>
                      </a:r>
                    </a:p>
                  </a:txBody>
                  <a:tcPr>
                    <a:solidFill>
                      <a:srgbClr val="F8FAFC"/>
                    </a:solidFill>
                  </a:tcPr>
                </a:tc>
                <a:tc>
                  <a:txBody>
                    <a:bodyPr wrap="square"/>
                    <a:lstStyle/>
                    <a:p>
                      <a:pPr algn="l"/>
                      <a:r>
                        <a:rPr sz="900" b="0">
                          <a:solidFill>
                            <a:srgbClr val="222222"/>
                          </a:solidFill>
                        </a:rPr>
                        <a:t>出品停止・凍結リスクあり</a:t>
                      </a:r>
                    </a:p>
                  </a:txBody>
                  <a:tcPr>
                    <a:solidFill>
                      <a:srgbClr val="F8FAFC"/>
                    </a:solidFill>
                  </a:tcPr>
                </a:tc>
                <a:tc>
                  <a:txBody>
                    <a:bodyPr wrap="square"/>
                    <a:lstStyle/>
                    <a:p>
                      <a:pPr algn="l"/>
                      <a:r>
                        <a:rPr sz="900" b="0">
                          <a:solidFill>
                            <a:srgbClr val="222222"/>
                          </a:solidFill>
                        </a:rPr>
                        <a:t>リスク排除</a:t>
                      </a:r>
                    </a:p>
                  </a:txBody>
                  <a:tcPr>
                    <a:solidFill>
                      <a:srgbClr val="F8FAFC"/>
                    </a:solidFill>
                  </a:tcPr>
                </a:tc>
              </a:tr>
              <a:tr h="347472">
                <a:tc>
                  <a:txBody>
                    <a:bodyPr wrap="square"/>
                    <a:lstStyle/>
                    <a:p>
                      <a:pPr algn="l"/>
                      <a:r>
                        <a:rPr sz="900" b="0">
                          <a:solidFill>
                            <a:srgbClr val="222222"/>
                          </a:solidFill>
                        </a:rPr>
                        <a:t>行政処分リスク</a:t>
                      </a:r>
                    </a:p>
                  </a:txBody>
                  <a:tcPr>
                    <a:solidFill>
                      <a:srgbClr val="FFFFFF"/>
                    </a:solidFill>
                  </a:tcPr>
                </a:tc>
                <a:tc>
                  <a:txBody>
                    <a:bodyPr wrap="square"/>
                    <a:lstStyle/>
                    <a:p>
                      <a:pPr algn="l"/>
                      <a:r>
                        <a:rPr sz="900" b="0">
                          <a:solidFill>
                            <a:srgbClr val="222222"/>
                          </a:solidFill>
                        </a:rPr>
                        <a:t>指示→命令→罰金（最大20万円）</a:t>
                      </a:r>
                    </a:p>
                  </a:txBody>
                  <a:tcPr>
                    <a:solidFill>
                      <a:srgbClr val="FFFFFF"/>
                    </a:solidFill>
                  </a:tcPr>
                </a:tc>
                <a:tc>
                  <a:txBody>
                    <a:bodyPr wrap="square"/>
                    <a:lstStyle/>
                    <a:p>
                      <a:pPr algn="l"/>
                      <a:r>
                        <a:rPr sz="900" b="0">
                          <a:solidFill>
                            <a:srgbClr val="222222"/>
                          </a:solidFill>
                        </a:rPr>
                        <a:t>リスク排除</a:t>
                      </a:r>
                    </a:p>
                  </a:txBody>
                  <a:tcPr>
                    <a:solidFill>
                      <a:srgbClr val="FFFFFF"/>
                    </a:solidFill>
                  </a:tcPr>
                </a:tc>
              </a:tr>
              <a:tr h="347472">
                <a:tc>
                  <a:txBody>
                    <a:bodyPr wrap="square"/>
                    <a:lstStyle/>
                    <a:p>
                      <a:pPr algn="l"/>
                      <a:r>
                        <a:rPr sz="900" b="0">
                          <a:solidFill>
                            <a:srgbClr val="222222"/>
                          </a:solidFill>
                        </a:rPr>
                        <a:t>食品衛生法適合</a:t>
                      </a:r>
                    </a:p>
                  </a:txBody>
                  <a:tcPr>
                    <a:solidFill>
                      <a:srgbClr val="F8FAFC"/>
                    </a:solidFill>
                  </a:tcPr>
                </a:tc>
                <a:tc>
                  <a:txBody>
                    <a:bodyPr wrap="square"/>
                    <a:lstStyle/>
                    <a:p>
                      <a:pPr algn="l"/>
                      <a:r>
                        <a:rPr sz="900" b="0">
                          <a:solidFill>
                            <a:srgbClr val="222222"/>
                          </a:solidFill>
                        </a:rPr>
                        <a:t>PL適合証明書なし（違法状態）</a:t>
                      </a:r>
                    </a:p>
                  </a:txBody>
                  <a:tcPr>
                    <a:solidFill>
                      <a:srgbClr val="F8FAFC"/>
                    </a:solidFill>
                  </a:tcPr>
                </a:tc>
                <a:tc>
                  <a:txBody>
                    <a:bodyPr wrap="square"/>
                    <a:lstStyle/>
                    <a:p>
                      <a:pPr algn="l"/>
                      <a:r>
                        <a:rPr sz="900" b="0">
                          <a:solidFill>
                            <a:srgbClr val="222222"/>
                          </a:solidFill>
                        </a:rPr>
                        <a:t>適合証明書・届出を保有</a:t>
                      </a:r>
                    </a:p>
                  </a:txBody>
                  <a:tcPr>
                    <a:solidFill>
                      <a:srgbClr val="F8FAFC"/>
                    </a:solidFill>
                  </a:tcPr>
                </a:tc>
              </a:tr>
              <a:tr h="347472">
                <a:tc>
                  <a:txBody>
                    <a:bodyPr wrap="square"/>
                    <a:lstStyle/>
                    <a:p>
                      <a:pPr algn="l"/>
                      <a:r>
                        <a:rPr sz="900" b="0">
                          <a:solidFill>
                            <a:srgbClr val="222222"/>
                          </a:solidFill>
                        </a:rPr>
                        <a:t>保冷性能表示の根拠</a:t>
                      </a:r>
                    </a:p>
                  </a:txBody>
                  <a:tcPr>
                    <a:solidFill>
                      <a:srgbClr val="FFFFFF"/>
                    </a:solidFill>
                  </a:tcPr>
                </a:tc>
                <a:tc>
                  <a:txBody>
                    <a:bodyPr wrap="square"/>
                    <a:lstStyle/>
                    <a:p>
                      <a:pPr algn="l"/>
                      <a:r>
                        <a:rPr sz="900" b="0">
                          <a:solidFill>
                            <a:srgbClr val="222222"/>
                          </a:solidFill>
                        </a:rPr>
                        <a:t>なし（景表法：優良誤認リスクあり）</a:t>
                      </a:r>
                    </a:p>
                  </a:txBody>
                  <a:tcPr>
                    <a:solidFill>
                      <a:srgbClr val="FFFFFF"/>
                    </a:solidFill>
                  </a:tcPr>
                </a:tc>
                <a:tc>
                  <a:txBody>
                    <a:bodyPr wrap="square"/>
                    <a:lstStyle/>
                    <a:p>
                      <a:pPr algn="l"/>
                      <a:r>
                        <a:rPr sz="900" b="0">
                          <a:solidFill>
                            <a:srgbClr val="222222"/>
                          </a:solidFill>
                        </a:rPr>
                        <a:t>第三者試験データを保有</a:t>
                      </a:r>
                    </a:p>
                  </a:txBody>
                  <a:tcPr>
                    <a:solidFill>
                      <a:srgbClr val="FFFFFF"/>
                    </a:solidFill>
                  </a:tcPr>
                </a:tc>
              </a:tr>
              <a:tr h="347472">
                <a:tc>
                  <a:txBody>
                    <a:bodyPr wrap="square"/>
                    <a:lstStyle/>
                    <a:p>
                      <a:pPr algn="l"/>
                      <a:r>
                        <a:rPr sz="900" b="0">
                          <a:solidFill>
                            <a:srgbClr val="222222"/>
                          </a:solidFill>
                        </a:rPr>
                        <a:t>1商品あたり追加コスト</a:t>
                      </a:r>
                    </a:p>
                  </a:txBody>
                  <a:tcPr>
                    <a:solidFill>
                      <a:srgbClr val="F8FAFC"/>
                    </a:solidFill>
                  </a:tcPr>
                </a:tc>
                <a:tc>
                  <a:txBody>
                    <a:bodyPr wrap="square"/>
                    <a:lstStyle/>
                    <a:p>
                      <a:pPr algn="l"/>
                      <a:r>
                        <a:rPr sz="900" b="0">
                          <a:solidFill>
                            <a:srgbClr val="222222"/>
                          </a:solidFill>
                        </a:rPr>
                        <a:t>¥0</a:t>
                      </a:r>
                    </a:p>
                  </a:txBody>
                  <a:tcPr>
                    <a:solidFill>
                      <a:srgbClr val="F8FAFC"/>
                    </a:solidFill>
                  </a:tcPr>
                </a:tc>
                <a:tc>
                  <a:txBody>
                    <a:bodyPr wrap="square"/>
                    <a:lstStyle/>
                    <a:p>
                      <a:pPr algn="l"/>
                      <a:r>
                        <a:rPr sz="900" b="0">
                          <a:solidFill>
                            <a:srgbClr val="222222"/>
                          </a:solidFill>
                        </a:rPr>
                        <a:t>約¥50〜¥120（試算値）</a:t>
                      </a:r>
                    </a:p>
                  </a:txBody>
                  <a:tcPr>
                    <a:solidFill>
                      <a:srgbClr val="F8FAFC"/>
                    </a:solidFill>
                  </a:tcPr>
                </a:tc>
              </a:tr>
              <a:tr h="347472">
                <a:tc>
                  <a:txBody>
                    <a:bodyPr wrap="square"/>
                    <a:lstStyle/>
                    <a:p>
                      <a:pPr algn="l"/>
                      <a:r>
                        <a:rPr sz="900" b="0">
                          <a:solidFill>
                            <a:srgbClr val="222222"/>
                          </a:solidFill>
                        </a:rPr>
                        <a:t>販売継続性</a:t>
                      </a:r>
                    </a:p>
                  </a:txBody>
                  <a:tcPr>
                    <a:solidFill>
                      <a:srgbClr val="FFFFFF"/>
                    </a:solidFill>
                  </a:tcPr>
                </a:tc>
                <a:tc>
                  <a:txBody>
                    <a:bodyPr wrap="square"/>
                    <a:lstStyle/>
                    <a:p>
                      <a:pPr algn="l"/>
                      <a:r>
                        <a:rPr sz="900" b="0">
                          <a:solidFill>
                            <a:srgbClr val="222222"/>
                          </a:solidFill>
                        </a:rPr>
                        <a:t>不安定（いつ停止されてもおかしくない）</a:t>
                      </a:r>
                    </a:p>
                  </a:txBody>
                  <a:tcPr>
                    <a:solidFill>
                      <a:srgbClr val="FFFFFF"/>
                    </a:solidFill>
                  </a:tcPr>
                </a:tc>
                <a:tc>
                  <a:txBody>
                    <a:bodyPr wrap="square"/>
                    <a:lstStyle/>
                    <a:p>
                      <a:pPr algn="l"/>
                      <a:r>
                        <a:rPr sz="900" b="0">
                          <a:solidFill>
                            <a:srgbClr val="222222"/>
                          </a:solidFill>
                        </a:rPr>
                        <a:t>安定（法令遵守による持続的販売）</a:t>
                      </a:r>
                    </a:p>
                  </a:txBody>
                  <a:tcPr>
                    <a:solidFill>
                      <a:srgbClr val="FFFFFF"/>
                    </a:solidFill>
                  </a:tcPr>
                </a:tc>
              </a:tr>
            </a:tbl>
          </a:graphicData>
        </a:graphic>
      </p:graphicFrame>
      <p:sp>
        <p:nvSpPr>
          <p:cNvPr id="9" name="TextBox 8"/>
          <p:cNvSpPr txBox="1"/>
          <p:nvPr/>
        </p:nvSpPr>
        <p:spPr>
          <a:xfrm>
            <a:off x="365760" y="5760720"/>
            <a:ext cx="11430000" cy="256032"/>
          </a:xfrm>
          <a:prstGeom prst="rect">
            <a:avLst/>
          </a:prstGeom>
          <a:noFill/>
        </p:spPr>
        <p:txBody>
          <a:bodyPr wrap="square">
            <a:spAutoFit/>
          </a:bodyPr>
          <a:lstStyle/>
          <a:p>
            <a:pPr algn="l"/>
            <a:r>
              <a:rPr sz="750" b="0" i="1">
                <a:solidFill>
                  <a:srgbClr val="6B7280"/>
                </a:solidFill>
              </a:rPr>
              <a:t>出典：消費者庁「家庭用品品質表示法」「食品用器具・容器包装ポジティブリスト制度」、Amazon出品ポリシー</a:t>
            </a:r>
          </a:p>
        </p:txBody>
      </p:sp>
      <p:sp>
        <p:nvSpPr>
          <p:cNvPr id="10" name="Rectangle 9"/>
          <p:cNvSpPr/>
          <p:nvPr/>
        </p:nvSpPr>
        <p:spPr>
          <a:xfrm>
            <a:off x="0" y="6537960"/>
            <a:ext cx="12188952"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65392"/>
            <a:ext cx="9144000" cy="256032"/>
          </a:xfrm>
          <a:prstGeom prst="rect">
            <a:avLst/>
          </a:prstGeom>
          <a:noFill/>
        </p:spPr>
        <p:txBody>
          <a:bodyPr wrap="square">
            <a:spAutoFit/>
          </a:bodyPr>
          <a:lstStyle/>
          <a:p>
            <a:pPr algn="l"/>
            <a:r>
              <a:rPr sz="800" b="0" i="0">
                <a:solidFill>
                  <a:srgbClr val="6B7280"/>
                </a:solidFill>
              </a:rPr>
              <a:t>保冷バッグ Amazon輸入 品質表示法対応 提案書  ©貴社名</a:t>
            </a:r>
          </a:p>
        </p:txBody>
      </p:sp>
      <p:sp>
        <p:nvSpPr>
          <p:cNvPr id="12" name="TextBox 11"/>
          <p:cNvSpPr txBox="1"/>
          <p:nvPr/>
        </p:nvSpPr>
        <p:spPr>
          <a:xfrm>
            <a:off x="11247120" y="6565392"/>
            <a:ext cx="914400" cy="256032"/>
          </a:xfrm>
          <a:prstGeom prst="rect">
            <a:avLst/>
          </a:prstGeom>
          <a:noFill/>
        </p:spPr>
        <p:txBody>
          <a:bodyPr wrap="square">
            <a:spAutoFit/>
          </a:bodyPr>
          <a:lstStyle/>
          <a:p>
            <a:pPr algn="r"/>
            <a:r>
              <a:rPr sz="800" b="0" i="0">
                <a:solidFill>
                  <a:srgbClr val="6B7280"/>
                </a:solidFill>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029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10972800" cy="384048"/>
          </a:xfrm>
          <a:prstGeom prst="rect">
            <a:avLst/>
          </a:prstGeom>
          <a:noFill/>
        </p:spPr>
        <p:txBody>
          <a:bodyPr wrap="square">
            <a:spAutoFit/>
          </a:bodyPr>
          <a:lstStyle/>
          <a:p>
            <a:pPr algn="l"/>
            <a:r>
              <a:rPr sz="1100" b="1" i="0">
                <a:solidFill>
                  <a:srgbClr val="FFFFFF"/>
                </a:solidFill>
              </a:rPr>
              <a:t>6. リスク一覧</a:t>
            </a:r>
          </a:p>
        </p:txBody>
      </p:sp>
      <p:sp>
        <p:nvSpPr>
          <p:cNvPr id="4" name="TextBox 3"/>
          <p:cNvSpPr txBox="1"/>
          <p:nvPr/>
        </p:nvSpPr>
        <p:spPr>
          <a:xfrm>
            <a:off x="365760" y="566928"/>
            <a:ext cx="11430000" cy="502920"/>
          </a:xfrm>
          <a:prstGeom prst="rect">
            <a:avLst/>
          </a:prstGeom>
          <a:noFill/>
        </p:spPr>
        <p:txBody>
          <a:bodyPr wrap="square">
            <a:spAutoFit/>
          </a:bodyPr>
          <a:lstStyle/>
          <a:p>
            <a:pPr algn="l"/>
            <a:r>
              <a:rPr sz="1800" b="1" i="0">
                <a:solidFill>
                  <a:srgbClr val="1E3A5F"/>
                </a:solidFill>
              </a:rPr>
              <a:t>想定リスクと対応策</a:t>
            </a:r>
          </a:p>
        </p:txBody>
      </p:sp>
      <p:sp>
        <p:nvSpPr>
          <p:cNvPr id="5" name="Rectangle 4"/>
          <p:cNvSpPr/>
          <p:nvPr/>
        </p:nvSpPr>
        <p:spPr>
          <a:xfrm>
            <a:off x="365760" y="1115568"/>
            <a:ext cx="11457432" cy="36576"/>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73152"/>
            <a:ext cx="1280160" cy="320040"/>
          </a:xfrm>
          <a:prstGeom prst="rect">
            <a:avLst/>
          </a:prstGeom>
          <a:solidFill>
            <a:srgbClr val="D1FAE5"/>
          </a:solidFill>
        </p:spPr>
        <p:txBody>
          <a:bodyPr wrap="square">
            <a:spAutoFit/>
          </a:bodyPr>
          <a:lstStyle/>
          <a:p>
            <a:pPr algn="ctr"/>
            <a:r>
              <a:rPr sz="800" b="1" i="0">
                <a:solidFill>
                  <a:srgbClr val="065F46"/>
                </a:solidFill>
              </a:rPr>
              <a:t>[確定]</a:t>
            </a:r>
          </a:p>
        </p:txBody>
      </p:sp>
      <p:graphicFrame>
        <p:nvGraphicFramePr>
          <p:cNvPr id="7" name="Table 6"/>
          <p:cNvGraphicFramePr>
            <a:graphicFrameLocks noGrp="1"/>
          </p:cNvGraphicFramePr>
          <p:nvPr/>
        </p:nvGraphicFramePr>
        <p:xfrm>
          <a:off x="365760" y="1234440"/>
          <a:ext cx="11430000" cy="2432304"/>
        </p:xfrm>
        <a:graphic>
          <a:graphicData uri="http://schemas.openxmlformats.org/drawingml/2006/table">
            <a:tbl>
              <a:tblPr firstRow="1" bandRow="1">
                <a:tableStyleId>{5C22544A-7EE6-4342-B048-85BDC9FD1C3A}</a:tableStyleId>
              </a:tblPr>
              <a:tblGrid>
                <a:gridCol w="2286000"/>
                <a:gridCol w="914400"/>
                <a:gridCol w="822960"/>
                <a:gridCol w="7406640"/>
              </a:tblGrid>
              <a:tr h="347472">
                <a:tc>
                  <a:txBody>
                    <a:bodyPr wrap="square"/>
                    <a:lstStyle/>
                    <a:p>
                      <a:pPr algn="l"/>
                      <a:r>
                        <a:rPr sz="800" b="1">
                          <a:solidFill>
                            <a:srgbClr val="FFFFFF"/>
                          </a:solidFill>
                        </a:rPr>
                        <a:t>リスク名</a:t>
                      </a:r>
                    </a:p>
                  </a:txBody>
                  <a:tcPr>
                    <a:solidFill>
                      <a:srgbClr val="1A56DB"/>
                    </a:solidFill>
                  </a:tcPr>
                </a:tc>
                <a:tc>
                  <a:txBody>
                    <a:bodyPr wrap="square"/>
                    <a:lstStyle/>
                    <a:p>
                      <a:pPr algn="l"/>
                      <a:r>
                        <a:rPr sz="800" b="1">
                          <a:solidFill>
                            <a:srgbClr val="FFFFFF"/>
                          </a:solidFill>
                        </a:rPr>
                        <a:t>発生確率</a:t>
                      </a:r>
                    </a:p>
                  </a:txBody>
                  <a:tcPr>
                    <a:solidFill>
                      <a:srgbClr val="1A56DB"/>
                    </a:solidFill>
                  </a:tcPr>
                </a:tc>
                <a:tc>
                  <a:txBody>
                    <a:bodyPr wrap="square"/>
                    <a:lstStyle/>
                    <a:p>
                      <a:pPr algn="l"/>
                      <a:r>
                        <a:rPr sz="800" b="1">
                          <a:solidFill>
                            <a:srgbClr val="FFFFFF"/>
                          </a:solidFill>
                        </a:rPr>
                        <a:t>影響度</a:t>
                      </a:r>
                    </a:p>
                  </a:txBody>
                  <a:tcPr>
                    <a:solidFill>
                      <a:srgbClr val="1A56DB"/>
                    </a:solidFill>
                  </a:tcPr>
                </a:tc>
                <a:tc>
                  <a:txBody>
                    <a:bodyPr wrap="square"/>
                    <a:lstStyle/>
                    <a:p>
                      <a:pPr algn="l"/>
                      <a:r>
                        <a:rPr sz="800" b="1">
                          <a:solidFill>
                            <a:srgbClr val="FFFFFF"/>
                          </a:solidFill>
                        </a:rPr>
                        <a:t>対応策（回避策＋実施時の具体策）</a:t>
                      </a:r>
                    </a:p>
                  </a:txBody>
                  <a:tcPr>
                    <a:solidFill>
                      <a:srgbClr val="1A56DB"/>
                    </a:solidFill>
                  </a:tcPr>
                </a:tc>
              </a:tr>
              <a:tr h="347472">
                <a:tc>
                  <a:txBody>
                    <a:bodyPr wrap="square"/>
                    <a:lstStyle/>
                    <a:p>
                      <a:pPr algn="l"/>
                      <a:r>
                        <a:rPr sz="800" b="0">
                          <a:solidFill>
                            <a:srgbClr val="222222"/>
                          </a:solidFill>
                        </a:rPr>
                        <a:t>品質表示ラベル未貼付</a:t>
                      </a:r>
                    </a:p>
                  </a:txBody>
                  <a:tcPr>
                    <a:solidFill>
                      <a:srgbClr val="FFFFFF"/>
                    </a:solidFill>
                  </a:tcPr>
                </a:tc>
                <a:tc>
                  <a:txBody>
                    <a:bodyPr wrap="square"/>
                    <a:lstStyle/>
                    <a:p>
                      <a:pPr algn="l"/>
                      <a:r>
                        <a:rPr sz="800" b="0">
                          <a:solidFill>
                            <a:srgbClr val="222222"/>
                          </a:solidFill>
                        </a:rPr>
                        <a:t>高</a:t>
                      </a:r>
                    </a:p>
                  </a:txBody>
                  <a:tcPr>
                    <a:solidFill>
                      <a:srgbClr val="FFFFFF"/>
                    </a:solidFill>
                  </a:tcPr>
                </a:tc>
                <a:tc>
                  <a:txBody>
                    <a:bodyPr wrap="square"/>
                    <a:lstStyle/>
                    <a:p>
                      <a:pPr algn="l"/>
                      <a:r>
                        <a:rPr sz="800" b="0">
                          <a:solidFill>
                            <a:srgbClr val="222222"/>
                          </a:solidFill>
                        </a:rPr>
                        <a:t>高</a:t>
                      </a:r>
                    </a:p>
                  </a:txBody>
                  <a:tcPr>
                    <a:solidFill>
                      <a:srgbClr val="FFFFFF"/>
                    </a:solidFill>
                  </a:tcPr>
                </a:tc>
                <a:tc>
                  <a:txBody>
                    <a:bodyPr wrap="square"/>
                    <a:lstStyle/>
                    <a:p>
                      <a:pPr algn="l"/>
                      <a:r>
                        <a:rPr sz="800" b="0">
                          <a:solidFill>
                            <a:srgbClr val="222222"/>
                          </a:solidFill>
                        </a:rPr>
                        <a:t>【回避】販売前に全商品にラベルを貼付する
【実施時】FBA納品前に検品を実施し、未貼付品は日本国内で対応（¥80〜100/枚）</a:t>
                      </a:r>
                    </a:p>
                  </a:txBody>
                  <a:tcPr>
                    <a:solidFill>
                      <a:srgbClr val="FFFFFF"/>
                    </a:solidFill>
                  </a:tcPr>
                </a:tc>
              </a:tr>
              <a:tr h="347472">
                <a:tc>
                  <a:txBody>
                    <a:bodyPr wrap="square"/>
                    <a:lstStyle/>
                    <a:p>
                      <a:pPr algn="l"/>
                      <a:r>
                        <a:rPr sz="800" b="0">
                          <a:solidFill>
                            <a:srgbClr val="222222"/>
                          </a:solidFill>
                        </a:rPr>
                        <a:t>食品衛生法 適合証明書未取得</a:t>
                      </a:r>
                    </a:p>
                  </a:txBody>
                  <a:tcPr>
                    <a:solidFill>
                      <a:srgbClr val="F8FAFC"/>
                    </a:solidFill>
                  </a:tcPr>
                </a:tc>
                <a:tc>
                  <a:txBody>
                    <a:bodyPr wrap="square"/>
                    <a:lstStyle/>
                    <a:p>
                      <a:pPr algn="l"/>
                      <a:r>
                        <a:rPr sz="800" b="0">
                          <a:solidFill>
                            <a:srgbClr val="222222"/>
                          </a:solidFill>
                        </a:rPr>
                        <a:t>高</a:t>
                      </a:r>
                    </a:p>
                  </a:txBody>
                  <a:tcPr>
                    <a:solidFill>
                      <a:srgbClr val="F8FAFC"/>
                    </a:solidFill>
                  </a:tcPr>
                </a:tc>
                <a:tc>
                  <a:txBody>
                    <a:bodyPr wrap="square"/>
                    <a:lstStyle/>
                    <a:p>
                      <a:pPr algn="l"/>
                      <a:r>
                        <a:rPr sz="800" b="0">
                          <a:solidFill>
                            <a:srgbClr val="222222"/>
                          </a:solidFill>
                        </a:rPr>
                        <a:t>高</a:t>
                      </a:r>
                    </a:p>
                  </a:txBody>
                  <a:tcPr>
                    <a:solidFill>
                      <a:srgbClr val="F8FAFC"/>
                    </a:solidFill>
                  </a:tcPr>
                </a:tc>
                <a:tc>
                  <a:txBody>
                    <a:bodyPr wrap="square"/>
                    <a:lstStyle/>
                    <a:p>
                      <a:pPr algn="l"/>
                      <a:r>
                        <a:rPr sz="800" b="0">
                          <a:solidFill>
                            <a:srgbClr val="222222"/>
                          </a:solidFill>
                        </a:rPr>
                        <a:t>【回避】初回発注前に仕入先から適合証明書を取得する
【実施時】証明書取得まで販売を停止し、代替仕入先を探す</a:t>
                      </a:r>
                    </a:p>
                  </a:txBody>
                  <a:tcPr>
                    <a:solidFill>
                      <a:srgbClr val="F8FAFC"/>
                    </a:solidFill>
                  </a:tcPr>
                </a:tc>
              </a:tr>
              <a:tr h="347472">
                <a:tc>
                  <a:txBody>
                    <a:bodyPr wrap="square"/>
                    <a:lstStyle/>
                    <a:p>
                      <a:pPr algn="l"/>
                      <a:r>
                        <a:rPr sz="800" b="0">
                          <a:solidFill>
                            <a:srgbClr val="222222"/>
                          </a:solidFill>
                        </a:rPr>
                        <a:t>耐熱・耐冷温度の虚偽表示</a:t>
                      </a:r>
                    </a:p>
                  </a:txBody>
                  <a:tcPr>
                    <a:solidFill>
                      <a:srgbClr val="FFFFFF"/>
                    </a:solidFill>
                  </a:tcPr>
                </a:tc>
                <a:tc>
                  <a:txBody>
                    <a:bodyPr wrap="square"/>
                    <a:lstStyle/>
                    <a:p>
                      <a:pPr algn="l"/>
                      <a:r>
                        <a:rPr sz="800" b="0">
                          <a:solidFill>
                            <a:srgbClr val="222222"/>
                          </a:solidFill>
                        </a:rPr>
                        <a:t>中</a:t>
                      </a:r>
                    </a:p>
                  </a:txBody>
                  <a:tcPr>
                    <a:solidFill>
                      <a:srgbClr val="FFFFFF"/>
                    </a:solidFill>
                  </a:tcPr>
                </a:tc>
                <a:tc>
                  <a:txBody>
                    <a:bodyPr wrap="square"/>
                    <a:lstStyle/>
                    <a:p>
                      <a:pPr algn="l"/>
                      <a:r>
                        <a:rPr sz="800" b="0">
                          <a:solidFill>
                            <a:srgbClr val="222222"/>
                          </a:solidFill>
                        </a:rPr>
                        <a:t>高</a:t>
                      </a:r>
                    </a:p>
                  </a:txBody>
                  <a:tcPr>
                    <a:solidFill>
                      <a:srgbClr val="FFFFFF"/>
                    </a:solidFill>
                  </a:tcPr>
                </a:tc>
                <a:tc>
                  <a:txBody>
                    <a:bodyPr wrap="square"/>
                    <a:lstStyle/>
                    <a:p>
                      <a:pPr algn="l"/>
                      <a:r>
                        <a:rPr sz="800" b="0">
                          <a:solidFill>
                            <a:srgbClr val="222222"/>
                          </a:solidFill>
                        </a:rPr>
                        <a:t>【回避】第三者検査機関で耐熱・耐冷温度試験を実施する
【実施時】試験値に基づきラベルを差し替え（該当ロット全数）</a:t>
                      </a:r>
                    </a:p>
                  </a:txBody>
                  <a:tcPr>
                    <a:solidFill>
                      <a:srgbClr val="FFFFFF"/>
                    </a:solidFill>
                  </a:tcPr>
                </a:tc>
              </a:tr>
              <a:tr h="347472">
                <a:tc>
                  <a:txBody>
                    <a:bodyPr wrap="square"/>
                    <a:lstStyle/>
                    <a:p>
                      <a:pPr algn="l"/>
                      <a:r>
                        <a:rPr sz="800" b="0">
                          <a:solidFill>
                            <a:srgbClr val="222222"/>
                          </a:solidFill>
                        </a:rPr>
                        <a:t>保冷性能表示の根拠不足</a:t>
                      </a:r>
                    </a:p>
                  </a:txBody>
                  <a:tcPr>
                    <a:solidFill>
                      <a:srgbClr val="F8FAFC"/>
                    </a:solidFill>
                  </a:tcPr>
                </a:tc>
                <a:tc>
                  <a:txBody>
                    <a:bodyPr wrap="square"/>
                    <a:lstStyle/>
                    <a:p>
                      <a:pPr algn="l"/>
                      <a:r>
                        <a:rPr sz="800" b="0">
                          <a:solidFill>
                            <a:srgbClr val="222222"/>
                          </a:solidFill>
                        </a:rPr>
                        <a:t>高</a:t>
                      </a:r>
                    </a:p>
                  </a:txBody>
                  <a:tcPr>
                    <a:solidFill>
                      <a:srgbClr val="F8FAFC"/>
                    </a:solidFill>
                  </a:tcPr>
                </a:tc>
                <a:tc>
                  <a:txBody>
                    <a:bodyPr wrap="square"/>
                    <a:lstStyle/>
                    <a:p>
                      <a:pPr algn="l"/>
                      <a:r>
                        <a:rPr sz="800" b="0">
                          <a:solidFill>
                            <a:srgbClr val="222222"/>
                          </a:solidFill>
                        </a:rPr>
                        <a:t>高</a:t>
                      </a:r>
                    </a:p>
                  </a:txBody>
                  <a:tcPr>
                    <a:solidFill>
                      <a:srgbClr val="F8FAFC"/>
                    </a:solidFill>
                  </a:tcPr>
                </a:tc>
                <a:tc>
                  <a:txBody>
                    <a:bodyPr wrap="square"/>
                    <a:lstStyle/>
                    <a:p>
                      <a:pPr algn="l"/>
                      <a:r>
                        <a:rPr sz="800" b="0">
                          <a:solidFill>
                            <a:srgbClr val="222222"/>
                          </a:solidFill>
                        </a:rPr>
                        <a:t>【回避】第三者機関で保冷性能試験を実施し、試験成績書を保管する
【実施時】根拠のない表現を削除し、試験値に基づく表現に修正する</a:t>
                      </a:r>
                    </a:p>
                  </a:txBody>
                  <a:tcPr>
                    <a:solidFill>
                      <a:srgbClr val="F8FAFC"/>
                    </a:solidFill>
                  </a:tcPr>
                </a:tc>
              </a:tr>
              <a:tr h="347472">
                <a:tc>
                  <a:txBody>
                    <a:bodyPr wrap="square"/>
                    <a:lstStyle/>
                    <a:p>
                      <a:pPr algn="l"/>
                      <a:r>
                        <a:rPr sz="800" b="0">
                          <a:solidFill>
                            <a:srgbClr val="222222"/>
                          </a:solidFill>
                        </a:rPr>
                        <a:t>ラベル内容とAmazon商品ページの不一致</a:t>
                      </a:r>
                    </a:p>
                  </a:txBody>
                  <a:tcPr>
                    <a:solidFill>
                      <a:srgbClr val="FFFFFF"/>
                    </a:solidFill>
                  </a:tcPr>
                </a:tc>
                <a:tc>
                  <a:txBody>
                    <a:bodyPr wrap="square"/>
                    <a:lstStyle/>
                    <a:p>
                      <a:pPr algn="l"/>
                      <a:r>
                        <a:rPr sz="800" b="0">
                          <a:solidFill>
                            <a:srgbClr val="222222"/>
                          </a:solidFill>
                        </a:rPr>
                        <a:t>中</a:t>
                      </a:r>
                    </a:p>
                  </a:txBody>
                  <a:tcPr>
                    <a:solidFill>
                      <a:srgbClr val="FFFFFF"/>
                    </a:solidFill>
                  </a:tcPr>
                </a:tc>
                <a:tc>
                  <a:txBody>
                    <a:bodyPr wrap="square"/>
                    <a:lstStyle/>
                    <a:p>
                      <a:pPr algn="l"/>
                      <a:r>
                        <a:rPr sz="800" b="0">
                          <a:solidFill>
                            <a:srgbClr val="222222"/>
                          </a:solidFill>
                        </a:rPr>
                        <a:t>中</a:t>
                      </a:r>
                    </a:p>
                  </a:txBody>
                  <a:tcPr>
                    <a:solidFill>
                      <a:srgbClr val="FFFFFF"/>
                    </a:solidFill>
                  </a:tcPr>
                </a:tc>
                <a:tc>
                  <a:txBody>
                    <a:bodyPr wrap="square"/>
                    <a:lstStyle/>
                    <a:p>
                      <a:pPr algn="l"/>
                      <a:r>
                        <a:rPr sz="800" b="0">
                          <a:solidFill>
                            <a:srgbClr val="222222"/>
                          </a:solidFill>
                        </a:rPr>
                        <a:t>【回避】「表示内容管理シート」でラベル・商品ページの記載を一元管理する
【実施時】商品ページを即時修正し、Amazonへの自己申告を検討する</a:t>
                      </a:r>
                    </a:p>
                  </a:txBody>
                  <a:tcPr>
                    <a:solidFill>
                      <a:srgbClr val="FFFFFF"/>
                    </a:solidFill>
                  </a:tcPr>
                </a:tc>
              </a:tr>
              <a:tr h="347472">
                <a:tc>
                  <a:txBody>
                    <a:bodyPr wrap="square"/>
                    <a:lstStyle/>
                    <a:p>
                      <a:pPr algn="l"/>
                      <a:r>
                        <a:rPr sz="800" b="0">
                          <a:solidFill>
                            <a:srgbClr val="222222"/>
                          </a:solidFill>
                        </a:rPr>
                        <a:t>仕入先が素材を無断変更</a:t>
                      </a:r>
                    </a:p>
                  </a:txBody>
                  <a:tcPr>
                    <a:solidFill>
                      <a:srgbClr val="F8FAFC"/>
                    </a:solidFill>
                  </a:tcPr>
                </a:tc>
                <a:tc>
                  <a:txBody>
                    <a:bodyPr wrap="square"/>
                    <a:lstStyle/>
                    <a:p>
                      <a:pPr algn="l"/>
                      <a:r>
                        <a:rPr sz="800" b="0">
                          <a:solidFill>
                            <a:srgbClr val="222222"/>
                          </a:solidFill>
                        </a:rPr>
                        <a:t>中</a:t>
                      </a:r>
                    </a:p>
                  </a:txBody>
                  <a:tcPr>
                    <a:solidFill>
                      <a:srgbClr val="F8FAFC"/>
                    </a:solidFill>
                  </a:tcPr>
                </a:tc>
                <a:tc>
                  <a:txBody>
                    <a:bodyPr wrap="square"/>
                    <a:lstStyle/>
                    <a:p>
                      <a:pPr algn="l"/>
                      <a:r>
                        <a:rPr sz="800" b="0">
                          <a:solidFill>
                            <a:srgbClr val="222222"/>
                          </a:solidFill>
                        </a:rPr>
                        <a:t>高</a:t>
                      </a:r>
                    </a:p>
                  </a:txBody>
                  <a:tcPr>
                    <a:solidFill>
                      <a:srgbClr val="F8FAFC"/>
                    </a:solidFill>
                  </a:tcPr>
                </a:tc>
                <a:tc>
                  <a:txBody>
                    <a:bodyPr wrap="square"/>
                    <a:lstStyle/>
                    <a:p>
                      <a:pPr algn="l"/>
                      <a:r>
                        <a:rPr sz="800" b="0">
                          <a:solidFill>
                            <a:srgbClr val="222222"/>
                          </a:solidFill>
                        </a:rPr>
                        <a:t>【回避】発注書に素材変更禁止条項を明記する
【実施時】変更後ロットの販売を停止し、再度適合証明書・試験を取得する</a:t>
                      </a:r>
                    </a:p>
                  </a:txBody>
                  <a:tcPr>
                    <a:solidFill>
                      <a:srgbClr val="F8FAFC"/>
                    </a:solidFill>
                  </a:tcPr>
                </a:tc>
              </a:tr>
            </a:tbl>
          </a:graphicData>
        </a:graphic>
      </p:graphicFrame>
      <p:sp>
        <p:nvSpPr>
          <p:cNvPr id="8" name="Rectangle 7"/>
          <p:cNvSpPr/>
          <p:nvPr/>
        </p:nvSpPr>
        <p:spPr>
          <a:xfrm>
            <a:off x="365760" y="5806440"/>
            <a:ext cx="11430000" cy="384048"/>
          </a:xfrm>
          <a:prstGeom prst="rect">
            <a:avLst/>
          </a:prstGeom>
          <a:solidFill>
            <a:srgbClr val="F8FAFC"/>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5852160"/>
            <a:ext cx="11064240" cy="292608"/>
          </a:xfrm>
          <a:prstGeom prst="rect">
            <a:avLst/>
          </a:prstGeom>
          <a:noFill/>
        </p:spPr>
        <p:txBody>
          <a:bodyPr wrap="square">
            <a:spAutoFit/>
          </a:bodyPr>
          <a:lstStyle/>
          <a:p>
            <a:pPr algn="l"/>
            <a:r>
              <a:rPr sz="800" b="0" i="0">
                <a:solidFill>
                  <a:srgbClr val="6B7280"/>
                </a:solidFill>
              </a:rPr>
              <a:t>判定基準  発生確率：高=年1回以上 / 中=数年に1回 / 低=想定しにくい　影響度：高=罰金・販売停止・事業者名公表 / 中=該当ロット停止・ラベル差替コスト</a:t>
            </a:r>
          </a:p>
        </p:txBody>
      </p:sp>
      <p:sp>
        <p:nvSpPr>
          <p:cNvPr id="10" name="Rectangle 9"/>
          <p:cNvSpPr/>
          <p:nvPr/>
        </p:nvSpPr>
        <p:spPr>
          <a:xfrm>
            <a:off x="0" y="6537960"/>
            <a:ext cx="12188952"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65392"/>
            <a:ext cx="9144000" cy="256032"/>
          </a:xfrm>
          <a:prstGeom prst="rect">
            <a:avLst/>
          </a:prstGeom>
          <a:noFill/>
        </p:spPr>
        <p:txBody>
          <a:bodyPr wrap="square">
            <a:spAutoFit/>
          </a:bodyPr>
          <a:lstStyle/>
          <a:p>
            <a:pPr algn="l"/>
            <a:r>
              <a:rPr sz="800" b="0" i="0">
                <a:solidFill>
                  <a:srgbClr val="6B7280"/>
                </a:solidFill>
              </a:rPr>
              <a:t>保冷バッグ Amazon輸入 品質表示法対応 提案書  ©貴社名</a:t>
            </a:r>
          </a:p>
        </p:txBody>
      </p:sp>
      <p:sp>
        <p:nvSpPr>
          <p:cNvPr id="12" name="TextBox 11"/>
          <p:cNvSpPr txBox="1"/>
          <p:nvPr/>
        </p:nvSpPr>
        <p:spPr>
          <a:xfrm>
            <a:off x="11247120" y="6565392"/>
            <a:ext cx="914400" cy="256032"/>
          </a:xfrm>
          <a:prstGeom prst="rect">
            <a:avLst/>
          </a:prstGeom>
          <a:noFill/>
        </p:spPr>
        <p:txBody>
          <a:bodyPr wrap="square">
            <a:spAutoFit/>
          </a:bodyPr>
          <a:lstStyle/>
          <a:p>
            <a:pPr algn="r"/>
            <a:r>
              <a:rPr sz="800" b="0" i="0">
                <a:solidFill>
                  <a:srgbClr val="6B7280"/>
                </a:solidFill>
              </a:rP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029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10972800" cy="384048"/>
          </a:xfrm>
          <a:prstGeom prst="rect">
            <a:avLst/>
          </a:prstGeom>
          <a:noFill/>
        </p:spPr>
        <p:txBody>
          <a:bodyPr wrap="square">
            <a:spAutoFit/>
          </a:bodyPr>
          <a:lstStyle/>
          <a:p>
            <a:pPr algn="l"/>
            <a:r>
              <a:rPr sz="1100" b="1" i="0">
                <a:solidFill>
                  <a:srgbClr val="FFFFFF"/>
                </a:solidFill>
              </a:rPr>
              <a:t>7. 対応方針（原則）</a:t>
            </a:r>
          </a:p>
        </p:txBody>
      </p:sp>
      <p:sp>
        <p:nvSpPr>
          <p:cNvPr id="4" name="TextBox 3"/>
          <p:cNvSpPr txBox="1"/>
          <p:nvPr/>
        </p:nvSpPr>
        <p:spPr>
          <a:xfrm>
            <a:off x="365760" y="566928"/>
            <a:ext cx="11430000" cy="502920"/>
          </a:xfrm>
          <a:prstGeom prst="rect">
            <a:avLst/>
          </a:prstGeom>
          <a:noFill/>
        </p:spPr>
        <p:txBody>
          <a:bodyPr wrap="square">
            <a:spAutoFit/>
          </a:bodyPr>
          <a:lstStyle/>
          <a:p>
            <a:pPr algn="l"/>
            <a:r>
              <a:rPr sz="1800" b="1" i="0">
                <a:solidFill>
                  <a:srgbClr val="1E3A5F"/>
                </a:solidFill>
              </a:rPr>
              <a:t>対応方針（原則）  ― must / should の区分</a:t>
            </a:r>
          </a:p>
        </p:txBody>
      </p:sp>
      <p:sp>
        <p:nvSpPr>
          <p:cNvPr id="5" name="Rectangle 4"/>
          <p:cNvSpPr/>
          <p:nvPr/>
        </p:nvSpPr>
        <p:spPr>
          <a:xfrm>
            <a:off x="365760" y="1115568"/>
            <a:ext cx="11457432" cy="36576"/>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73152"/>
            <a:ext cx="1280160" cy="320040"/>
          </a:xfrm>
          <a:prstGeom prst="rect">
            <a:avLst/>
          </a:prstGeom>
          <a:solidFill>
            <a:srgbClr val="D1FAE5"/>
          </a:solidFill>
        </p:spPr>
        <p:txBody>
          <a:bodyPr wrap="square">
            <a:spAutoFit/>
          </a:bodyPr>
          <a:lstStyle/>
          <a:p>
            <a:pPr algn="ctr"/>
            <a:r>
              <a:rPr sz="800" b="1" i="0">
                <a:solidFill>
                  <a:srgbClr val="065F46"/>
                </a:solidFill>
              </a:rPr>
              <a:t>[確定]</a:t>
            </a:r>
          </a:p>
        </p:txBody>
      </p:sp>
      <p:graphicFrame>
        <p:nvGraphicFramePr>
          <p:cNvPr id="7" name="Table 6"/>
          <p:cNvGraphicFramePr>
            <a:graphicFrameLocks noGrp="1"/>
          </p:cNvGraphicFramePr>
          <p:nvPr/>
        </p:nvGraphicFramePr>
        <p:xfrm>
          <a:off x="365760" y="1234440"/>
          <a:ext cx="11430000" cy="2432304"/>
        </p:xfrm>
        <a:graphic>
          <a:graphicData uri="http://schemas.openxmlformats.org/drawingml/2006/table">
            <a:tbl>
              <a:tblPr firstRow="1" bandRow="1">
                <a:tableStyleId>{5C22544A-7EE6-4342-B048-85BDC9FD1C3A}</a:tableStyleId>
              </a:tblPr>
              <a:tblGrid>
                <a:gridCol w="2103120"/>
                <a:gridCol w="2560320"/>
                <a:gridCol w="914400"/>
                <a:gridCol w="4206240"/>
                <a:gridCol w="1645920"/>
              </a:tblGrid>
              <a:tr h="347472">
                <a:tc>
                  <a:txBody>
                    <a:bodyPr wrap="square"/>
                    <a:lstStyle/>
                    <a:p>
                      <a:pPr algn="l"/>
                      <a:r>
                        <a:rPr sz="800" b="1">
                          <a:solidFill>
                            <a:srgbClr val="FFFFFF"/>
                          </a:solidFill>
                        </a:rPr>
                        <a:t>原則</a:t>
                      </a:r>
                    </a:p>
                  </a:txBody>
                  <a:tcPr>
                    <a:solidFill>
                      <a:srgbClr val="1A56DB"/>
                    </a:solidFill>
                  </a:tcPr>
                </a:tc>
                <a:tc>
                  <a:txBody>
                    <a:bodyPr wrap="square"/>
                    <a:lstStyle/>
                    <a:p>
                      <a:pPr algn="l"/>
                      <a:r>
                        <a:rPr sz="800" b="1">
                          <a:solidFill>
                            <a:srgbClr val="FFFFFF"/>
                          </a:solidFill>
                        </a:rPr>
                        <a:t>概要</a:t>
                      </a:r>
                    </a:p>
                  </a:txBody>
                  <a:tcPr>
                    <a:solidFill>
                      <a:srgbClr val="1A56DB"/>
                    </a:solidFill>
                  </a:tcPr>
                </a:tc>
                <a:tc>
                  <a:txBody>
                    <a:bodyPr wrap="square"/>
                    <a:lstStyle/>
                    <a:p>
                      <a:pPr algn="l"/>
                      <a:r>
                        <a:rPr sz="800" b="1">
                          <a:solidFill>
                            <a:srgbClr val="FFFFFF"/>
                          </a:solidFill>
                        </a:rPr>
                        <a:t>義務区分</a:t>
                      </a:r>
                    </a:p>
                  </a:txBody>
                  <a:tcPr>
                    <a:solidFill>
                      <a:srgbClr val="1A56DB"/>
                    </a:solidFill>
                  </a:tcPr>
                </a:tc>
                <a:tc>
                  <a:txBody>
                    <a:bodyPr wrap="square"/>
                    <a:lstStyle/>
                    <a:p>
                      <a:pPr algn="l"/>
                      <a:r>
                        <a:rPr sz="800" b="1">
                          <a:solidFill>
                            <a:srgbClr val="FFFFFF"/>
                          </a:solidFill>
                        </a:rPr>
                        <a:t>具体基準</a:t>
                      </a:r>
                    </a:p>
                  </a:txBody>
                  <a:tcPr>
                    <a:solidFill>
                      <a:srgbClr val="1A56DB"/>
                    </a:solidFill>
                  </a:tcPr>
                </a:tc>
                <a:tc>
                  <a:txBody>
                    <a:bodyPr wrap="square"/>
                    <a:lstStyle/>
                    <a:p>
                      <a:pPr algn="l"/>
                      <a:r>
                        <a:rPr sz="800" b="1">
                          <a:solidFill>
                            <a:srgbClr val="FFFFFF"/>
                          </a:solidFill>
                        </a:rPr>
                        <a:t>関連法令</a:t>
                      </a:r>
                    </a:p>
                  </a:txBody>
                  <a:tcPr>
                    <a:solidFill>
                      <a:srgbClr val="1A56DB"/>
                    </a:solidFill>
                  </a:tcPr>
                </a:tc>
              </a:tr>
              <a:tr h="347472">
                <a:tc>
                  <a:txBody>
                    <a:bodyPr wrap="square"/>
                    <a:lstStyle/>
                    <a:p>
                      <a:pPr algn="l"/>
                      <a:r>
                        <a:rPr sz="800" b="0">
                          <a:solidFill>
                            <a:srgbClr val="222222"/>
                          </a:solidFill>
                        </a:rPr>
                        <a:t>法令遵守の徹底</a:t>
                      </a:r>
                    </a:p>
                  </a:txBody>
                  <a:tcPr>
                    <a:solidFill>
                      <a:srgbClr val="FFFFFF"/>
                    </a:solidFill>
                  </a:tcPr>
                </a:tc>
                <a:tc>
                  <a:txBody>
                    <a:bodyPr wrap="square"/>
                    <a:lstStyle/>
                    <a:p>
                      <a:pPr algn="l"/>
                      <a:r>
                        <a:rPr sz="800" b="0">
                          <a:solidFill>
                            <a:srgbClr val="222222"/>
                          </a:solidFill>
                        </a:rPr>
                        <a:t>品質表示・食品衛生法の要件を全て満たしてから販売開始する</a:t>
                      </a:r>
                    </a:p>
                  </a:txBody>
                  <a:tcPr>
                    <a:solidFill>
                      <a:srgbClr val="FFFFFF"/>
                    </a:solidFill>
                  </a:tcPr>
                </a:tc>
                <a:tc>
                  <a:txBody>
                    <a:bodyPr wrap="square"/>
                    <a:lstStyle/>
                    <a:p>
                      <a:pPr algn="l"/>
                      <a:r>
                        <a:rPr sz="800" b="0">
                          <a:solidFill>
                            <a:srgbClr val="222222"/>
                          </a:solidFill>
                        </a:rPr>
                        <a:t>must</a:t>
                      </a:r>
                    </a:p>
                  </a:txBody>
                  <a:tcPr>
                    <a:solidFill>
                      <a:srgbClr val="FFFFFF"/>
                    </a:solidFill>
                  </a:tcPr>
                </a:tc>
                <a:tc>
                  <a:txBody>
                    <a:bodyPr wrap="square"/>
                    <a:lstStyle/>
                    <a:p>
                      <a:pPr algn="l"/>
                      <a:r>
                        <a:rPr sz="800" b="0">
                          <a:solidFill>
                            <a:srgbClr val="222222"/>
                          </a:solidFill>
                        </a:rPr>
                        <a:t>本資料セクション4の全mustを充足すること</a:t>
                      </a:r>
                    </a:p>
                  </a:txBody>
                  <a:tcPr>
                    <a:solidFill>
                      <a:srgbClr val="FFFFFF"/>
                    </a:solidFill>
                  </a:tcPr>
                </a:tc>
                <a:tc>
                  <a:txBody>
                    <a:bodyPr wrap="square"/>
                    <a:lstStyle/>
                    <a:p>
                      <a:pPr algn="l"/>
                      <a:r>
                        <a:rPr sz="800" b="0">
                          <a:solidFill>
                            <a:srgbClr val="222222"/>
                          </a:solidFill>
                        </a:rPr>
                        <a:t>家表法 第3条、食衛法 第18条</a:t>
                      </a:r>
                    </a:p>
                  </a:txBody>
                  <a:tcPr>
                    <a:solidFill>
                      <a:srgbClr val="FFFFFF"/>
                    </a:solidFill>
                  </a:tcPr>
                </a:tc>
              </a:tr>
              <a:tr h="347472">
                <a:tc>
                  <a:txBody>
                    <a:bodyPr wrap="square"/>
                    <a:lstStyle/>
                    <a:p>
                      <a:pPr algn="l"/>
                      <a:r>
                        <a:rPr sz="800" b="0">
                          <a:solidFill>
                            <a:srgbClr val="222222"/>
                          </a:solidFill>
                        </a:rPr>
                        <a:t>第三者検証の実施</a:t>
                      </a:r>
                    </a:p>
                  </a:txBody>
                  <a:tcPr>
                    <a:solidFill>
                      <a:srgbClr val="F8FAFC"/>
                    </a:solidFill>
                  </a:tcPr>
                </a:tc>
                <a:tc>
                  <a:txBody>
                    <a:bodyPr wrap="square"/>
                    <a:lstStyle/>
                    <a:p>
                      <a:pPr algn="l"/>
                      <a:r>
                        <a:rPr sz="800" b="0">
                          <a:solidFill>
                            <a:srgbClr val="222222"/>
                          </a:solidFill>
                        </a:rPr>
                        <a:t>材質・耐熱冷温度・保冷性能について工場自己申告に依存せず第三者機関で検証する</a:t>
                      </a:r>
                    </a:p>
                  </a:txBody>
                  <a:tcPr>
                    <a:solidFill>
                      <a:srgbClr val="F8FAFC"/>
                    </a:solidFill>
                  </a:tcPr>
                </a:tc>
                <a:tc>
                  <a:txBody>
                    <a:bodyPr wrap="square"/>
                    <a:lstStyle/>
                    <a:p>
                      <a:pPr algn="l"/>
                      <a:r>
                        <a:rPr sz="800" b="0">
                          <a:solidFill>
                            <a:srgbClr val="222222"/>
                          </a:solidFill>
                        </a:rPr>
                        <a:t>must</a:t>
                      </a:r>
                    </a:p>
                  </a:txBody>
                  <a:tcPr>
                    <a:solidFill>
                      <a:srgbClr val="F8FAFC"/>
                    </a:solidFill>
                  </a:tcPr>
                </a:tc>
                <a:tc>
                  <a:txBody>
                    <a:bodyPr wrap="square"/>
                    <a:lstStyle/>
                    <a:p>
                      <a:pPr algn="l"/>
                      <a:r>
                        <a:rPr sz="800" b="0">
                          <a:solidFill>
                            <a:srgbClr val="222222"/>
                          </a:solidFill>
                        </a:rPr>
                        <a:t>カケン・ボーケン等の公認検査機関で試験を実施し、試験成績書を3年間保管する</a:t>
                      </a:r>
                    </a:p>
                  </a:txBody>
                  <a:tcPr>
                    <a:solidFill>
                      <a:srgbClr val="F8FAFC"/>
                    </a:solidFill>
                  </a:tcPr>
                </a:tc>
                <a:tc>
                  <a:txBody>
                    <a:bodyPr wrap="square"/>
                    <a:lstStyle/>
                    <a:p>
                      <a:pPr algn="l"/>
                      <a:r>
                        <a:rPr sz="800" b="0">
                          <a:solidFill>
                            <a:srgbClr val="222222"/>
                          </a:solidFill>
                        </a:rPr>
                        <a:t>景表法 第7条第2項</a:t>
                      </a:r>
                    </a:p>
                  </a:txBody>
                  <a:tcPr>
                    <a:solidFill>
                      <a:srgbClr val="F8FAFC"/>
                    </a:solidFill>
                  </a:tcPr>
                </a:tc>
              </a:tr>
              <a:tr h="347472">
                <a:tc>
                  <a:txBody>
                    <a:bodyPr wrap="square"/>
                    <a:lstStyle/>
                    <a:p>
                      <a:pPr algn="l"/>
                      <a:r>
                        <a:rPr sz="800" b="0">
                          <a:solidFill>
                            <a:srgbClr val="222222"/>
                          </a:solidFill>
                        </a:rPr>
                        <a:t>適合証明書の取得・保管</a:t>
                      </a:r>
                    </a:p>
                  </a:txBody>
                  <a:tcPr>
                    <a:solidFill>
                      <a:srgbClr val="FFFFFF"/>
                    </a:solidFill>
                  </a:tcPr>
                </a:tc>
                <a:tc>
                  <a:txBody>
                    <a:bodyPr wrap="square"/>
                    <a:lstStyle/>
                    <a:p>
                      <a:pPr algn="l"/>
                      <a:r>
                        <a:rPr sz="800" b="0">
                          <a:solidFill>
                            <a:srgbClr val="222222"/>
                          </a:solidFill>
                        </a:rPr>
                        <a:t>食品衛生法ポジティブリスト適合証明書を仕入先から取得する</a:t>
                      </a:r>
                    </a:p>
                  </a:txBody>
                  <a:tcPr>
                    <a:solidFill>
                      <a:srgbClr val="FFFFFF"/>
                    </a:solidFill>
                  </a:tcPr>
                </a:tc>
                <a:tc>
                  <a:txBody>
                    <a:bodyPr wrap="square"/>
                    <a:lstStyle/>
                    <a:p>
                      <a:pPr algn="l"/>
                      <a:r>
                        <a:rPr sz="800" b="0">
                          <a:solidFill>
                            <a:srgbClr val="222222"/>
                          </a:solidFill>
                        </a:rPr>
                        <a:t>must</a:t>
                      </a:r>
                    </a:p>
                  </a:txBody>
                  <a:tcPr>
                    <a:solidFill>
                      <a:srgbClr val="FFFFFF"/>
                    </a:solidFill>
                  </a:tcPr>
                </a:tc>
                <a:tc>
                  <a:txBody>
                    <a:bodyPr wrap="square"/>
                    <a:lstStyle/>
                    <a:p>
                      <a:pPr algn="l"/>
                      <a:r>
                        <a:rPr sz="800" b="0">
                          <a:solidFill>
                            <a:srgbClr val="222222"/>
                          </a:solidFill>
                        </a:rPr>
                        <a:t>全ロット・全仕入先について取得。素材変更時は再取得する</a:t>
                      </a:r>
                    </a:p>
                  </a:txBody>
                  <a:tcPr>
                    <a:solidFill>
                      <a:srgbClr val="FFFFFF"/>
                    </a:solidFill>
                  </a:tcPr>
                </a:tc>
                <a:tc>
                  <a:txBody>
                    <a:bodyPr wrap="square"/>
                    <a:lstStyle/>
                    <a:p>
                      <a:pPr algn="l"/>
                      <a:r>
                        <a:rPr sz="800" b="0">
                          <a:solidFill>
                            <a:srgbClr val="222222"/>
                          </a:solidFill>
                        </a:rPr>
                        <a:t>食衛法 第18条の2</a:t>
                      </a:r>
                    </a:p>
                  </a:txBody>
                  <a:tcPr>
                    <a:solidFill>
                      <a:srgbClr val="FFFFFF"/>
                    </a:solidFill>
                  </a:tcPr>
                </a:tc>
              </a:tr>
              <a:tr h="347472">
                <a:tc>
                  <a:txBody>
                    <a:bodyPr wrap="square"/>
                    <a:lstStyle/>
                    <a:p>
                      <a:pPr algn="l"/>
                      <a:r>
                        <a:rPr sz="800" b="0">
                          <a:solidFill>
                            <a:srgbClr val="222222"/>
                          </a:solidFill>
                        </a:rPr>
                        <a:t>表示内容の一元管理</a:t>
                      </a:r>
                    </a:p>
                  </a:txBody>
                  <a:tcPr>
                    <a:solidFill>
                      <a:srgbClr val="F8FAFC"/>
                    </a:solidFill>
                  </a:tcPr>
                </a:tc>
                <a:tc>
                  <a:txBody>
                    <a:bodyPr wrap="square"/>
                    <a:lstStyle/>
                    <a:p>
                      <a:pPr algn="l"/>
                      <a:r>
                        <a:rPr sz="800" b="0">
                          <a:solidFill>
                            <a:srgbClr val="222222"/>
                          </a:solidFill>
                        </a:rPr>
                        <a:t>ラベル記載内容とAmazon商品ページの記載内容を一元管理し不一致を防ぐ</a:t>
                      </a:r>
                    </a:p>
                  </a:txBody>
                  <a:tcPr>
                    <a:solidFill>
                      <a:srgbClr val="F8FAFC"/>
                    </a:solidFill>
                  </a:tcPr>
                </a:tc>
                <a:tc>
                  <a:txBody>
                    <a:bodyPr wrap="square"/>
                    <a:lstStyle/>
                    <a:p>
                      <a:pPr algn="l"/>
                      <a:r>
                        <a:rPr sz="800" b="0">
                          <a:solidFill>
                            <a:srgbClr val="222222"/>
                          </a:solidFill>
                        </a:rPr>
                        <a:t>should</a:t>
                      </a:r>
                    </a:p>
                  </a:txBody>
                  <a:tcPr>
                    <a:solidFill>
                      <a:srgbClr val="F8FAFC"/>
                    </a:solidFill>
                  </a:tcPr>
                </a:tc>
                <a:tc>
                  <a:txBody>
                    <a:bodyPr wrap="square"/>
                    <a:lstStyle/>
                    <a:p>
                      <a:pPr algn="l"/>
                      <a:r>
                        <a:rPr sz="800" b="0">
                          <a:solidFill>
                            <a:srgbClr val="222222"/>
                          </a:solidFill>
                        </a:rPr>
                        <a:t>「表示内容管理シート」を作成し変更時は全媒体を同時更新する</a:t>
                      </a:r>
                    </a:p>
                  </a:txBody>
                  <a:tcPr>
                    <a:solidFill>
                      <a:srgbClr val="F8FAFC"/>
                    </a:solidFill>
                  </a:tcPr>
                </a:tc>
                <a:tc>
                  <a:txBody>
                    <a:bodyPr wrap="square"/>
                    <a:lstStyle/>
                    <a:p>
                      <a:pPr algn="l"/>
                      <a:r>
                        <a:rPr sz="800" b="0">
                          <a:solidFill>
                            <a:srgbClr val="222222"/>
                          </a:solidFill>
                        </a:rPr>
                        <a:t>—</a:t>
                      </a:r>
                    </a:p>
                  </a:txBody>
                  <a:tcPr>
                    <a:solidFill>
                      <a:srgbClr val="F8FAFC"/>
                    </a:solidFill>
                  </a:tcPr>
                </a:tc>
              </a:tr>
              <a:tr h="347472">
                <a:tc>
                  <a:txBody>
                    <a:bodyPr wrap="square"/>
                    <a:lstStyle/>
                    <a:p>
                      <a:pPr algn="l"/>
                      <a:r>
                        <a:rPr sz="800" b="0">
                          <a:solidFill>
                            <a:srgbClr val="222222"/>
                          </a:solidFill>
                        </a:rPr>
                        <a:t>法改正の継続監視</a:t>
                      </a:r>
                    </a:p>
                  </a:txBody>
                  <a:tcPr>
                    <a:solidFill>
                      <a:srgbClr val="FFFFFF"/>
                    </a:solidFill>
                  </a:tcPr>
                </a:tc>
                <a:tc>
                  <a:txBody>
                    <a:bodyPr wrap="square"/>
                    <a:lstStyle/>
                    <a:p>
                      <a:pPr algn="l"/>
                      <a:r>
                        <a:rPr sz="800" b="0">
                          <a:solidFill>
                            <a:srgbClr val="222222"/>
                          </a:solidFill>
                        </a:rPr>
                        <a:t>家表法・食衛法・景表法の改正情報を年1回以上チェックする</a:t>
                      </a:r>
                    </a:p>
                  </a:txBody>
                  <a:tcPr>
                    <a:solidFill>
                      <a:srgbClr val="FFFFFF"/>
                    </a:solidFill>
                  </a:tcPr>
                </a:tc>
                <a:tc>
                  <a:txBody>
                    <a:bodyPr wrap="square"/>
                    <a:lstStyle/>
                    <a:p>
                      <a:pPr algn="l"/>
                      <a:r>
                        <a:rPr sz="800" b="0">
                          <a:solidFill>
                            <a:srgbClr val="222222"/>
                          </a:solidFill>
                        </a:rPr>
                        <a:t>must</a:t>
                      </a:r>
                    </a:p>
                  </a:txBody>
                  <a:tcPr>
                    <a:solidFill>
                      <a:srgbClr val="FFFFFF"/>
                    </a:solidFill>
                  </a:tcPr>
                </a:tc>
                <a:tc>
                  <a:txBody>
                    <a:bodyPr wrap="square"/>
                    <a:lstStyle/>
                    <a:p>
                      <a:pPr algn="l"/>
                      <a:r>
                        <a:rPr sz="800" b="0">
                          <a:solidFill>
                            <a:srgbClr val="222222"/>
                          </a:solidFill>
                        </a:rPr>
                        <a:t>消費者庁・厚労省のニュースレターを登録する。毎年4月に法改正チェックを実施する</a:t>
                      </a:r>
                    </a:p>
                  </a:txBody>
                  <a:tcPr>
                    <a:solidFill>
                      <a:srgbClr val="FFFFFF"/>
                    </a:solidFill>
                  </a:tcPr>
                </a:tc>
                <a:tc>
                  <a:txBody>
                    <a:bodyPr wrap="square"/>
                    <a:lstStyle/>
                    <a:p>
                      <a:pPr algn="l"/>
                      <a:r>
                        <a:rPr sz="800" b="0">
                          <a:solidFill>
                            <a:srgbClr val="222222"/>
                          </a:solidFill>
                        </a:rPr>
                        <a:t>家表法・食衛法</a:t>
                      </a:r>
                    </a:p>
                  </a:txBody>
                  <a:tcPr>
                    <a:solidFill>
                      <a:srgbClr val="FFFFFF"/>
                    </a:solidFill>
                  </a:tcPr>
                </a:tc>
              </a:tr>
              <a:tr h="347472">
                <a:tc>
                  <a:txBody>
                    <a:bodyPr wrap="square"/>
                    <a:lstStyle/>
                    <a:p>
                      <a:pPr algn="l"/>
                      <a:r>
                        <a:rPr sz="800" b="0">
                          <a:solidFill>
                            <a:srgbClr val="222222"/>
                          </a:solidFill>
                        </a:rPr>
                        <a:t>トレーサビリティの確保</a:t>
                      </a:r>
                    </a:p>
                  </a:txBody>
                  <a:tcPr>
                    <a:solidFill>
                      <a:srgbClr val="F8FAFC"/>
                    </a:solidFill>
                  </a:tcPr>
                </a:tc>
                <a:tc>
                  <a:txBody>
                    <a:bodyPr wrap="square"/>
                    <a:lstStyle/>
                    <a:p>
                      <a:pPr algn="l"/>
                      <a:r>
                        <a:rPr sz="800" b="0">
                          <a:solidFill>
                            <a:srgbClr val="222222"/>
                          </a:solidFill>
                        </a:rPr>
                        <a:t>どのロットにどのラベル・証明書が紐づいているかを追跡可能にする</a:t>
                      </a:r>
                    </a:p>
                  </a:txBody>
                  <a:tcPr>
                    <a:solidFill>
                      <a:srgbClr val="F8FAFC"/>
                    </a:solidFill>
                  </a:tcPr>
                </a:tc>
                <a:tc>
                  <a:txBody>
                    <a:bodyPr wrap="square"/>
                    <a:lstStyle/>
                    <a:p>
                      <a:pPr algn="l"/>
                      <a:r>
                        <a:rPr sz="800" b="0">
                          <a:solidFill>
                            <a:srgbClr val="222222"/>
                          </a:solidFill>
                        </a:rPr>
                        <a:t>should</a:t>
                      </a:r>
                    </a:p>
                  </a:txBody>
                  <a:tcPr>
                    <a:solidFill>
                      <a:srgbClr val="F8FAFC"/>
                    </a:solidFill>
                  </a:tcPr>
                </a:tc>
                <a:tc>
                  <a:txBody>
                    <a:bodyPr wrap="square"/>
                    <a:lstStyle/>
                    <a:p>
                      <a:pPr algn="l"/>
                      <a:r>
                        <a:rPr sz="800" b="0">
                          <a:solidFill>
                            <a:srgbClr val="222222"/>
                          </a:solidFill>
                        </a:rPr>
                        <a:t>ロット番号と対応するラベル内容・検品結果・適合証明書番号を記録する。販売終了後3年間保管する</a:t>
                      </a:r>
                    </a:p>
                  </a:txBody>
                  <a:tcPr>
                    <a:solidFill>
                      <a:srgbClr val="F8FAFC"/>
                    </a:solidFill>
                  </a:tcPr>
                </a:tc>
                <a:tc>
                  <a:txBody>
                    <a:bodyPr wrap="square"/>
                    <a:lstStyle/>
                    <a:p>
                      <a:pPr algn="l"/>
                      <a:r>
                        <a:rPr sz="800" b="0">
                          <a:solidFill>
                            <a:srgbClr val="222222"/>
                          </a:solidFill>
                        </a:rPr>
                        <a:t>—</a:t>
                      </a:r>
                    </a:p>
                  </a:txBody>
                  <a:tcPr>
                    <a:solidFill>
                      <a:srgbClr val="F8FAFC"/>
                    </a:solidFill>
                  </a:tcPr>
                </a:tc>
              </a:tr>
            </a:tbl>
          </a:graphicData>
        </a:graphic>
      </p:graphicFrame>
      <p:sp>
        <p:nvSpPr>
          <p:cNvPr id="8" name="Rectangle 7"/>
          <p:cNvSpPr/>
          <p:nvPr/>
        </p:nvSpPr>
        <p:spPr>
          <a:xfrm>
            <a:off x="0" y="6537960"/>
            <a:ext cx="12188952"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65392"/>
            <a:ext cx="9144000" cy="256032"/>
          </a:xfrm>
          <a:prstGeom prst="rect">
            <a:avLst/>
          </a:prstGeom>
          <a:noFill/>
        </p:spPr>
        <p:txBody>
          <a:bodyPr wrap="square">
            <a:spAutoFit/>
          </a:bodyPr>
          <a:lstStyle/>
          <a:p>
            <a:pPr algn="l"/>
            <a:r>
              <a:rPr sz="800" b="0" i="0">
                <a:solidFill>
                  <a:srgbClr val="6B7280"/>
                </a:solidFill>
              </a:rPr>
              <a:t>保冷バッグ Amazon輸入 品質表示法対応 提案書  ©貴社名</a:t>
            </a:r>
          </a:p>
        </p:txBody>
      </p:sp>
      <p:sp>
        <p:nvSpPr>
          <p:cNvPr id="10" name="TextBox 9"/>
          <p:cNvSpPr txBox="1"/>
          <p:nvPr/>
        </p:nvSpPr>
        <p:spPr>
          <a:xfrm>
            <a:off x="11247120" y="6565392"/>
            <a:ext cx="914400" cy="256032"/>
          </a:xfrm>
          <a:prstGeom prst="rect">
            <a:avLst/>
          </a:prstGeom>
          <a:noFill/>
        </p:spPr>
        <p:txBody>
          <a:bodyPr wrap="square">
            <a:spAutoFit/>
          </a:bodyPr>
          <a:lstStyle/>
          <a:p>
            <a:pPr algn="r"/>
            <a:r>
              <a:rPr sz="800" b="0" i="0">
                <a:solidFill>
                  <a:srgbClr val="6B7280"/>
                </a:solidFill>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029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10972800" cy="384048"/>
          </a:xfrm>
          <a:prstGeom prst="rect">
            <a:avLst/>
          </a:prstGeom>
          <a:noFill/>
        </p:spPr>
        <p:txBody>
          <a:bodyPr wrap="square">
            <a:spAutoFit/>
          </a:bodyPr>
          <a:lstStyle/>
          <a:p>
            <a:pPr algn="l"/>
            <a:r>
              <a:rPr sz="1100" b="1" i="0">
                <a:solidFill>
                  <a:srgbClr val="FFFFFF"/>
                </a:solidFill>
              </a:rPr>
              <a:t>8. 法律・規制の詳細</a:t>
            </a:r>
          </a:p>
        </p:txBody>
      </p:sp>
      <p:sp>
        <p:nvSpPr>
          <p:cNvPr id="4" name="TextBox 3"/>
          <p:cNvSpPr txBox="1"/>
          <p:nvPr/>
        </p:nvSpPr>
        <p:spPr>
          <a:xfrm>
            <a:off x="365760" y="566928"/>
            <a:ext cx="11430000" cy="502920"/>
          </a:xfrm>
          <a:prstGeom prst="rect">
            <a:avLst/>
          </a:prstGeom>
          <a:noFill/>
        </p:spPr>
        <p:txBody>
          <a:bodyPr wrap="square">
            <a:spAutoFit/>
          </a:bodyPr>
          <a:lstStyle/>
          <a:p>
            <a:pPr algn="l"/>
            <a:r>
              <a:rPr sz="1800" b="1" i="0">
                <a:solidFill>
                  <a:srgbClr val="1E3A5F"/>
                </a:solidFill>
              </a:rPr>
              <a:t>考慮すべき法律・規制の詳細</a:t>
            </a:r>
          </a:p>
        </p:txBody>
      </p:sp>
      <p:sp>
        <p:nvSpPr>
          <p:cNvPr id="5" name="Rectangle 4"/>
          <p:cNvSpPr/>
          <p:nvPr/>
        </p:nvSpPr>
        <p:spPr>
          <a:xfrm>
            <a:off x="365760" y="1115568"/>
            <a:ext cx="11457432" cy="36576"/>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73152"/>
            <a:ext cx="1280160" cy="320040"/>
          </a:xfrm>
          <a:prstGeom prst="rect">
            <a:avLst/>
          </a:prstGeom>
          <a:solidFill>
            <a:srgbClr val="D1FAE5"/>
          </a:solidFill>
        </p:spPr>
        <p:txBody>
          <a:bodyPr wrap="square">
            <a:spAutoFit/>
          </a:bodyPr>
          <a:lstStyle/>
          <a:p>
            <a:pPr algn="ctr"/>
            <a:r>
              <a:rPr sz="800" b="1" i="0">
                <a:solidFill>
                  <a:srgbClr val="065F46"/>
                </a:solidFill>
              </a:rPr>
              <a:t>[確定]</a:t>
            </a:r>
          </a:p>
        </p:txBody>
      </p:sp>
      <p:graphicFrame>
        <p:nvGraphicFramePr>
          <p:cNvPr id="7" name="Table 6"/>
          <p:cNvGraphicFramePr>
            <a:graphicFrameLocks noGrp="1"/>
          </p:cNvGraphicFramePr>
          <p:nvPr/>
        </p:nvGraphicFramePr>
        <p:xfrm>
          <a:off x="365760" y="1234440"/>
          <a:ext cx="11430000" cy="1737360"/>
        </p:xfrm>
        <a:graphic>
          <a:graphicData uri="http://schemas.openxmlformats.org/drawingml/2006/table">
            <a:tbl>
              <a:tblPr firstRow="1" bandRow="1">
                <a:tableStyleId>{5C22544A-7EE6-4342-B048-85BDC9FD1C3A}</a:tableStyleId>
              </a:tblPr>
              <a:tblGrid>
                <a:gridCol w="2286000"/>
                <a:gridCol w="1828800"/>
                <a:gridCol w="3200400"/>
                <a:gridCol w="4114800"/>
              </a:tblGrid>
              <a:tr h="347472">
                <a:tc>
                  <a:txBody>
                    <a:bodyPr wrap="square"/>
                    <a:lstStyle/>
                    <a:p>
                      <a:pPr algn="l"/>
                      <a:r>
                        <a:rPr sz="850" b="1">
                          <a:solidFill>
                            <a:srgbClr val="FFFFFF"/>
                          </a:solidFill>
                        </a:rPr>
                        <a:t>法令名</a:t>
                      </a:r>
                    </a:p>
                  </a:txBody>
                  <a:tcPr>
                    <a:solidFill>
                      <a:srgbClr val="1A56DB"/>
                    </a:solidFill>
                  </a:tcPr>
                </a:tc>
                <a:tc>
                  <a:txBody>
                    <a:bodyPr wrap="square"/>
                    <a:lstStyle/>
                    <a:p>
                      <a:pPr algn="l"/>
                      <a:r>
                        <a:rPr sz="850" b="1">
                          <a:solidFill>
                            <a:srgbClr val="FFFFFF"/>
                          </a:solidFill>
                        </a:rPr>
                        <a:t>該当条文</a:t>
                      </a:r>
                    </a:p>
                  </a:txBody>
                  <a:tcPr>
                    <a:solidFill>
                      <a:srgbClr val="1A56DB"/>
                    </a:solidFill>
                  </a:tcPr>
                </a:tc>
                <a:tc>
                  <a:txBody>
                    <a:bodyPr wrap="square"/>
                    <a:lstStyle/>
                    <a:p>
                      <a:pPr algn="l"/>
                      <a:r>
                        <a:rPr sz="850" b="1">
                          <a:solidFill>
                            <a:srgbClr val="FFFFFF"/>
                          </a:solidFill>
                        </a:rPr>
                        <a:t>主な論点</a:t>
                      </a:r>
                    </a:p>
                  </a:txBody>
                  <a:tcPr>
                    <a:solidFill>
                      <a:srgbClr val="1A56DB"/>
                    </a:solidFill>
                  </a:tcPr>
                </a:tc>
                <a:tc>
                  <a:txBody>
                    <a:bodyPr wrap="square"/>
                    <a:lstStyle/>
                    <a:p>
                      <a:pPr algn="l"/>
                      <a:r>
                        <a:rPr sz="850" b="1">
                          <a:solidFill>
                            <a:srgbClr val="FFFFFF"/>
                          </a:solidFill>
                        </a:rPr>
                        <a:t>対応策（具体例）</a:t>
                      </a:r>
                    </a:p>
                  </a:txBody>
                  <a:tcPr>
                    <a:solidFill>
                      <a:srgbClr val="1A56DB"/>
                    </a:solidFill>
                  </a:tcPr>
                </a:tc>
              </a:tr>
              <a:tr h="347472">
                <a:tc>
                  <a:txBody>
                    <a:bodyPr wrap="square"/>
                    <a:lstStyle/>
                    <a:p>
                      <a:pPr algn="l"/>
                      <a:r>
                        <a:rPr sz="850" b="0">
                          <a:solidFill>
                            <a:srgbClr val="222222"/>
                          </a:solidFill>
                        </a:rPr>
                        <a:t>家庭用品品質表示法
合成樹脂加工品品質表示規程</a:t>
                      </a:r>
                    </a:p>
                  </a:txBody>
                  <a:tcPr>
                    <a:solidFill>
                      <a:srgbClr val="FFFFFF"/>
                    </a:solidFill>
                  </a:tcPr>
                </a:tc>
                <a:tc>
                  <a:txBody>
                    <a:bodyPr wrap="square"/>
                    <a:lstStyle/>
                    <a:p>
                      <a:pPr algn="l"/>
                      <a:r>
                        <a:rPr sz="850" b="0">
                          <a:solidFill>
                            <a:srgbClr val="222222"/>
                          </a:solidFill>
                        </a:rPr>
                        <a:t>家表法 第3条・第34条
同規程 第2・3条</a:t>
                      </a:r>
                    </a:p>
                  </a:txBody>
                  <a:tcPr>
                    <a:solidFill>
                      <a:srgbClr val="FFFFFF"/>
                    </a:solidFill>
                  </a:tcPr>
                </a:tc>
                <a:tc>
                  <a:txBody>
                    <a:bodyPr wrap="square"/>
                    <a:lstStyle/>
                    <a:p>
                      <a:pPr algn="l"/>
                      <a:r>
                        <a:rPr sz="850" b="0">
                          <a:solidFill>
                            <a:srgbClr val="222222"/>
                          </a:solidFill>
                        </a:rPr>
                        <a:t>原料樹脂・耐熱温度・耐冷温度・表示者名の表示義務。違反時最大20万円罰金</a:t>
                      </a:r>
                    </a:p>
                  </a:txBody>
                  <a:tcPr>
                    <a:solidFill>
                      <a:srgbClr val="FFFFFF"/>
                    </a:solidFill>
                  </a:tcPr>
                </a:tc>
                <a:tc>
                  <a:txBody>
                    <a:bodyPr wrap="square"/>
                    <a:lstStyle/>
                    <a:p>
                      <a:pPr algn="l"/>
                      <a:r>
                        <a:rPr sz="850" b="0">
                          <a:solidFill>
                            <a:srgbClr val="222222"/>
                          </a:solidFill>
                        </a:rPr>
                        <a:t>【must】品質表示ラベルを全商品に貼付
【must】第三者試験で耐熱・耐冷温度を確認</a:t>
                      </a:r>
                    </a:p>
                  </a:txBody>
                  <a:tcPr>
                    <a:solidFill>
                      <a:srgbClr val="FFFFFF"/>
                    </a:solidFill>
                  </a:tcPr>
                </a:tc>
              </a:tr>
              <a:tr h="347472">
                <a:tc>
                  <a:txBody>
                    <a:bodyPr wrap="square"/>
                    <a:lstStyle/>
                    <a:p>
                      <a:pPr algn="l"/>
                      <a:r>
                        <a:rPr sz="850" b="0">
                          <a:solidFill>
                            <a:srgbClr val="222222"/>
                          </a:solidFill>
                        </a:rPr>
                        <a:t>食品衛生法
ポジティブリスト制度</a:t>
                      </a:r>
                    </a:p>
                  </a:txBody>
                  <a:tcPr>
                    <a:solidFill>
                      <a:srgbClr val="F8FAFC"/>
                    </a:solidFill>
                  </a:tcPr>
                </a:tc>
                <a:tc>
                  <a:txBody>
                    <a:bodyPr wrap="square"/>
                    <a:lstStyle/>
                    <a:p>
                      <a:pPr algn="l"/>
                      <a:r>
                        <a:rPr sz="850" b="0">
                          <a:solidFill>
                            <a:srgbClr val="222222"/>
                          </a:solidFill>
                        </a:rPr>
                        <a:t>第18条・第18条の2
第27条</a:t>
                      </a:r>
                    </a:p>
                  </a:txBody>
                  <a:tcPr>
                    <a:solidFill>
                      <a:srgbClr val="F8FAFC"/>
                    </a:solidFill>
                  </a:tcPr>
                </a:tc>
                <a:tc>
                  <a:txBody>
                    <a:bodyPr wrap="square"/>
                    <a:lstStyle/>
                    <a:p>
                      <a:pPr algn="l"/>
                      <a:r>
                        <a:rPr sz="850" b="0">
                          <a:solidFill>
                            <a:srgbClr val="222222"/>
                          </a:solidFill>
                        </a:rPr>
                        <a:t>食品接触の合成樹脂はPL掲載物質のみ使用可。輸入時に届出が必要。適合性説明義務あり</a:t>
                      </a:r>
                    </a:p>
                  </a:txBody>
                  <a:tcPr>
                    <a:solidFill>
                      <a:srgbClr val="F8FAFC"/>
                    </a:solidFill>
                  </a:tcPr>
                </a:tc>
                <a:tc>
                  <a:txBody>
                    <a:bodyPr wrap="square"/>
                    <a:lstStyle/>
                    <a:p>
                      <a:pPr algn="l"/>
                      <a:r>
                        <a:rPr sz="850" b="0">
                          <a:solidFill>
                            <a:srgbClr val="222222"/>
                          </a:solidFill>
                        </a:rPr>
                        <a:t>【must】仕入先から適合証明書を取得
【must】輸入届出を提出
【must】素材変更時は再取得</a:t>
                      </a:r>
                    </a:p>
                  </a:txBody>
                  <a:tcPr>
                    <a:solidFill>
                      <a:srgbClr val="F8FAFC"/>
                    </a:solidFill>
                  </a:tcPr>
                </a:tc>
              </a:tr>
              <a:tr h="347472">
                <a:tc>
                  <a:txBody>
                    <a:bodyPr wrap="square"/>
                    <a:lstStyle/>
                    <a:p>
                      <a:pPr algn="l"/>
                      <a:r>
                        <a:rPr sz="850" b="0">
                          <a:solidFill>
                            <a:srgbClr val="222222"/>
                          </a:solidFill>
                        </a:rPr>
                        <a:t>景品表示法
（不当表示規制）</a:t>
                      </a:r>
                    </a:p>
                  </a:txBody>
                  <a:tcPr>
                    <a:solidFill>
                      <a:srgbClr val="FFFFFF"/>
                    </a:solidFill>
                  </a:tcPr>
                </a:tc>
                <a:tc>
                  <a:txBody>
                    <a:bodyPr wrap="square"/>
                    <a:lstStyle/>
                    <a:p>
                      <a:pPr algn="l"/>
                      <a:r>
                        <a:rPr sz="850" b="0">
                          <a:solidFill>
                            <a:srgbClr val="222222"/>
                          </a:solidFill>
                        </a:rPr>
                        <a:t>第5条第1号（優良誤認）
第7条第2項（不実証広告）</a:t>
                      </a:r>
                    </a:p>
                  </a:txBody>
                  <a:tcPr>
                    <a:solidFill>
                      <a:srgbClr val="FFFFFF"/>
                    </a:solidFill>
                  </a:tcPr>
                </a:tc>
                <a:tc>
                  <a:txBody>
                    <a:bodyPr wrap="square"/>
                    <a:lstStyle/>
                    <a:p>
                      <a:pPr algn="l"/>
                      <a:r>
                        <a:rPr sz="850" b="0">
                          <a:solidFill>
                            <a:srgbClr val="222222"/>
                          </a:solidFill>
                        </a:rPr>
                        <a:t>「〇時間保冷」等の性能表示に合理的根拠が必要。根拠提出要求から15日以内に提出できなければ不当表示</a:t>
                      </a:r>
                    </a:p>
                  </a:txBody>
                  <a:tcPr>
                    <a:solidFill>
                      <a:srgbClr val="FFFFFF"/>
                    </a:solidFill>
                  </a:tcPr>
                </a:tc>
                <a:tc>
                  <a:txBody>
                    <a:bodyPr wrap="square"/>
                    <a:lstStyle/>
                    <a:p>
                      <a:pPr algn="l"/>
                      <a:r>
                        <a:rPr sz="850" b="0">
                          <a:solidFill>
                            <a:srgbClr val="222222"/>
                          </a:solidFill>
                        </a:rPr>
                        <a:t>【must】第三者機関で保冷性能試験を実施
【should】商品ページに試験方法・機関名を注記</a:t>
                      </a:r>
                    </a:p>
                  </a:txBody>
                  <a:tcPr>
                    <a:solidFill>
                      <a:srgbClr val="FFFFFF"/>
                    </a:solidFill>
                  </a:tcPr>
                </a:tc>
              </a:tr>
              <a:tr h="347472">
                <a:tc>
                  <a:txBody>
                    <a:bodyPr wrap="square"/>
                    <a:lstStyle/>
                    <a:p>
                      <a:pPr algn="l"/>
                      <a:r>
                        <a:rPr sz="850" b="0">
                          <a:solidFill>
                            <a:srgbClr val="222222"/>
                          </a:solidFill>
                        </a:rPr>
                        <a:t>関税法・輸入通関</a:t>
                      </a:r>
                    </a:p>
                  </a:txBody>
                  <a:tcPr>
                    <a:solidFill>
                      <a:srgbClr val="F8FAFC"/>
                    </a:solidFill>
                  </a:tcPr>
                </a:tc>
                <a:tc>
                  <a:txBody>
                    <a:bodyPr wrap="square"/>
                    <a:lstStyle/>
                    <a:p>
                      <a:pPr algn="l"/>
                      <a:r>
                        <a:rPr sz="850" b="0">
                          <a:solidFill>
                            <a:srgbClr val="222222"/>
                          </a:solidFill>
                        </a:rPr>
                        <a:t>第67条（輸入申告）</a:t>
                      </a:r>
                    </a:p>
                  </a:txBody>
                  <a:tcPr>
                    <a:solidFill>
                      <a:srgbClr val="F8FAFC"/>
                    </a:solidFill>
                  </a:tcPr>
                </a:tc>
                <a:tc>
                  <a:txBody>
                    <a:bodyPr wrap="square"/>
                    <a:lstStyle/>
                    <a:p>
                      <a:pPr algn="l"/>
                      <a:r>
                        <a:rPr sz="850" b="0">
                          <a:solidFill>
                            <a:srgbClr val="222222"/>
                          </a:solidFill>
                        </a:rPr>
                        <a:t>保冷バッグのHSコード分類（第42類：旅行用品等）に基づく申告と税率確認</a:t>
                      </a:r>
                    </a:p>
                  </a:txBody>
                  <a:tcPr>
                    <a:solidFill>
                      <a:srgbClr val="F8FAFC"/>
                    </a:solidFill>
                  </a:tcPr>
                </a:tc>
                <a:tc>
                  <a:txBody>
                    <a:bodyPr wrap="square"/>
                    <a:lstStyle/>
                    <a:p>
                      <a:pPr algn="l"/>
                      <a:r>
                        <a:rPr sz="850" b="0">
                          <a:solidFill>
                            <a:srgbClr val="222222"/>
                          </a:solidFill>
                        </a:rPr>
                        <a:t>【must】HSコード 4202.92等で正確に申告
【should】税関事前照会制度を活用</a:t>
                      </a:r>
                    </a:p>
                  </a:txBody>
                  <a:tcPr>
                    <a:solidFill>
                      <a:srgbClr val="F8FAFC"/>
                    </a:solidFill>
                  </a:tcPr>
                </a:tc>
              </a:tr>
            </a:tbl>
          </a:graphicData>
        </a:graphic>
      </p:graphicFrame>
      <p:sp>
        <p:nvSpPr>
          <p:cNvPr id="8" name="TextBox 7"/>
          <p:cNvSpPr txBox="1"/>
          <p:nvPr/>
        </p:nvSpPr>
        <p:spPr>
          <a:xfrm>
            <a:off x="365760" y="5760720"/>
            <a:ext cx="11430000" cy="256032"/>
          </a:xfrm>
          <a:prstGeom prst="rect">
            <a:avLst/>
          </a:prstGeom>
          <a:solidFill>
            <a:srgbClr val="EFF6FF"/>
          </a:solidFill>
        </p:spPr>
        <p:txBody>
          <a:bodyPr wrap="square">
            <a:spAutoFit/>
          </a:bodyPr>
          <a:lstStyle/>
          <a:p>
            <a:pPr algn="l"/>
            <a:r>
              <a:rPr sz="850" b="0" i="0">
                <a:solidFill>
                  <a:srgbClr val="1E3A5F"/>
                </a:solidFill>
              </a:rPr>
              <a:t>業態別の適用：本案件はEC小売事業者（BtoC）として「販売業者」の立場で家表法・食衛法の表示義務を負う。卸売のみ（BtoB）でも輸入者としてのリスクは残る。</a:t>
            </a:r>
          </a:p>
        </p:txBody>
      </p:sp>
      <p:sp>
        <p:nvSpPr>
          <p:cNvPr id="9" name="Rectangle 8"/>
          <p:cNvSpPr/>
          <p:nvPr/>
        </p:nvSpPr>
        <p:spPr>
          <a:xfrm>
            <a:off x="0" y="6537960"/>
            <a:ext cx="12188952"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565392"/>
            <a:ext cx="9144000" cy="256032"/>
          </a:xfrm>
          <a:prstGeom prst="rect">
            <a:avLst/>
          </a:prstGeom>
          <a:noFill/>
        </p:spPr>
        <p:txBody>
          <a:bodyPr wrap="square">
            <a:spAutoFit/>
          </a:bodyPr>
          <a:lstStyle/>
          <a:p>
            <a:pPr algn="l"/>
            <a:r>
              <a:rPr sz="800" b="0" i="0">
                <a:solidFill>
                  <a:srgbClr val="6B7280"/>
                </a:solidFill>
              </a:rPr>
              <a:t>保冷バッグ Amazon輸入 品質表示法対応 提案書  ©貴社名</a:t>
            </a:r>
          </a:p>
        </p:txBody>
      </p:sp>
      <p:sp>
        <p:nvSpPr>
          <p:cNvPr id="11" name="TextBox 10"/>
          <p:cNvSpPr txBox="1"/>
          <p:nvPr/>
        </p:nvSpPr>
        <p:spPr>
          <a:xfrm>
            <a:off x="11247120" y="6565392"/>
            <a:ext cx="914400" cy="256032"/>
          </a:xfrm>
          <a:prstGeom prst="rect">
            <a:avLst/>
          </a:prstGeom>
          <a:noFill/>
        </p:spPr>
        <p:txBody>
          <a:bodyPr wrap="square">
            <a:spAutoFit/>
          </a:bodyPr>
          <a:lstStyle/>
          <a:p>
            <a:pPr algn="r"/>
            <a:r>
              <a:rPr sz="800" b="0" i="0">
                <a:solidFill>
                  <a:srgbClr val="6B7280"/>
                </a:solidFill>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029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10972800" cy="384048"/>
          </a:xfrm>
          <a:prstGeom prst="rect">
            <a:avLst/>
          </a:prstGeom>
          <a:noFill/>
        </p:spPr>
        <p:txBody>
          <a:bodyPr wrap="square">
            <a:spAutoFit/>
          </a:bodyPr>
          <a:lstStyle/>
          <a:p>
            <a:pPr algn="l"/>
            <a:r>
              <a:rPr sz="1100" b="1" i="0">
                <a:solidFill>
                  <a:srgbClr val="FFFFFF"/>
                </a:solidFill>
              </a:rPr>
              <a:t>9. 対応フロー</a:t>
            </a:r>
          </a:p>
        </p:txBody>
      </p:sp>
      <p:sp>
        <p:nvSpPr>
          <p:cNvPr id="4" name="TextBox 3"/>
          <p:cNvSpPr txBox="1"/>
          <p:nvPr/>
        </p:nvSpPr>
        <p:spPr>
          <a:xfrm>
            <a:off x="365760" y="566928"/>
            <a:ext cx="11430000" cy="502920"/>
          </a:xfrm>
          <a:prstGeom prst="rect">
            <a:avLst/>
          </a:prstGeom>
          <a:noFill/>
        </p:spPr>
        <p:txBody>
          <a:bodyPr wrap="square">
            <a:spAutoFit/>
          </a:bodyPr>
          <a:lstStyle/>
          <a:p>
            <a:pPr algn="l"/>
            <a:r>
              <a:rPr sz="1800" b="1" i="0">
                <a:solidFill>
                  <a:srgbClr val="1E3A5F"/>
                </a:solidFill>
              </a:rPr>
              <a:t>対応フロー（ライフサイクル）  ― 総所要期間：約7〜12週間</a:t>
            </a:r>
          </a:p>
        </p:txBody>
      </p:sp>
      <p:sp>
        <p:nvSpPr>
          <p:cNvPr id="5" name="Rectangle 4"/>
          <p:cNvSpPr/>
          <p:nvPr/>
        </p:nvSpPr>
        <p:spPr>
          <a:xfrm>
            <a:off x="365760" y="1115568"/>
            <a:ext cx="11457432" cy="36576"/>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73152"/>
            <a:ext cx="1280160" cy="320040"/>
          </a:xfrm>
          <a:prstGeom prst="rect">
            <a:avLst/>
          </a:prstGeom>
          <a:solidFill>
            <a:srgbClr val="D1FAE5"/>
          </a:solidFill>
        </p:spPr>
        <p:txBody>
          <a:bodyPr wrap="square">
            <a:spAutoFit/>
          </a:bodyPr>
          <a:lstStyle/>
          <a:p>
            <a:pPr algn="ctr"/>
            <a:r>
              <a:rPr sz="800" b="1" i="0">
                <a:solidFill>
                  <a:srgbClr val="065F46"/>
                </a:solidFill>
              </a:rPr>
              <a:t>[確定]</a:t>
            </a:r>
          </a:p>
        </p:txBody>
      </p:sp>
      <p:sp>
        <p:nvSpPr>
          <p:cNvPr id="7" name="Rectangle 6"/>
          <p:cNvSpPr/>
          <p:nvPr/>
        </p:nvSpPr>
        <p:spPr>
          <a:xfrm>
            <a:off x="365760" y="1234440"/>
            <a:ext cx="2103120" cy="59436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234440"/>
            <a:ext cx="2103120" cy="594360"/>
          </a:xfrm>
          <a:prstGeom prst="rect">
            <a:avLst/>
          </a:prstGeom>
          <a:noFill/>
        </p:spPr>
        <p:txBody>
          <a:bodyPr wrap="square">
            <a:spAutoFit/>
          </a:bodyPr>
          <a:lstStyle/>
          <a:p>
            <a:pPr algn="ctr"/>
            <a:r>
              <a:rPr sz="1000" b="1" i="0">
                <a:solidFill>
                  <a:srgbClr val="FFFFFF"/>
                </a:solidFill>
              </a:rPr>
              <a:t>企画・
調査</a:t>
            </a:r>
          </a:p>
        </p:txBody>
      </p:sp>
      <p:sp>
        <p:nvSpPr>
          <p:cNvPr id="9" name="TextBox 8"/>
          <p:cNvSpPr txBox="1"/>
          <p:nvPr/>
        </p:nvSpPr>
        <p:spPr>
          <a:xfrm>
            <a:off x="2468879" y="1389888"/>
            <a:ext cx="228600" cy="274320"/>
          </a:xfrm>
          <a:prstGeom prst="rect">
            <a:avLst/>
          </a:prstGeom>
          <a:noFill/>
        </p:spPr>
        <p:txBody>
          <a:bodyPr wrap="square">
            <a:spAutoFit/>
          </a:bodyPr>
          <a:lstStyle/>
          <a:p>
            <a:pPr algn="l"/>
            <a:r>
              <a:rPr sz="1400" b="1" i="0">
                <a:solidFill>
                  <a:srgbClr val="1A56DB"/>
                </a:solidFill>
              </a:rPr>
              <a:t>→</a:t>
            </a:r>
          </a:p>
        </p:txBody>
      </p:sp>
      <p:sp>
        <p:nvSpPr>
          <p:cNvPr id="10" name="Rectangle 9"/>
          <p:cNvSpPr/>
          <p:nvPr/>
        </p:nvSpPr>
        <p:spPr>
          <a:xfrm>
            <a:off x="2697479" y="1234440"/>
            <a:ext cx="2103120" cy="59436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97479" y="1234440"/>
            <a:ext cx="2103120" cy="594360"/>
          </a:xfrm>
          <a:prstGeom prst="rect">
            <a:avLst/>
          </a:prstGeom>
          <a:noFill/>
        </p:spPr>
        <p:txBody>
          <a:bodyPr wrap="square">
            <a:spAutoFit/>
          </a:bodyPr>
          <a:lstStyle/>
          <a:p>
            <a:pPr algn="ctr"/>
            <a:r>
              <a:rPr sz="1000" b="1" i="0">
                <a:solidFill>
                  <a:srgbClr val="FFFFFF"/>
                </a:solidFill>
              </a:rPr>
              <a:t>サンプル
取得・検査</a:t>
            </a:r>
          </a:p>
        </p:txBody>
      </p:sp>
      <p:sp>
        <p:nvSpPr>
          <p:cNvPr id="12" name="TextBox 11"/>
          <p:cNvSpPr txBox="1"/>
          <p:nvPr/>
        </p:nvSpPr>
        <p:spPr>
          <a:xfrm>
            <a:off x="4800600" y="1389888"/>
            <a:ext cx="228600" cy="274320"/>
          </a:xfrm>
          <a:prstGeom prst="rect">
            <a:avLst/>
          </a:prstGeom>
          <a:noFill/>
        </p:spPr>
        <p:txBody>
          <a:bodyPr wrap="square">
            <a:spAutoFit/>
          </a:bodyPr>
          <a:lstStyle/>
          <a:p>
            <a:pPr algn="l"/>
            <a:r>
              <a:rPr sz="1400" b="1" i="0">
                <a:solidFill>
                  <a:srgbClr val="1A56DB"/>
                </a:solidFill>
              </a:rPr>
              <a:t>→</a:t>
            </a:r>
          </a:p>
        </p:txBody>
      </p:sp>
      <p:sp>
        <p:nvSpPr>
          <p:cNvPr id="13" name="Rectangle 12"/>
          <p:cNvSpPr/>
          <p:nvPr/>
        </p:nvSpPr>
        <p:spPr>
          <a:xfrm>
            <a:off x="5029200" y="1234440"/>
            <a:ext cx="2103120" cy="59436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1234440"/>
            <a:ext cx="2103120" cy="594360"/>
          </a:xfrm>
          <a:prstGeom prst="rect">
            <a:avLst/>
          </a:prstGeom>
          <a:noFill/>
        </p:spPr>
        <p:txBody>
          <a:bodyPr wrap="square">
            <a:spAutoFit/>
          </a:bodyPr>
          <a:lstStyle/>
          <a:p>
            <a:pPr algn="ctr"/>
            <a:r>
              <a:rPr sz="1000" b="1" i="0">
                <a:solidFill>
                  <a:srgbClr val="FFFFFF"/>
                </a:solidFill>
              </a:rPr>
              <a:t>ラベル
作成・取付</a:t>
            </a:r>
          </a:p>
        </p:txBody>
      </p:sp>
      <p:sp>
        <p:nvSpPr>
          <p:cNvPr id="15" name="TextBox 14"/>
          <p:cNvSpPr txBox="1"/>
          <p:nvPr/>
        </p:nvSpPr>
        <p:spPr>
          <a:xfrm>
            <a:off x="7132320" y="1389888"/>
            <a:ext cx="228600" cy="274320"/>
          </a:xfrm>
          <a:prstGeom prst="rect">
            <a:avLst/>
          </a:prstGeom>
          <a:noFill/>
        </p:spPr>
        <p:txBody>
          <a:bodyPr wrap="square">
            <a:spAutoFit/>
          </a:bodyPr>
          <a:lstStyle/>
          <a:p>
            <a:pPr algn="l"/>
            <a:r>
              <a:rPr sz="1400" b="1" i="0">
                <a:solidFill>
                  <a:srgbClr val="1A56DB"/>
                </a:solidFill>
              </a:rPr>
              <a:t>→</a:t>
            </a:r>
          </a:p>
        </p:txBody>
      </p:sp>
      <p:sp>
        <p:nvSpPr>
          <p:cNvPr id="16" name="Rectangle 15"/>
          <p:cNvSpPr/>
          <p:nvPr/>
        </p:nvSpPr>
        <p:spPr>
          <a:xfrm>
            <a:off x="7360920" y="1234440"/>
            <a:ext cx="2103120" cy="59436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60920" y="1234440"/>
            <a:ext cx="2103120" cy="594360"/>
          </a:xfrm>
          <a:prstGeom prst="rect">
            <a:avLst/>
          </a:prstGeom>
          <a:noFill/>
        </p:spPr>
        <p:txBody>
          <a:bodyPr wrap="square">
            <a:spAutoFit/>
          </a:bodyPr>
          <a:lstStyle/>
          <a:p>
            <a:pPr algn="ctr"/>
            <a:r>
              <a:rPr sz="1000" b="1" i="0">
                <a:solidFill>
                  <a:srgbClr val="FFFFFF"/>
                </a:solidFill>
              </a:rPr>
              <a:t>FBA納品
販売開始</a:t>
            </a:r>
          </a:p>
        </p:txBody>
      </p:sp>
      <p:sp>
        <p:nvSpPr>
          <p:cNvPr id="18" name="TextBox 17"/>
          <p:cNvSpPr txBox="1"/>
          <p:nvPr/>
        </p:nvSpPr>
        <p:spPr>
          <a:xfrm>
            <a:off x="9464040" y="1389888"/>
            <a:ext cx="228600" cy="274320"/>
          </a:xfrm>
          <a:prstGeom prst="rect">
            <a:avLst/>
          </a:prstGeom>
          <a:noFill/>
        </p:spPr>
        <p:txBody>
          <a:bodyPr wrap="square">
            <a:spAutoFit/>
          </a:bodyPr>
          <a:lstStyle/>
          <a:p>
            <a:pPr algn="l"/>
            <a:r>
              <a:rPr sz="1400" b="1" i="0">
                <a:solidFill>
                  <a:srgbClr val="1A56DB"/>
                </a:solidFill>
              </a:rPr>
              <a:t>→</a:t>
            </a:r>
          </a:p>
        </p:txBody>
      </p:sp>
      <p:sp>
        <p:nvSpPr>
          <p:cNvPr id="19" name="Rectangle 18"/>
          <p:cNvSpPr/>
          <p:nvPr/>
        </p:nvSpPr>
        <p:spPr>
          <a:xfrm>
            <a:off x="9692640" y="1234440"/>
            <a:ext cx="2103120" cy="59436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0" y="1234440"/>
            <a:ext cx="2103120" cy="594360"/>
          </a:xfrm>
          <a:prstGeom prst="rect">
            <a:avLst/>
          </a:prstGeom>
          <a:noFill/>
        </p:spPr>
        <p:txBody>
          <a:bodyPr wrap="square">
            <a:spAutoFit/>
          </a:bodyPr>
          <a:lstStyle/>
          <a:p>
            <a:pPr algn="ctr"/>
            <a:r>
              <a:rPr sz="1000" b="1" i="0">
                <a:solidFill>
                  <a:srgbClr val="FFFFFF"/>
                </a:solidFill>
              </a:rPr>
              <a:t>継続
運用</a:t>
            </a:r>
          </a:p>
        </p:txBody>
      </p:sp>
      <p:graphicFrame>
        <p:nvGraphicFramePr>
          <p:cNvPr id="21" name="Table 20"/>
          <p:cNvGraphicFramePr>
            <a:graphicFrameLocks noGrp="1"/>
          </p:cNvGraphicFramePr>
          <p:nvPr/>
        </p:nvGraphicFramePr>
        <p:xfrm>
          <a:off x="365760" y="1920240"/>
          <a:ext cx="11430000" cy="2084832"/>
        </p:xfrm>
        <a:graphic>
          <a:graphicData uri="http://schemas.openxmlformats.org/drawingml/2006/table">
            <a:tbl>
              <a:tblPr firstRow="1" bandRow="1">
                <a:tableStyleId>{5C22544A-7EE6-4342-B048-85BDC9FD1C3A}</a:tableStyleId>
              </a:tblPr>
              <a:tblGrid>
                <a:gridCol w="1828800"/>
                <a:gridCol w="1188720"/>
                <a:gridCol w="8412480"/>
              </a:tblGrid>
              <a:tr h="347472">
                <a:tc>
                  <a:txBody>
                    <a:bodyPr wrap="square"/>
                    <a:lstStyle/>
                    <a:p>
                      <a:pPr algn="l"/>
                      <a:r>
                        <a:rPr sz="800" b="1">
                          <a:solidFill>
                            <a:srgbClr val="FFFFFF"/>
                          </a:solidFill>
                        </a:rPr>
                        <a:t>フェーズ</a:t>
                      </a:r>
                    </a:p>
                  </a:txBody>
                  <a:tcPr>
                    <a:solidFill>
                      <a:srgbClr val="1A56DB"/>
                    </a:solidFill>
                  </a:tcPr>
                </a:tc>
                <a:tc>
                  <a:txBody>
                    <a:bodyPr wrap="square"/>
                    <a:lstStyle/>
                    <a:p>
                      <a:pPr algn="l"/>
                      <a:r>
                        <a:rPr sz="800" b="1">
                          <a:solidFill>
                            <a:srgbClr val="FFFFFF"/>
                          </a:solidFill>
                        </a:rPr>
                        <a:t>所要期間</a:t>
                      </a:r>
                    </a:p>
                  </a:txBody>
                  <a:tcPr>
                    <a:solidFill>
                      <a:srgbClr val="1A56DB"/>
                    </a:solidFill>
                  </a:tcPr>
                </a:tc>
                <a:tc>
                  <a:txBody>
                    <a:bodyPr wrap="square"/>
                    <a:lstStyle/>
                    <a:p>
                      <a:pPr algn="l"/>
                      <a:r>
                        <a:rPr sz="800" b="1">
                          <a:solidFill>
                            <a:srgbClr val="FFFFFF"/>
                          </a:solidFill>
                        </a:rPr>
                        <a:t>主な実施事項（チェックリスト）</a:t>
                      </a:r>
                    </a:p>
                  </a:txBody>
                  <a:tcPr>
                    <a:solidFill>
                      <a:srgbClr val="1A56DB"/>
                    </a:solidFill>
                  </a:tcPr>
                </a:tc>
              </a:tr>
              <a:tr h="347472">
                <a:tc>
                  <a:txBody>
                    <a:bodyPr wrap="square"/>
                    <a:lstStyle/>
                    <a:p>
                      <a:pPr algn="l"/>
                      <a:r>
                        <a:rPr sz="800" b="0">
                          <a:solidFill>
                            <a:srgbClr val="222222"/>
                          </a:solidFill>
                        </a:rPr>
                        <a:t>企画・調査</a:t>
                      </a:r>
                    </a:p>
                  </a:txBody>
                  <a:tcPr>
                    <a:solidFill>
                      <a:srgbClr val="FFFFFF"/>
                    </a:solidFill>
                  </a:tcPr>
                </a:tc>
                <a:tc>
                  <a:txBody>
                    <a:bodyPr wrap="square"/>
                    <a:lstStyle/>
                    <a:p>
                      <a:pPr algn="l"/>
                      <a:r>
                        <a:rPr sz="800" b="0">
                          <a:solidFill>
                            <a:srgbClr val="222222"/>
                          </a:solidFill>
                        </a:rPr>
                        <a:t>1〜2週間</a:t>
                      </a:r>
                    </a:p>
                  </a:txBody>
                  <a:tcPr>
                    <a:solidFill>
                      <a:srgbClr val="FFFFFF"/>
                    </a:solidFill>
                  </a:tcPr>
                </a:tc>
                <a:tc>
                  <a:txBody>
                    <a:bodyPr wrap="square"/>
                    <a:lstStyle/>
                    <a:p>
                      <a:pPr algn="l"/>
                      <a:r>
                        <a:rPr sz="800" b="0">
                          <a:solidFill>
                            <a:srgbClr val="222222"/>
                          </a:solidFill>
                        </a:rPr>
                        <a:t>□ 保冷バッグの素材・構造を工場に確認（原料樹脂・食品接触部の有無）
□ 必要な試験項目を特定（耐熱・耐冷温度試験、保冷性能試験、食品衛生試験）
□ 検査機関（カケン・ボーケン・ニッセンケン等）に見積もり依頼</a:t>
                      </a:r>
                    </a:p>
                  </a:txBody>
                  <a:tcPr>
                    <a:solidFill>
                      <a:srgbClr val="FFFFFF"/>
                    </a:solidFill>
                  </a:tcPr>
                </a:tc>
              </a:tr>
              <a:tr h="347472">
                <a:tc>
                  <a:txBody>
                    <a:bodyPr wrap="square"/>
                    <a:lstStyle/>
                    <a:p>
                      <a:pPr algn="l"/>
                      <a:r>
                        <a:rPr sz="800" b="0">
                          <a:solidFill>
                            <a:srgbClr val="222222"/>
                          </a:solidFill>
                        </a:rPr>
                        <a:t>サンプル取得
・検査</a:t>
                      </a:r>
                    </a:p>
                  </a:txBody>
                  <a:tcPr>
                    <a:solidFill>
                      <a:srgbClr val="F8FAFC"/>
                    </a:solidFill>
                  </a:tcPr>
                </a:tc>
                <a:tc>
                  <a:txBody>
                    <a:bodyPr wrap="square"/>
                    <a:lstStyle/>
                    <a:p>
                      <a:pPr algn="l"/>
                      <a:r>
                        <a:rPr sz="800" b="0">
                          <a:solidFill>
                            <a:srgbClr val="222222"/>
                          </a:solidFill>
                        </a:rPr>
                        <a:t>3〜4週間</a:t>
                      </a:r>
                    </a:p>
                  </a:txBody>
                  <a:tcPr>
                    <a:solidFill>
                      <a:srgbClr val="F8FAFC"/>
                    </a:solidFill>
                  </a:tcPr>
                </a:tc>
                <a:tc>
                  <a:txBody>
                    <a:bodyPr wrap="square"/>
                    <a:lstStyle/>
                    <a:p>
                      <a:pPr algn="l"/>
                      <a:r>
                        <a:rPr sz="800" b="0">
                          <a:solidFill>
                            <a:srgbClr val="222222"/>
                          </a:solidFill>
                        </a:rPr>
                        <a:t>□ 量産同等サンプルを3〜5個取得する
□ 合成樹脂加工品試験（耐熱・耐冷温度）を実施（費用目安：¥10,000〜20,000/件）
□ 食品衛生試験（PL適合確認）を依頼またはメーカー証明書を取得
□ 保冷性能試験を実施（費用目安：¥15,000〜30,000/件）
□ 試験成績書・適合証明書を受領・保管する</a:t>
                      </a:r>
                    </a:p>
                  </a:txBody>
                  <a:tcPr>
                    <a:solidFill>
                      <a:srgbClr val="F8FAFC"/>
                    </a:solidFill>
                  </a:tcPr>
                </a:tc>
              </a:tr>
              <a:tr h="347472">
                <a:tc>
                  <a:txBody>
                    <a:bodyPr wrap="square"/>
                    <a:lstStyle/>
                    <a:p>
                      <a:pPr algn="l"/>
                      <a:r>
                        <a:rPr sz="800" b="0">
                          <a:solidFill>
                            <a:srgbClr val="222222"/>
                          </a:solidFill>
                        </a:rPr>
                        <a:t>ラベル作成
・取付</a:t>
                      </a:r>
                    </a:p>
                  </a:txBody>
                  <a:tcPr>
                    <a:solidFill>
                      <a:srgbClr val="FFFFFF"/>
                    </a:solidFill>
                  </a:tcPr>
                </a:tc>
                <a:tc>
                  <a:txBody>
                    <a:bodyPr wrap="square"/>
                    <a:lstStyle/>
                    <a:p>
                      <a:pPr algn="l"/>
                      <a:r>
                        <a:rPr sz="800" b="0">
                          <a:solidFill>
                            <a:srgbClr val="222222"/>
                          </a:solidFill>
                        </a:rPr>
                        <a:t>1〜2週間</a:t>
                      </a:r>
                    </a:p>
                  </a:txBody>
                  <a:tcPr>
                    <a:solidFill>
                      <a:srgbClr val="FFFFFF"/>
                    </a:solidFill>
                  </a:tcPr>
                </a:tc>
                <a:tc>
                  <a:txBody>
                    <a:bodyPr wrap="square"/>
                    <a:lstStyle/>
                    <a:p>
                      <a:pPr algn="l"/>
                      <a:r>
                        <a:rPr sz="800" b="0">
                          <a:solidFill>
                            <a:srgbClr val="222222"/>
                          </a:solidFill>
                        </a:rPr>
                        <a:t>□ 試験結果に基づきラベル記載内容を確定する
□ ラベル印刷を発注（JIS規格対応・日本語）
□ 中国工場または代行業者にラベル貼付を指示する
□ 取付済みサンプルの写真で内容・位置・向きを確認する</a:t>
                      </a:r>
                    </a:p>
                  </a:txBody>
                  <a:tcPr>
                    <a:solidFill>
                      <a:srgbClr val="FFFFFF"/>
                    </a:solidFill>
                  </a:tcPr>
                </a:tc>
              </a:tr>
              <a:tr h="347472">
                <a:tc>
                  <a:txBody>
                    <a:bodyPr wrap="square"/>
                    <a:lstStyle/>
                    <a:p>
                      <a:pPr algn="l"/>
                      <a:r>
                        <a:rPr sz="800" b="0">
                          <a:solidFill>
                            <a:srgbClr val="222222"/>
                          </a:solidFill>
                        </a:rPr>
                        <a:t>FBA納品
・販売開始</a:t>
                      </a:r>
                    </a:p>
                  </a:txBody>
                  <a:tcPr>
                    <a:solidFill>
                      <a:srgbClr val="F8FAFC"/>
                    </a:solidFill>
                  </a:tcPr>
                </a:tc>
                <a:tc>
                  <a:txBody>
                    <a:bodyPr wrap="square"/>
                    <a:lstStyle/>
                    <a:p>
                      <a:pPr algn="l"/>
                      <a:r>
                        <a:rPr sz="800" b="0">
                          <a:solidFill>
                            <a:srgbClr val="222222"/>
                          </a:solidFill>
                        </a:rPr>
                        <a:t>1〜2週間</a:t>
                      </a:r>
                    </a:p>
                  </a:txBody>
                  <a:tcPr>
                    <a:solidFill>
                      <a:srgbClr val="F8FAFC"/>
                    </a:solidFill>
                  </a:tcPr>
                </a:tc>
                <a:tc>
                  <a:txBody>
                    <a:bodyPr wrap="square"/>
                    <a:lstStyle/>
                    <a:p>
                      <a:pPr algn="l"/>
                      <a:r>
                        <a:rPr sz="800" b="0">
                          <a:solidFill>
                            <a:srgbClr val="222222"/>
                          </a:solidFill>
                        </a:rPr>
                        <a:t>□ FBA納品前に検品を実施（ラベル有無・内容・貼付状態）
□ 食品等輸入届出を提出する
□ Amazon商品ページの表示内容をラベル・試験成績書と照合する
□ 商品ページに試験方法・試験機関名を注記する
□ 「表示内容管理シート」に記載内容を記録する</a:t>
                      </a:r>
                    </a:p>
                  </a:txBody>
                  <a:tcPr>
                    <a:solidFill>
                      <a:srgbClr val="F8FAFC"/>
                    </a:solidFill>
                  </a:tcPr>
                </a:tc>
              </a:tr>
              <a:tr h="347472">
                <a:tc>
                  <a:txBody>
                    <a:bodyPr wrap="square"/>
                    <a:lstStyle/>
                    <a:p>
                      <a:pPr algn="l"/>
                      <a:r>
                        <a:rPr sz="800" b="0">
                          <a:solidFill>
                            <a:srgbClr val="222222"/>
                          </a:solidFill>
                        </a:rPr>
                        <a:t>継続運用</a:t>
                      </a:r>
                    </a:p>
                  </a:txBody>
                  <a:tcPr>
                    <a:solidFill>
                      <a:srgbClr val="FFFFFF"/>
                    </a:solidFill>
                  </a:tcPr>
                </a:tc>
                <a:tc>
                  <a:txBody>
                    <a:bodyPr wrap="square"/>
                    <a:lstStyle/>
                    <a:p>
                      <a:pPr algn="l"/>
                      <a:r>
                        <a:rPr sz="800" b="0">
                          <a:solidFill>
                            <a:srgbClr val="222222"/>
                          </a:solidFill>
                        </a:rPr>
                        <a:t>継続</a:t>
                      </a:r>
                    </a:p>
                  </a:txBody>
                  <a:tcPr>
                    <a:solidFill>
                      <a:srgbClr val="FFFFFF"/>
                    </a:solidFill>
                  </a:tcPr>
                </a:tc>
                <a:tc>
                  <a:txBody>
                    <a:bodyPr wrap="square"/>
                    <a:lstStyle/>
                    <a:p>
                      <a:pPr algn="l"/>
                      <a:r>
                        <a:rPr sz="800" b="0">
                          <a:solidFill>
                            <a:srgbClr val="222222"/>
                          </a:solidFill>
                        </a:rPr>
                        <a:t>□ 年1回（毎年4月）に法改正・規程改正をチェックする
□ 仕入先・素材変更時は全試験・証明書を再取得する
□ 試験成績書・検品記録・適合証明書を販売終了後3年間保管する</a:t>
                      </a:r>
                    </a:p>
                  </a:txBody>
                  <a:tcPr>
                    <a:solidFill>
                      <a:srgbClr val="FFFFFF"/>
                    </a:solidFill>
                  </a:tcPr>
                </a:tc>
              </a:tr>
            </a:tbl>
          </a:graphicData>
        </a:graphic>
      </p:graphicFrame>
      <p:sp>
        <p:nvSpPr>
          <p:cNvPr id="22" name="Rectangle 21"/>
          <p:cNvSpPr/>
          <p:nvPr/>
        </p:nvSpPr>
        <p:spPr>
          <a:xfrm>
            <a:off x="0" y="6537960"/>
            <a:ext cx="12188952"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6565392"/>
            <a:ext cx="9144000" cy="256032"/>
          </a:xfrm>
          <a:prstGeom prst="rect">
            <a:avLst/>
          </a:prstGeom>
          <a:noFill/>
        </p:spPr>
        <p:txBody>
          <a:bodyPr wrap="square">
            <a:spAutoFit/>
          </a:bodyPr>
          <a:lstStyle/>
          <a:p>
            <a:pPr algn="l"/>
            <a:r>
              <a:rPr sz="800" b="0" i="0">
                <a:solidFill>
                  <a:srgbClr val="6B7280"/>
                </a:solidFill>
              </a:rPr>
              <a:t>保冷バッグ Amazon輸入 品質表示法対応 提案書  ©貴社名</a:t>
            </a:r>
          </a:p>
        </p:txBody>
      </p:sp>
      <p:sp>
        <p:nvSpPr>
          <p:cNvPr id="24" name="TextBox 23"/>
          <p:cNvSpPr txBox="1"/>
          <p:nvPr/>
        </p:nvSpPr>
        <p:spPr>
          <a:xfrm>
            <a:off x="11247120" y="6565392"/>
            <a:ext cx="914400" cy="256032"/>
          </a:xfrm>
          <a:prstGeom prst="rect">
            <a:avLst/>
          </a:prstGeom>
          <a:noFill/>
        </p:spPr>
        <p:txBody>
          <a:bodyPr wrap="square">
            <a:spAutoFit/>
          </a:bodyPr>
          <a:lstStyle/>
          <a:p>
            <a:pPr algn="r"/>
            <a:r>
              <a:rPr sz="800" b="0" i="0">
                <a:solidFill>
                  <a:srgbClr val="6B7280"/>
                </a:solidFill>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029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10972800" cy="384048"/>
          </a:xfrm>
          <a:prstGeom prst="rect">
            <a:avLst/>
          </a:prstGeom>
          <a:noFill/>
        </p:spPr>
        <p:txBody>
          <a:bodyPr wrap="square">
            <a:spAutoFit/>
          </a:bodyPr>
          <a:lstStyle/>
          <a:p>
            <a:pPr algn="l"/>
            <a:r>
              <a:rPr sz="1100" b="1" i="0">
                <a:solidFill>
                  <a:srgbClr val="FFFFFF"/>
                </a:solidFill>
              </a:rPr>
              <a:t>10. コスト・ROI試算</a:t>
            </a:r>
          </a:p>
        </p:txBody>
      </p:sp>
      <p:sp>
        <p:nvSpPr>
          <p:cNvPr id="4" name="TextBox 3"/>
          <p:cNvSpPr txBox="1"/>
          <p:nvPr/>
        </p:nvSpPr>
        <p:spPr>
          <a:xfrm>
            <a:off x="365760" y="566928"/>
            <a:ext cx="11430000" cy="502920"/>
          </a:xfrm>
          <a:prstGeom prst="rect">
            <a:avLst/>
          </a:prstGeom>
          <a:noFill/>
        </p:spPr>
        <p:txBody>
          <a:bodyPr wrap="square">
            <a:spAutoFit/>
          </a:bodyPr>
          <a:lstStyle/>
          <a:p>
            <a:pPr algn="l"/>
            <a:r>
              <a:rPr sz="1800" b="1" i="0">
                <a:solidFill>
                  <a:srgbClr val="1E3A5F"/>
                </a:solidFill>
              </a:rPr>
              <a:t>コスト試算と投資対効果  ★必須スライド</a:t>
            </a:r>
          </a:p>
        </p:txBody>
      </p:sp>
      <p:sp>
        <p:nvSpPr>
          <p:cNvPr id="5" name="Rectangle 4"/>
          <p:cNvSpPr/>
          <p:nvPr/>
        </p:nvSpPr>
        <p:spPr>
          <a:xfrm>
            <a:off x="365760" y="1115568"/>
            <a:ext cx="11457432" cy="36576"/>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73152"/>
            <a:ext cx="1280160" cy="320040"/>
          </a:xfrm>
          <a:prstGeom prst="rect">
            <a:avLst/>
          </a:prstGeom>
          <a:solidFill>
            <a:srgbClr val="FEF3C7"/>
          </a:solidFill>
        </p:spPr>
        <p:txBody>
          <a:bodyPr wrap="square">
            <a:spAutoFit/>
          </a:bodyPr>
          <a:lstStyle/>
          <a:p>
            <a:pPr algn="ctr"/>
            <a:r>
              <a:rPr sz="800" b="1" i="0">
                <a:solidFill>
                  <a:srgbClr val="924009"/>
                </a:solidFill>
              </a:rPr>
              <a:t>[検討中]</a:t>
            </a:r>
          </a:p>
        </p:txBody>
      </p:sp>
      <p:sp>
        <p:nvSpPr>
          <p:cNvPr id="7" name="TextBox 6"/>
          <p:cNvSpPr txBox="1"/>
          <p:nvPr/>
        </p:nvSpPr>
        <p:spPr>
          <a:xfrm>
            <a:off x="365760" y="1234440"/>
            <a:ext cx="11430000" cy="256032"/>
          </a:xfrm>
          <a:prstGeom prst="rect">
            <a:avLst/>
          </a:prstGeom>
          <a:solidFill>
            <a:srgbClr val="F8FAFC"/>
          </a:solidFill>
        </p:spPr>
        <p:txBody>
          <a:bodyPr wrap="square">
            <a:spAutoFit/>
          </a:bodyPr>
          <a:lstStyle/>
          <a:p>
            <a:pPr algn="l"/>
            <a:r>
              <a:rPr sz="850" b="0" i="0">
                <a:solidFill>
                  <a:srgbClr val="222222"/>
                </a:solidFill>
              </a:rPr>
              <a:t>前提：月間販売数500個、仕入原価¥300〜600/個（中国工場）、Amazon販売価格¥1,800〜3,000/個、FBA手数料：販売価格の約15%＋発送代行¥450/個（中サイズ）</a:t>
            </a:r>
          </a:p>
        </p:txBody>
      </p:sp>
      <p:sp>
        <p:nvSpPr>
          <p:cNvPr id="8" name="TextBox 7"/>
          <p:cNvSpPr txBox="1"/>
          <p:nvPr/>
        </p:nvSpPr>
        <p:spPr>
          <a:xfrm>
            <a:off x="365760" y="1600200"/>
            <a:ext cx="5486400" cy="256032"/>
          </a:xfrm>
          <a:prstGeom prst="rect">
            <a:avLst/>
          </a:prstGeom>
          <a:noFill/>
        </p:spPr>
        <p:txBody>
          <a:bodyPr wrap="square">
            <a:spAutoFit/>
          </a:bodyPr>
          <a:lstStyle/>
          <a:p>
            <a:pPr algn="l"/>
            <a:r>
              <a:rPr sz="950" b="1" i="0">
                <a:solidFill>
                  <a:srgbClr val="1E3A5F"/>
                </a:solidFill>
              </a:rPr>
              <a:t>■ 初期コスト（1回のみ）</a:t>
            </a:r>
          </a:p>
        </p:txBody>
      </p:sp>
      <p:graphicFrame>
        <p:nvGraphicFramePr>
          <p:cNvPr id="9" name="Table 8"/>
          <p:cNvGraphicFramePr>
            <a:graphicFrameLocks noGrp="1"/>
          </p:cNvGraphicFramePr>
          <p:nvPr/>
        </p:nvGraphicFramePr>
        <p:xfrm>
          <a:off x="365760" y="1901952"/>
          <a:ext cx="5577840" cy="2084832"/>
        </p:xfrm>
        <a:graphic>
          <a:graphicData uri="http://schemas.openxmlformats.org/drawingml/2006/table">
            <a:tbl>
              <a:tblPr firstRow="1" bandRow="1">
                <a:tableStyleId>{5C22544A-7EE6-4342-B048-85BDC9FD1C3A}</a:tableStyleId>
              </a:tblPr>
              <a:tblGrid>
                <a:gridCol w="2560320"/>
                <a:gridCol w="1371600"/>
                <a:gridCol w="1645920"/>
              </a:tblGrid>
              <a:tr h="347472">
                <a:tc>
                  <a:txBody>
                    <a:bodyPr wrap="square"/>
                    <a:lstStyle/>
                    <a:p>
                      <a:pPr algn="l"/>
                      <a:r>
                        <a:rPr sz="800" b="1">
                          <a:solidFill>
                            <a:srgbClr val="FFFFFF"/>
                          </a:solidFill>
                        </a:rPr>
                        <a:t>費目</a:t>
                      </a:r>
                    </a:p>
                  </a:txBody>
                  <a:tcPr>
                    <a:solidFill>
                      <a:srgbClr val="1A56DB"/>
                    </a:solidFill>
                  </a:tcPr>
                </a:tc>
                <a:tc>
                  <a:txBody>
                    <a:bodyPr wrap="square"/>
                    <a:lstStyle/>
                    <a:p>
                      <a:pPr algn="l"/>
                      <a:r>
                        <a:rPr sz="800" b="1">
                          <a:solidFill>
                            <a:srgbClr val="FFFFFF"/>
                          </a:solidFill>
                        </a:rPr>
                        <a:t>金額（税別）</a:t>
                      </a:r>
                    </a:p>
                  </a:txBody>
                  <a:tcPr>
                    <a:solidFill>
                      <a:srgbClr val="1A56DB"/>
                    </a:solidFill>
                  </a:tcPr>
                </a:tc>
                <a:tc>
                  <a:txBody>
                    <a:bodyPr wrap="square"/>
                    <a:lstStyle/>
                    <a:p>
                      <a:pPr algn="l"/>
                      <a:r>
                        <a:rPr sz="800" b="1">
                          <a:solidFill>
                            <a:srgbClr val="FFFFFF"/>
                          </a:solidFill>
                        </a:rPr>
                        <a:t>備考</a:t>
                      </a:r>
                    </a:p>
                  </a:txBody>
                  <a:tcPr>
                    <a:solidFill>
                      <a:srgbClr val="1A56DB"/>
                    </a:solidFill>
                  </a:tcPr>
                </a:tc>
              </a:tr>
              <a:tr h="347472">
                <a:tc>
                  <a:txBody>
                    <a:bodyPr wrap="square"/>
                    <a:lstStyle/>
                    <a:p>
                      <a:pPr algn="l"/>
                      <a:r>
                        <a:rPr sz="800" b="0">
                          <a:solidFill>
                            <a:srgbClr val="222222"/>
                          </a:solidFill>
                        </a:rPr>
                        <a:t>合成樹脂加工品試験（耐熱・耐冷温度）</a:t>
                      </a:r>
                    </a:p>
                  </a:txBody>
                  <a:tcPr>
                    <a:solidFill>
                      <a:srgbClr val="FFFFFF"/>
                    </a:solidFill>
                  </a:tcPr>
                </a:tc>
                <a:tc>
                  <a:txBody>
                    <a:bodyPr wrap="square"/>
                    <a:lstStyle/>
                    <a:p>
                      <a:pPr algn="l"/>
                      <a:r>
                        <a:rPr sz="800" b="0">
                          <a:solidFill>
                            <a:srgbClr val="222222"/>
                          </a:solidFill>
                        </a:rPr>
                        <a:t>¥10,000〜20,000</a:t>
                      </a:r>
                    </a:p>
                  </a:txBody>
                  <a:tcPr>
                    <a:solidFill>
                      <a:srgbClr val="FFFFFF"/>
                    </a:solidFill>
                  </a:tcPr>
                </a:tc>
                <a:tc>
                  <a:txBody>
                    <a:bodyPr wrap="square"/>
                    <a:lstStyle/>
                    <a:p>
                      <a:pPr algn="l"/>
                      <a:r>
                        <a:rPr sz="800" b="0">
                          <a:solidFill>
                            <a:srgbClr val="222222"/>
                          </a:solidFill>
                        </a:rPr>
                        <a:t>カケン・ボーケン等</a:t>
                      </a:r>
                    </a:p>
                  </a:txBody>
                  <a:tcPr>
                    <a:solidFill>
                      <a:srgbClr val="FFFFFF"/>
                    </a:solidFill>
                  </a:tcPr>
                </a:tc>
              </a:tr>
              <a:tr h="347472">
                <a:tc>
                  <a:txBody>
                    <a:bodyPr wrap="square"/>
                    <a:lstStyle/>
                    <a:p>
                      <a:pPr algn="l"/>
                      <a:r>
                        <a:rPr sz="800" b="0">
                          <a:solidFill>
                            <a:srgbClr val="222222"/>
                          </a:solidFill>
                        </a:rPr>
                        <a:t>食品衛生試験（PL適合確認）</a:t>
                      </a:r>
                    </a:p>
                  </a:txBody>
                  <a:tcPr>
                    <a:solidFill>
                      <a:srgbClr val="F8FAFC"/>
                    </a:solidFill>
                  </a:tcPr>
                </a:tc>
                <a:tc>
                  <a:txBody>
                    <a:bodyPr wrap="square"/>
                    <a:lstStyle/>
                    <a:p>
                      <a:pPr algn="l"/>
                      <a:r>
                        <a:rPr sz="800" b="0">
                          <a:solidFill>
                            <a:srgbClr val="222222"/>
                          </a:solidFill>
                        </a:rPr>
                        <a:t>¥20,000〜40,000</a:t>
                      </a:r>
                    </a:p>
                  </a:txBody>
                  <a:tcPr>
                    <a:solidFill>
                      <a:srgbClr val="F8FAFC"/>
                    </a:solidFill>
                  </a:tcPr>
                </a:tc>
                <a:tc>
                  <a:txBody>
                    <a:bodyPr wrap="square"/>
                    <a:lstStyle/>
                    <a:p>
                      <a:pPr algn="l"/>
                      <a:r>
                        <a:rPr sz="800" b="0">
                          <a:solidFill>
                            <a:srgbClr val="222222"/>
                          </a:solidFill>
                        </a:rPr>
                        <a:t>素材ごとに必要</a:t>
                      </a:r>
                    </a:p>
                  </a:txBody>
                  <a:tcPr>
                    <a:solidFill>
                      <a:srgbClr val="F8FAFC"/>
                    </a:solidFill>
                  </a:tcPr>
                </a:tc>
              </a:tr>
              <a:tr h="347472">
                <a:tc>
                  <a:txBody>
                    <a:bodyPr wrap="square"/>
                    <a:lstStyle/>
                    <a:p>
                      <a:pPr algn="l"/>
                      <a:r>
                        <a:rPr sz="800" b="0">
                          <a:solidFill>
                            <a:srgbClr val="222222"/>
                          </a:solidFill>
                        </a:rPr>
                        <a:t>保冷性能試験</a:t>
                      </a:r>
                    </a:p>
                  </a:txBody>
                  <a:tcPr>
                    <a:solidFill>
                      <a:srgbClr val="FFFFFF"/>
                    </a:solidFill>
                  </a:tcPr>
                </a:tc>
                <a:tc>
                  <a:txBody>
                    <a:bodyPr wrap="square"/>
                    <a:lstStyle/>
                    <a:p>
                      <a:pPr algn="l"/>
                      <a:r>
                        <a:rPr sz="800" b="0">
                          <a:solidFill>
                            <a:srgbClr val="222222"/>
                          </a:solidFill>
                        </a:rPr>
                        <a:t>¥15,000〜30,000</a:t>
                      </a:r>
                    </a:p>
                  </a:txBody>
                  <a:tcPr>
                    <a:solidFill>
                      <a:srgbClr val="FFFFFF"/>
                    </a:solidFill>
                  </a:tcPr>
                </a:tc>
                <a:tc>
                  <a:txBody>
                    <a:bodyPr wrap="square"/>
                    <a:lstStyle/>
                    <a:p>
                      <a:pPr algn="l"/>
                      <a:r>
                        <a:rPr sz="800" b="0">
                          <a:solidFill>
                            <a:srgbClr val="222222"/>
                          </a:solidFill>
                        </a:rPr>
                        <a:t>第三者機関で実施</a:t>
                      </a:r>
                    </a:p>
                  </a:txBody>
                  <a:tcPr>
                    <a:solidFill>
                      <a:srgbClr val="FFFFFF"/>
                    </a:solidFill>
                  </a:tcPr>
                </a:tc>
              </a:tr>
              <a:tr h="347472">
                <a:tc>
                  <a:txBody>
                    <a:bodyPr wrap="square"/>
                    <a:lstStyle/>
                    <a:p>
                      <a:pPr algn="l"/>
                      <a:r>
                        <a:rPr sz="800" b="0">
                          <a:solidFill>
                            <a:srgbClr val="222222"/>
                          </a:solidFill>
                        </a:rPr>
                        <a:t>ラベルデザイン・版下作成</a:t>
                      </a:r>
                    </a:p>
                  </a:txBody>
                  <a:tcPr>
                    <a:solidFill>
                      <a:srgbClr val="F8FAFC"/>
                    </a:solidFill>
                  </a:tcPr>
                </a:tc>
                <a:tc>
                  <a:txBody>
                    <a:bodyPr wrap="square"/>
                    <a:lstStyle/>
                    <a:p>
                      <a:pPr algn="l"/>
                      <a:r>
                        <a:rPr sz="800" b="0">
                          <a:solidFill>
                            <a:srgbClr val="222222"/>
                          </a:solidFill>
                        </a:rPr>
                        <a:t>¥5,000〜15,000</a:t>
                      </a:r>
                    </a:p>
                  </a:txBody>
                  <a:tcPr>
                    <a:solidFill>
                      <a:srgbClr val="F8FAFC"/>
                    </a:solidFill>
                  </a:tcPr>
                </a:tc>
                <a:tc>
                  <a:txBody>
                    <a:bodyPr wrap="square"/>
                    <a:lstStyle/>
                    <a:p>
                      <a:pPr algn="l"/>
                      <a:r>
                        <a:rPr sz="800" b="0">
                          <a:solidFill>
                            <a:srgbClr val="222222"/>
                          </a:solidFill>
                        </a:rPr>
                        <a:t>印刷業者による</a:t>
                      </a:r>
                    </a:p>
                  </a:txBody>
                  <a:tcPr>
                    <a:solidFill>
                      <a:srgbClr val="F8FAFC"/>
                    </a:solidFill>
                  </a:tcPr>
                </a:tc>
              </a:tr>
              <a:tr h="347472">
                <a:tc>
                  <a:txBody>
                    <a:bodyPr wrap="square"/>
                    <a:lstStyle/>
                    <a:p>
                      <a:pPr algn="l"/>
                      <a:r>
                        <a:rPr sz="800" b="0">
                          <a:solidFill>
                            <a:srgbClr val="222222"/>
                          </a:solidFill>
                        </a:rPr>
                        <a:t>初期コスト合計</a:t>
                      </a:r>
                    </a:p>
                  </a:txBody>
                  <a:tcPr>
                    <a:solidFill>
                      <a:srgbClr val="FFFFFF"/>
                    </a:solidFill>
                  </a:tcPr>
                </a:tc>
                <a:tc>
                  <a:txBody>
                    <a:bodyPr wrap="square"/>
                    <a:lstStyle/>
                    <a:p>
                      <a:pPr algn="l"/>
                      <a:r>
                        <a:rPr sz="800" b="0">
                          <a:solidFill>
                            <a:srgbClr val="222222"/>
                          </a:solidFill>
                        </a:rPr>
                        <a:t>¥50,000〜105,000</a:t>
                      </a:r>
                    </a:p>
                  </a:txBody>
                  <a:tcPr>
                    <a:solidFill>
                      <a:srgbClr val="FFFFFF"/>
                    </a:solidFill>
                  </a:tcPr>
                </a:tc>
                <a:tc>
                  <a:txBody>
                    <a:bodyPr wrap="square"/>
                    <a:lstStyle/>
                    <a:p>
                      <a:pPr algn="l"/>
                      <a:r>
                        <a:rPr sz="800" b="0">
                          <a:solidFill>
                            <a:srgbClr val="222222"/>
                          </a:solidFill>
                        </a:rPr>
                        <a:t/>
                      </a:r>
                    </a:p>
                  </a:txBody>
                  <a:tcPr>
                    <a:solidFill>
                      <a:srgbClr val="FFFFFF"/>
                    </a:solidFill>
                  </a:tcPr>
                </a:tc>
              </a:tr>
            </a:tbl>
          </a:graphicData>
        </a:graphic>
      </p:graphicFrame>
      <p:sp>
        <p:nvSpPr>
          <p:cNvPr id="10" name="TextBox 9"/>
          <p:cNvSpPr txBox="1"/>
          <p:nvPr/>
        </p:nvSpPr>
        <p:spPr>
          <a:xfrm>
            <a:off x="6217920" y="1600200"/>
            <a:ext cx="5486400" cy="256032"/>
          </a:xfrm>
          <a:prstGeom prst="rect">
            <a:avLst/>
          </a:prstGeom>
          <a:noFill/>
        </p:spPr>
        <p:txBody>
          <a:bodyPr wrap="square">
            <a:spAutoFit/>
          </a:bodyPr>
          <a:lstStyle/>
          <a:p>
            <a:pPr algn="l"/>
            <a:r>
              <a:rPr sz="950" b="1" i="0">
                <a:solidFill>
                  <a:srgbClr val="1E3A5F"/>
                </a:solidFill>
              </a:rPr>
              <a:t>■ 1商品あたりの追加コスト（継続）</a:t>
            </a:r>
          </a:p>
        </p:txBody>
      </p:sp>
      <p:graphicFrame>
        <p:nvGraphicFramePr>
          <p:cNvPr id="11" name="Table 10"/>
          <p:cNvGraphicFramePr>
            <a:graphicFrameLocks noGrp="1"/>
          </p:cNvGraphicFramePr>
          <p:nvPr/>
        </p:nvGraphicFramePr>
        <p:xfrm>
          <a:off x="6217920" y="1901952"/>
          <a:ext cx="5303520" cy="2084832"/>
        </p:xfrm>
        <a:graphic>
          <a:graphicData uri="http://schemas.openxmlformats.org/drawingml/2006/table">
            <a:tbl>
              <a:tblPr firstRow="1" bandRow="1">
                <a:tableStyleId>{5C22544A-7EE6-4342-B048-85BDC9FD1C3A}</a:tableStyleId>
              </a:tblPr>
              <a:tblGrid>
                <a:gridCol w="3840480"/>
                <a:gridCol w="1463040"/>
              </a:tblGrid>
              <a:tr h="347472">
                <a:tc>
                  <a:txBody>
                    <a:bodyPr wrap="square"/>
                    <a:lstStyle/>
                    <a:p>
                      <a:pPr algn="l"/>
                      <a:r>
                        <a:rPr sz="800" b="1">
                          <a:solidFill>
                            <a:srgbClr val="FFFFFF"/>
                          </a:solidFill>
                        </a:rPr>
                        <a:t>費目</a:t>
                      </a:r>
                    </a:p>
                  </a:txBody>
                  <a:tcPr>
                    <a:solidFill>
                      <a:srgbClr val="1A56DB"/>
                    </a:solidFill>
                  </a:tcPr>
                </a:tc>
                <a:tc>
                  <a:txBody>
                    <a:bodyPr wrap="square"/>
                    <a:lstStyle/>
                    <a:p>
                      <a:pPr algn="l"/>
                      <a:r>
                        <a:rPr sz="800" b="1">
                          <a:solidFill>
                            <a:srgbClr val="FFFFFF"/>
                          </a:solidFill>
                        </a:rPr>
                        <a:t>単価</a:t>
                      </a:r>
                    </a:p>
                  </a:txBody>
                  <a:tcPr>
                    <a:solidFill>
                      <a:srgbClr val="1A56DB"/>
                    </a:solidFill>
                  </a:tcPr>
                </a:tc>
              </a:tr>
              <a:tr h="347472">
                <a:tc>
                  <a:txBody>
                    <a:bodyPr wrap="square"/>
                    <a:lstStyle/>
                    <a:p>
                      <a:pPr algn="l"/>
                      <a:r>
                        <a:rPr sz="800" b="0">
                          <a:solidFill>
                            <a:srgbClr val="222222"/>
                          </a:solidFill>
                        </a:rPr>
                        <a:t>ラベル印刷費</a:t>
                      </a:r>
                    </a:p>
                  </a:txBody>
                  <a:tcPr>
                    <a:solidFill>
                      <a:srgbClr val="FFFFFF"/>
                    </a:solidFill>
                  </a:tcPr>
                </a:tc>
                <a:tc>
                  <a:txBody>
                    <a:bodyPr wrap="square"/>
                    <a:lstStyle/>
                    <a:p>
                      <a:pPr algn="l"/>
                      <a:r>
                        <a:rPr sz="800" b="0">
                          <a:solidFill>
                            <a:srgbClr val="222222"/>
                          </a:solidFill>
                        </a:rPr>
                        <a:t>¥8〜15/個</a:t>
                      </a:r>
                    </a:p>
                  </a:txBody>
                  <a:tcPr>
                    <a:solidFill>
                      <a:srgbClr val="FFFFFF"/>
                    </a:solidFill>
                  </a:tcPr>
                </a:tc>
              </a:tr>
              <a:tr h="347472">
                <a:tc>
                  <a:txBody>
                    <a:bodyPr wrap="square"/>
                    <a:lstStyle/>
                    <a:p>
                      <a:pPr algn="l"/>
                      <a:r>
                        <a:rPr sz="800" b="0">
                          <a:solidFill>
                            <a:srgbClr val="222222"/>
                          </a:solidFill>
                        </a:rPr>
                        <a:t>ラベル貼付費（中国現地）</a:t>
                      </a:r>
                    </a:p>
                  </a:txBody>
                  <a:tcPr>
                    <a:solidFill>
                      <a:srgbClr val="F8FAFC"/>
                    </a:solidFill>
                  </a:tcPr>
                </a:tc>
                <a:tc>
                  <a:txBody>
                    <a:bodyPr wrap="square"/>
                    <a:lstStyle/>
                    <a:p>
                      <a:pPr algn="l"/>
                      <a:r>
                        <a:rPr sz="800" b="0">
                          <a:solidFill>
                            <a:srgbClr val="222222"/>
                          </a:solidFill>
                        </a:rPr>
                        <a:t>¥10〜20/個</a:t>
                      </a:r>
                    </a:p>
                  </a:txBody>
                  <a:tcPr>
                    <a:solidFill>
                      <a:srgbClr val="F8FAFC"/>
                    </a:solidFill>
                  </a:tcPr>
                </a:tc>
              </a:tr>
              <a:tr h="347472">
                <a:tc>
                  <a:txBody>
                    <a:bodyPr wrap="square"/>
                    <a:lstStyle/>
                    <a:p>
                      <a:pPr algn="l"/>
                      <a:r>
                        <a:rPr sz="800" b="0">
                          <a:solidFill>
                            <a:srgbClr val="222222"/>
                          </a:solidFill>
                        </a:rPr>
                        <a:t>検品費（ラベル確認）</a:t>
                      </a:r>
                    </a:p>
                  </a:txBody>
                  <a:tcPr>
                    <a:solidFill>
                      <a:srgbClr val="FFFFFF"/>
                    </a:solidFill>
                  </a:tcPr>
                </a:tc>
                <a:tc>
                  <a:txBody>
                    <a:bodyPr wrap="square"/>
                    <a:lstStyle/>
                    <a:p>
                      <a:pPr algn="l"/>
                      <a:r>
                        <a:rPr sz="800" b="0">
                          <a:solidFill>
                            <a:srgbClr val="222222"/>
                          </a:solidFill>
                        </a:rPr>
                        <a:t>¥10〜20/個</a:t>
                      </a:r>
                    </a:p>
                  </a:txBody>
                  <a:tcPr>
                    <a:solidFill>
                      <a:srgbClr val="FFFFFF"/>
                    </a:solidFill>
                  </a:tcPr>
                </a:tc>
              </a:tr>
              <a:tr h="347472">
                <a:tc>
                  <a:txBody>
                    <a:bodyPr wrap="square"/>
                    <a:lstStyle/>
                    <a:p>
                      <a:pPr algn="l"/>
                      <a:r>
                        <a:rPr sz="800" b="0">
                          <a:solidFill>
                            <a:srgbClr val="222222"/>
                          </a:solidFill>
                        </a:rPr>
                        <a:t>合計（中国貼付の場合）</a:t>
                      </a:r>
                    </a:p>
                  </a:txBody>
                  <a:tcPr>
                    <a:solidFill>
                      <a:srgbClr val="F8FAFC"/>
                    </a:solidFill>
                  </a:tcPr>
                </a:tc>
                <a:tc>
                  <a:txBody>
                    <a:bodyPr wrap="square"/>
                    <a:lstStyle/>
                    <a:p>
                      <a:pPr algn="l"/>
                      <a:r>
                        <a:rPr sz="800" b="0">
                          <a:solidFill>
                            <a:srgbClr val="222222"/>
                          </a:solidFill>
                        </a:rPr>
                        <a:t>約¥28〜55/個</a:t>
                      </a:r>
                    </a:p>
                  </a:txBody>
                  <a:tcPr>
                    <a:solidFill>
                      <a:srgbClr val="F8FAFC"/>
                    </a:solidFill>
                  </a:tcPr>
                </a:tc>
              </a:tr>
              <a:tr h="347472">
                <a:tc>
                  <a:txBody>
                    <a:bodyPr wrap="square"/>
                    <a:lstStyle/>
                    <a:p>
                      <a:pPr algn="l"/>
                      <a:r>
                        <a:rPr sz="800" b="0">
                          <a:solidFill>
                            <a:srgbClr val="222222"/>
                          </a:solidFill>
                        </a:rPr>
                        <a:t>合計（日本国内貼付の場合）</a:t>
                      </a:r>
                    </a:p>
                  </a:txBody>
                  <a:tcPr>
                    <a:solidFill>
                      <a:srgbClr val="FFFFFF"/>
                    </a:solidFill>
                  </a:tcPr>
                </a:tc>
                <a:tc>
                  <a:txBody>
                    <a:bodyPr wrap="square"/>
                    <a:lstStyle/>
                    <a:p>
                      <a:pPr algn="l"/>
                      <a:r>
                        <a:rPr sz="800" b="0">
                          <a:solidFill>
                            <a:srgbClr val="222222"/>
                          </a:solidFill>
                        </a:rPr>
                        <a:t>約¥70〜120/個</a:t>
                      </a:r>
                    </a:p>
                  </a:txBody>
                  <a:tcPr>
                    <a:solidFill>
                      <a:srgbClr val="FFFFFF"/>
                    </a:solidFill>
                  </a:tcPr>
                </a:tc>
              </a:tr>
            </a:tbl>
          </a:graphicData>
        </a:graphic>
      </p:graphicFrame>
      <p:sp>
        <p:nvSpPr>
          <p:cNvPr id="12" name="TextBox 11"/>
          <p:cNvSpPr txBox="1"/>
          <p:nvPr/>
        </p:nvSpPr>
        <p:spPr>
          <a:xfrm>
            <a:off x="365760" y="4572000"/>
            <a:ext cx="11430000" cy="256032"/>
          </a:xfrm>
          <a:prstGeom prst="rect">
            <a:avLst/>
          </a:prstGeom>
          <a:noFill/>
        </p:spPr>
        <p:txBody>
          <a:bodyPr wrap="square">
            <a:spAutoFit/>
          </a:bodyPr>
          <a:lstStyle/>
          <a:p>
            <a:pPr algn="l"/>
            <a:r>
              <a:rPr sz="950" b="1" i="0">
                <a:solidFill>
                  <a:srgbClr val="1E3A5F"/>
                </a:solidFill>
              </a:rPr>
              <a:t>■ 期待効果（定量）</a:t>
            </a:r>
          </a:p>
        </p:txBody>
      </p:sp>
      <p:graphicFrame>
        <p:nvGraphicFramePr>
          <p:cNvPr id="13" name="Table 12"/>
          <p:cNvGraphicFramePr>
            <a:graphicFrameLocks noGrp="1"/>
          </p:cNvGraphicFramePr>
          <p:nvPr/>
        </p:nvGraphicFramePr>
        <p:xfrm>
          <a:off x="365760" y="4873752"/>
          <a:ext cx="11338560" cy="1389888"/>
        </p:xfrm>
        <a:graphic>
          <a:graphicData uri="http://schemas.openxmlformats.org/drawingml/2006/table">
            <a:tbl>
              <a:tblPr firstRow="1" bandRow="1">
                <a:tableStyleId>{5C22544A-7EE6-4342-B048-85BDC9FD1C3A}</a:tableStyleId>
              </a:tblPr>
              <a:tblGrid>
                <a:gridCol w="3200400"/>
                <a:gridCol w="2743200"/>
                <a:gridCol w="5394960"/>
              </a:tblGrid>
              <a:tr h="347472">
                <a:tc>
                  <a:txBody>
                    <a:bodyPr wrap="square"/>
                    <a:lstStyle/>
                    <a:p>
                      <a:pPr algn="l"/>
                      <a:r>
                        <a:rPr sz="850" b="1">
                          <a:solidFill>
                            <a:srgbClr val="FFFFFF"/>
                          </a:solidFill>
                        </a:rPr>
                        <a:t>効果項目</a:t>
                      </a:r>
                    </a:p>
                  </a:txBody>
                  <a:tcPr>
                    <a:solidFill>
                      <a:srgbClr val="1A56DB"/>
                    </a:solidFill>
                  </a:tcPr>
                </a:tc>
                <a:tc>
                  <a:txBody>
                    <a:bodyPr wrap="square"/>
                    <a:lstStyle/>
                    <a:p>
                      <a:pPr algn="l"/>
                      <a:r>
                        <a:rPr sz="850" b="1">
                          <a:solidFill>
                            <a:srgbClr val="FFFFFF"/>
                          </a:solidFill>
                        </a:rPr>
                        <a:t>定量値</a:t>
                      </a:r>
                    </a:p>
                  </a:txBody>
                  <a:tcPr>
                    <a:solidFill>
                      <a:srgbClr val="1A56DB"/>
                    </a:solidFill>
                  </a:tcPr>
                </a:tc>
                <a:tc>
                  <a:txBody>
                    <a:bodyPr wrap="square"/>
                    <a:lstStyle/>
                    <a:p>
                      <a:pPr algn="l"/>
                      <a:r>
                        <a:rPr sz="850" b="1">
                          <a:solidFill>
                            <a:srgbClr val="FFFFFF"/>
                          </a:solidFill>
                        </a:rPr>
                        <a:t>算出根拠</a:t>
                      </a:r>
                    </a:p>
                  </a:txBody>
                  <a:tcPr>
                    <a:solidFill>
                      <a:srgbClr val="1A56DB"/>
                    </a:solidFill>
                  </a:tcPr>
                </a:tc>
              </a:tr>
              <a:tr h="347472">
                <a:tc>
                  <a:txBody>
                    <a:bodyPr wrap="square"/>
                    <a:lstStyle/>
                    <a:p>
                      <a:pPr algn="l"/>
                      <a:r>
                        <a:rPr sz="850" b="0">
                          <a:solidFill>
                            <a:srgbClr val="222222"/>
                          </a:solidFill>
                        </a:rPr>
                        <a:t>販売停止リスクの排除</a:t>
                      </a:r>
                    </a:p>
                  </a:txBody>
                  <a:tcPr>
                    <a:solidFill>
                      <a:srgbClr val="FFFFFF"/>
                    </a:solidFill>
                  </a:tcPr>
                </a:tc>
                <a:tc>
                  <a:txBody>
                    <a:bodyPr wrap="square"/>
                    <a:lstStyle/>
                    <a:p>
                      <a:pPr algn="l"/>
                      <a:r>
                        <a:rPr sz="850" b="0">
                          <a:solidFill>
                            <a:srgbClr val="222222"/>
                          </a:solidFill>
                        </a:rPr>
                        <a:t>年間売上¥10,800,000〜18,000,000の保全</a:t>
                      </a:r>
                    </a:p>
                  </a:txBody>
                  <a:tcPr>
                    <a:solidFill>
                      <a:srgbClr val="FFFFFF"/>
                    </a:solidFill>
                  </a:tcPr>
                </a:tc>
                <a:tc>
                  <a:txBody>
                    <a:bodyPr wrap="square"/>
                    <a:lstStyle/>
                    <a:p>
                      <a:pPr algn="l"/>
                      <a:r>
                        <a:rPr sz="850" b="0">
                          <a:solidFill>
                            <a:srgbClr val="222222"/>
                          </a:solidFill>
                        </a:rPr>
                        <a:t>月500個 × ¥1,800〜3,000 × 12ヶ月</a:t>
                      </a:r>
                    </a:p>
                  </a:txBody>
                  <a:tcPr>
                    <a:solidFill>
                      <a:srgbClr val="FFFFFF"/>
                    </a:solidFill>
                  </a:tcPr>
                </a:tc>
              </a:tr>
              <a:tr h="347472">
                <a:tc>
                  <a:txBody>
                    <a:bodyPr wrap="square"/>
                    <a:lstStyle/>
                    <a:p>
                      <a:pPr algn="l"/>
                      <a:r>
                        <a:rPr sz="850" b="0">
                          <a:solidFill>
                            <a:srgbClr val="222222"/>
                          </a:solidFill>
                        </a:rPr>
                        <a:t>罰金リスクの排除</a:t>
                      </a:r>
                    </a:p>
                  </a:txBody>
                  <a:tcPr>
                    <a:solidFill>
                      <a:srgbClr val="F8FAFC"/>
                    </a:solidFill>
                  </a:tcPr>
                </a:tc>
                <a:tc>
                  <a:txBody>
                    <a:bodyPr wrap="square"/>
                    <a:lstStyle/>
                    <a:p>
                      <a:pPr algn="l"/>
                      <a:r>
                        <a:rPr sz="850" b="0">
                          <a:solidFill>
                            <a:srgbClr val="222222"/>
                          </a:solidFill>
                        </a:rPr>
                        <a:t>最大¥200,000の回避</a:t>
                      </a:r>
                    </a:p>
                  </a:txBody>
                  <a:tcPr>
                    <a:solidFill>
                      <a:srgbClr val="F8FAFC"/>
                    </a:solidFill>
                  </a:tcPr>
                </a:tc>
                <a:tc>
                  <a:txBody>
                    <a:bodyPr wrap="square"/>
                    <a:lstStyle/>
                    <a:p>
                      <a:pPr algn="l"/>
                      <a:r>
                        <a:rPr sz="850" b="0">
                          <a:solidFill>
                            <a:srgbClr val="222222"/>
                          </a:solidFill>
                        </a:rPr>
                        <a:t>家表法 第34条</a:t>
                      </a:r>
                    </a:p>
                  </a:txBody>
                  <a:tcPr>
                    <a:solidFill>
                      <a:srgbClr val="F8FAFC"/>
                    </a:solidFill>
                  </a:tcPr>
                </a:tc>
              </a:tr>
              <a:tr h="347472">
                <a:tc>
                  <a:txBody>
                    <a:bodyPr wrap="square"/>
                    <a:lstStyle/>
                    <a:p>
                      <a:pPr algn="l"/>
                      <a:r>
                        <a:rPr sz="850" b="0">
                          <a:solidFill>
                            <a:srgbClr val="222222"/>
                          </a:solidFill>
                        </a:rPr>
                        <a:t>措置命令リスクの排除</a:t>
                      </a:r>
                    </a:p>
                  </a:txBody>
                  <a:tcPr>
                    <a:solidFill>
                      <a:srgbClr val="FFFFFF"/>
                    </a:solidFill>
                  </a:tcPr>
                </a:tc>
                <a:tc>
                  <a:txBody>
                    <a:bodyPr wrap="square"/>
                    <a:lstStyle/>
                    <a:p>
                      <a:pPr algn="l"/>
                      <a:r>
                        <a:rPr sz="850" b="0">
                          <a:solidFill>
                            <a:srgbClr val="222222"/>
                          </a:solidFill>
                        </a:rPr>
                        <a:t>売上毀損 推定¥500,000〜2,000,000回避</a:t>
                      </a:r>
                    </a:p>
                  </a:txBody>
                  <a:tcPr>
                    <a:solidFill>
                      <a:srgbClr val="FFFFFF"/>
                    </a:solidFill>
                  </a:tcPr>
                </a:tc>
                <a:tc>
                  <a:txBody>
                    <a:bodyPr wrap="square"/>
                    <a:lstStyle/>
                    <a:p>
                      <a:pPr algn="l"/>
                      <a:r>
                        <a:rPr sz="850" b="0">
                          <a:solidFill>
                            <a:srgbClr val="222222"/>
                          </a:solidFill>
                        </a:rPr>
                        <a:t>措置命令公表後の信頼低下による売上減（2〜4週間相当）</a:t>
                      </a:r>
                    </a:p>
                  </a:txBody>
                  <a:tcPr>
                    <a:solidFill>
                      <a:srgbClr val="FFFFFF"/>
                    </a:solidFill>
                  </a:tcPr>
                </a:tc>
              </a:tr>
            </a:tbl>
          </a:graphicData>
        </a:graphic>
      </p:graphicFrame>
      <p:sp>
        <p:nvSpPr>
          <p:cNvPr id="14" name="Rectangle 13"/>
          <p:cNvSpPr/>
          <p:nvPr/>
        </p:nvSpPr>
        <p:spPr>
          <a:xfrm>
            <a:off x="365760" y="5870448"/>
            <a:ext cx="11430000" cy="365760"/>
          </a:xfrm>
          <a:prstGeom prst="rect">
            <a:avLst/>
          </a:prstGeom>
          <a:solidFill>
            <a:srgbClr val="EFF6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925312"/>
            <a:ext cx="11064240" cy="274320"/>
          </a:xfrm>
          <a:prstGeom prst="rect">
            <a:avLst/>
          </a:prstGeom>
          <a:noFill/>
        </p:spPr>
        <p:txBody>
          <a:bodyPr wrap="square">
            <a:spAutoFit/>
          </a:bodyPr>
          <a:lstStyle/>
          <a:p>
            <a:pPr algn="l"/>
            <a:r>
              <a:rPr sz="850" b="0" i="0">
                <a:solidFill>
                  <a:srgbClr val="1E3A5F"/>
                </a:solidFill>
              </a:rPr>
              <a:t>ROI：初期投資¥50,000〜105,000は年間保全売上の約0.6%以下  /  投資回収：即時（法的義務のため対応しなければ販売自体が不可）  撤退基準：販売開始後6ヶ月で月間販売数200個未満かつ改善なし、または粗利率15%未満が3ヶ月連続した場合に事業縮小を判断する</a:t>
            </a:r>
          </a:p>
        </p:txBody>
      </p:sp>
      <p:sp>
        <p:nvSpPr>
          <p:cNvPr id="16" name="Rectangle 15"/>
          <p:cNvSpPr/>
          <p:nvPr/>
        </p:nvSpPr>
        <p:spPr>
          <a:xfrm>
            <a:off x="0" y="6537960"/>
            <a:ext cx="12188952"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6565392"/>
            <a:ext cx="9144000" cy="256032"/>
          </a:xfrm>
          <a:prstGeom prst="rect">
            <a:avLst/>
          </a:prstGeom>
          <a:noFill/>
        </p:spPr>
        <p:txBody>
          <a:bodyPr wrap="square">
            <a:spAutoFit/>
          </a:bodyPr>
          <a:lstStyle/>
          <a:p>
            <a:pPr algn="l"/>
            <a:r>
              <a:rPr sz="800" b="0" i="0">
                <a:solidFill>
                  <a:srgbClr val="6B7280"/>
                </a:solidFill>
              </a:rPr>
              <a:t>保冷バッグ Amazon輸入 品質表示法対応 提案書  ©貴社名</a:t>
            </a:r>
          </a:p>
        </p:txBody>
      </p:sp>
      <p:sp>
        <p:nvSpPr>
          <p:cNvPr id="18" name="TextBox 17"/>
          <p:cNvSpPr txBox="1"/>
          <p:nvPr/>
        </p:nvSpPr>
        <p:spPr>
          <a:xfrm>
            <a:off x="11247120" y="6565392"/>
            <a:ext cx="914400" cy="256032"/>
          </a:xfrm>
          <a:prstGeom prst="rect">
            <a:avLst/>
          </a:prstGeom>
          <a:noFill/>
        </p:spPr>
        <p:txBody>
          <a:bodyPr wrap="square">
            <a:spAutoFit/>
          </a:bodyPr>
          <a:lstStyle/>
          <a:p>
            <a:pPr algn="r"/>
            <a:r>
              <a:rPr sz="800" b="0" i="0">
                <a:solidFill>
                  <a:srgbClr val="6B7280"/>
                </a:solidFill>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029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10972800" cy="384048"/>
          </a:xfrm>
          <a:prstGeom prst="rect">
            <a:avLst/>
          </a:prstGeom>
          <a:noFill/>
        </p:spPr>
        <p:txBody>
          <a:bodyPr wrap="square">
            <a:spAutoFit/>
          </a:bodyPr>
          <a:lstStyle/>
          <a:p>
            <a:pPr algn="l"/>
            <a:r>
              <a:rPr sz="1100" b="1" i="0">
                <a:solidFill>
                  <a:srgbClr val="FFFFFF"/>
                </a:solidFill>
              </a:rPr>
              <a:t>11. 活用事例</a:t>
            </a:r>
          </a:p>
        </p:txBody>
      </p:sp>
      <p:sp>
        <p:nvSpPr>
          <p:cNvPr id="4" name="TextBox 3"/>
          <p:cNvSpPr txBox="1"/>
          <p:nvPr/>
        </p:nvSpPr>
        <p:spPr>
          <a:xfrm>
            <a:off x="365760" y="566928"/>
            <a:ext cx="11430000" cy="502920"/>
          </a:xfrm>
          <a:prstGeom prst="rect">
            <a:avLst/>
          </a:prstGeom>
          <a:noFill/>
        </p:spPr>
        <p:txBody>
          <a:bodyPr wrap="square">
            <a:spAutoFit/>
          </a:bodyPr>
          <a:lstStyle/>
          <a:p>
            <a:pPr algn="l"/>
            <a:r>
              <a:rPr sz="1800" b="1" i="0">
                <a:solidFill>
                  <a:srgbClr val="1E3A5F"/>
                </a:solidFill>
              </a:rPr>
              <a:t>事例：品質表示対応を完備して販売開始したEC事業者の例</a:t>
            </a:r>
          </a:p>
        </p:txBody>
      </p:sp>
      <p:sp>
        <p:nvSpPr>
          <p:cNvPr id="5" name="Rectangle 4"/>
          <p:cNvSpPr/>
          <p:nvPr/>
        </p:nvSpPr>
        <p:spPr>
          <a:xfrm>
            <a:off x="365760" y="1115568"/>
            <a:ext cx="11457432" cy="36576"/>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73152"/>
            <a:ext cx="1280160" cy="320040"/>
          </a:xfrm>
          <a:prstGeom prst="rect">
            <a:avLst/>
          </a:prstGeom>
          <a:solidFill>
            <a:srgbClr val="DBEAFE"/>
          </a:solidFill>
        </p:spPr>
        <p:txBody>
          <a:bodyPr wrap="square">
            <a:spAutoFit/>
          </a:bodyPr>
          <a:lstStyle/>
          <a:p>
            <a:pPr algn="ctr"/>
            <a:r>
              <a:rPr sz="800" b="1" i="0">
                <a:solidFill>
                  <a:srgbClr val="1E40AF"/>
                </a:solidFill>
              </a:rPr>
              <a:t>[参考]</a:t>
            </a:r>
          </a:p>
        </p:txBody>
      </p:sp>
      <p:sp>
        <p:nvSpPr>
          <p:cNvPr id="7" name="Rectangle 6"/>
          <p:cNvSpPr/>
          <p:nvPr/>
        </p:nvSpPr>
        <p:spPr>
          <a:xfrm>
            <a:off x="365760" y="1234440"/>
            <a:ext cx="5486400" cy="5029200"/>
          </a:xfrm>
          <a:prstGeom prst="rect">
            <a:avLst/>
          </a:prstGeom>
          <a:solidFill>
            <a:srgbClr val="F8FAFC"/>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98448"/>
            <a:ext cx="5303520" cy="274320"/>
          </a:xfrm>
          <a:prstGeom prst="rect">
            <a:avLst/>
          </a:prstGeom>
          <a:noFill/>
        </p:spPr>
        <p:txBody>
          <a:bodyPr wrap="square">
            <a:spAutoFit/>
          </a:bodyPr>
          <a:lstStyle/>
          <a:p>
            <a:pPr algn="l"/>
            <a:r>
              <a:rPr sz="1000" b="1" i="0">
                <a:solidFill>
                  <a:srgbClr val="1E3A5F"/>
                </a:solidFill>
              </a:rPr>
              <a:t>【事例概要】</a:t>
            </a:r>
          </a:p>
        </p:txBody>
      </p:sp>
      <p:sp>
        <p:nvSpPr>
          <p:cNvPr id="9" name="TextBox 8"/>
          <p:cNvSpPr txBox="1"/>
          <p:nvPr/>
        </p:nvSpPr>
        <p:spPr>
          <a:xfrm>
            <a:off x="457200" y="1600200"/>
            <a:ext cx="5303520" cy="1920240"/>
          </a:xfrm>
          <a:prstGeom prst="rect">
            <a:avLst/>
          </a:prstGeom>
          <a:noFill/>
        </p:spPr>
        <p:txBody>
          <a:bodyPr wrap="square">
            <a:spAutoFit/>
          </a:bodyPr>
          <a:lstStyle/>
          <a:p>
            <a:pPr algn="l"/>
            <a:r>
              <a:rPr sz="900" b="0" i="0">
                <a:solidFill>
                  <a:srgbClr val="222222"/>
                </a:solidFill>
              </a:rPr>
              <a:t>中国から保冷バッグを輸入しAmazonで販売する際、初回仕入れの段階から下記を実施した。
・ 中国代行業者に品質表示ラベルの貼付を指示
・ カケンテストセンターで耐熱・耐冷温度試験を実施
・ 工場から食品衛生法PL適合証明書を取得
・ 第三者機関で「6時間保冷」の性能試験を実施
・ Amazon商品ページに試験機関名・試験方法を注記</a:t>
            </a:r>
          </a:p>
        </p:txBody>
      </p:sp>
      <p:sp>
        <p:nvSpPr>
          <p:cNvPr id="10" name="TextBox 9"/>
          <p:cNvSpPr txBox="1"/>
          <p:nvPr/>
        </p:nvSpPr>
        <p:spPr>
          <a:xfrm>
            <a:off x="457200" y="3547872"/>
            <a:ext cx="5303520" cy="274320"/>
          </a:xfrm>
          <a:prstGeom prst="rect">
            <a:avLst/>
          </a:prstGeom>
          <a:noFill/>
        </p:spPr>
        <p:txBody>
          <a:bodyPr wrap="square">
            <a:spAutoFit/>
          </a:bodyPr>
          <a:lstStyle/>
          <a:p>
            <a:pPr algn="l"/>
            <a:r>
              <a:rPr sz="1000" b="1" i="0">
                <a:solidFill>
                  <a:srgbClr val="1E3A5F"/>
                </a:solidFill>
              </a:rPr>
              <a:t>【期待効果（定量）】</a:t>
            </a:r>
          </a:p>
        </p:txBody>
      </p:sp>
      <p:sp>
        <p:nvSpPr>
          <p:cNvPr id="11" name="TextBox 10"/>
          <p:cNvSpPr txBox="1"/>
          <p:nvPr/>
        </p:nvSpPr>
        <p:spPr>
          <a:xfrm>
            <a:off x="457200" y="3840480"/>
            <a:ext cx="5303520" cy="1463040"/>
          </a:xfrm>
          <a:prstGeom prst="rect">
            <a:avLst/>
          </a:prstGeom>
          <a:noFill/>
        </p:spPr>
        <p:txBody>
          <a:bodyPr wrap="square">
            <a:spAutoFit/>
          </a:bodyPr>
          <a:lstStyle/>
          <a:p>
            <a:pPr algn="l"/>
            <a:r>
              <a:rPr sz="900" b="0" i="0">
                <a:solidFill>
                  <a:srgbClr val="222222"/>
                </a:solidFill>
              </a:rPr>
              <a:t>・ 販売開始から6ヶ月で月商¥600,000を達成
・ 販売停止ゼロ
・ 返品率 2%以下を維持
・ 試験成績書の商品ページ記載により CVR（転換率）約8%向上</a:t>
            </a:r>
          </a:p>
        </p:txBody>
      </p:sp>
      <p:sp>
        <p:nvSpPr>
          <p:cNvPr id="12" name="Rectangle 11"/>
          <p:cNvSpPr/>
          <p:nvPr/>
        </p:nvSpPr>
        <p:spPr>
          <a:xfrm>
            <a:off x="6035040" y="1234440"/>
            <a:ext cx="5577840" cy="2377440"/>
          </a:xfrm>
          <a:prstGeom prst="rect">
            <a:avLst/>
          </a:prstGeom>
          <a:solidFill>
            <a:srgbClr val="FEE2E2"/>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0" y="1298448"/>
            <a:ext cx="5394960" cy="274320"/>
          </a:xfrm>
          <a:prstGeom prst="rect">
            <a:avLst/>
          </a:prstGeom>
          <a:noFill/>
        </p:spPr>
        <p:txBody>
          <a:bodyPr wrap="square">
            <a:spAutoFit/>
          </a:bodyPr>
          <a:lstStyle/>
          <a:p>
            <a:pPr algn="l"/>
            <a:r>
              <a:rPr sz="1000" b="1" i="0">
                <a:solidFill>
                  <a:srgbClr val="7F1D1D"/>
                </a:solidFill>
              </a:rPr>
              <a:t>【想定リスクと対応策】</a:t>
            </a:r>
          </a:p>
        </p:txBody>
      </p:sp>
      <p:sp>
        <p:nvSpPr>
          <p:cNvPr id="14" name="TextBox 13"/>
          <p:cNvSpPr txBox="1"/>
          <p:nvPr/>
        </p:nvSpPr>
        <p:spPr>
          <a:xfrm>
            <a:off x="6126480" y="1627632"/>
            <a:ext cx="5394960" cy="411480"/>
          </a:xfrm>
          <a:prstGeom prst="rect">
            <a:avLst/>
          </a:prstGeom>
          <a:noFill/>
        </p:spPr>
        <p:txBody>
          <a:bodyPr wrap="square">
            <a:spAutoFit/>
          </a:bodyPr>
          <a:lstStyle/>
          <a:p>
            <a:pPr algn="l"/>
            <a:r>
              <a:rPr sz="850" b="0" i="0">
                <a:solidFill>
                  <a:srgbClr val="7F1D1D"/>
                </a:solidFill>
              </a:rPr>
              <a:t>・ 中国工場がラベルを貼り忘れるロット → 代行業者の全数検品サービスで事前検知（¥15/個）</a:t>
            </a:r>
          </a:p>
        </p:txBody>
      </p:sp>
      <p:sp>
        <p:nvSpPr>
          <p:cNvPr id="15" name="TextBox 14"/>
          <p:cNvSpPr txBox="1"/>
          <p:nvPr/>
        </p:nvSpPr>
        <p:spPr>
          <a:xfrm>
            <a:off x="6126480" y="2048256"/>
            <a:ext cx="5394960" cy="411480"/>
          </a:xfrm>
          <a:prstGeom prst="rect">
            <a:avLst/>
          </a:prstGeom>
          <a:noFill/>
        </p:spPr>
        <p:txBody>
          <a:bodyPr wrap="square">
            <a:spAutoFit/>
          </a:bodyPr>
          <a:lstStyle/>
          <a:p>
            <a:pPr algn="l"/>
            <a:r>
              <a:rPr sz="850" b="0" i="0">
                <a:solidFill>
                  <a:srgbClr val="7F1D1D"/>
                </a:solidFill>
              </a:rPr>
              <a:t>・ 工場が素材を無断変更 → 発注書に素材変更禁止条項を明記し、ロットごとに仕様書を提出させる</a:t>
            </a:r>
          </a:p>
        </p:txBody>
      </p:sp>
      <p:sp>
        <p:nvSpPr>
          <p:cNvPr id="16" name="TextBox 15"/>
          <p:cNvSpPr txBox="1"/>
          <p:nvPr/>
        </p:nvSpPr>
        <p:spPr>
          <a:xfrm>
            <a:off x="6126480" y="2468880"/>
            <a:ext cx="5394960" cy="411480"/>
          </a:xfrm>
          <a:prstGeom prst="rect">
            <a:avLst/>
          </a:prstGeom>
          <a:noFill/>
        </p:spPr>
        <p:txBody>
          <a:bodyPr wrap="square">
            <a:spAutoFit/>
          </a:bodyPr>
          <a:lstStyle/>
          <a:p>
            <a:pPr algn="l"/>
            <a:r>
              <a:rPr sz="850" b="0" i="0">
                <a:solidFill>
                  <a:srgbClr val="7F1D1D"/>
                </a:solidFill>
              </a:rPr>
              <a:t>・ PL適合証明書の記載漏れ → チェックリストで受領時に確認</a:t>
            </a:r>
          </a:p>
        </p:txBody>
      </p:sp>
      <p:sp>
        <p:nvSpPr>
          <p:cNvPr id="17" name="Rectangle 16"/>
          <p:cNvSpPr/>
          <p:nvPr/>
        </p:nvSpPr>
        <p:spPr>
          <a:xfrm>
            <a:off x="6035040" y="3730752"/>
            <a:ext cx="5577840" cy="2532888"/>
          </a:xfrm>
          <a:prstGeom prst="rect">
            <a:avLst/>
          </a:prstGeom>
          <a:solidFill>
            <a:srgbClr val="EFF6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794760"/>
            <a:ext cx="5394960" cy="274320"/>
          </a:xfrm>
          <a:prstGeom prst="rect">
            <a:avLst/>
          </a:prstGeom>
          <a:noFill/>
        </p:spPr>
        <p:txBody>
          <a:bodyPr wrap="square">
            <a:spAutoFit/>
          </a:bodyPr>
          <a:lstStyle/>
          <a:p>
            <a:pPr algn="l"/>
            <a:r>
              <a:rPr sz="1000" b="1" i="0">
                <a:solidFill>
                  <a:srgbClr val="1E3A5F"/>
                </a:solidFill>
              </a:rPr>
              <a:t>【教訓（コスト比較）】</a:t>
            </a:r>
          </a:p>
        </p:txBody>
      </p:sp>
      <p:sp>
        <p:nvSpPr>
          <p:cNvPr id="19" name="TextBox 18"/>
          <p:cNvSpPr txBox="1"/>
          <p:nvPr/>
        </p:nvSpPr>
        <p:spPr>
          <a:xfrm>
            <a:off x="6126480" y="4114800"/>
            <a:ext cx="5394960" cy="2057400"/>
          </a:xfrm>
          <a:prstGeom prst="rect">
            <a:avLst/>
          </a:prstGeom>
          <a:noFill/>
        </p:spPr>
        <p:txBody>
          <a:bodyPr wrap="square">
            <a:spAutoFit/>
          </a:bodyPr>
          <a:lstStyle/>
          <a:p>
            <a:pPr algn="l"/>
            <a:r>
              <a:rPr sz="900" b="0" i="0">
                <a:solidFill>
                  <a:srgbClr val="222222"/>
                </a:solidFill>
              </a:rPr>
              <a:t>事後対応（販売停止後に対応）のコスト試算：
  ・Amazon停止中の機会損失：約¥300,000〜500,000（3〜4週間分）
  ・ラベル差替・検査費：約¥100,000〜200,000
  ＝合計 約¥400,000〜700,000
事前対応コスト：¥50,000〜105,000（初期）
→ 事前対応は事後対応の約 1/7〜1/4 のコストで済む</a:t>
            </a:r>
          </a:p>
        </p:txBody>
      </p:sp>
      <p:sp>
        <p:nvSpPr>
          <p:cNvPr id="20" name="TextBox 19"/>
          <p:cNvSpPr txBox="1"/>
          <p:nvPr/>
        </p:nvSpPr>
        <p:spPr>
          <a:xfrm>
            <a:off x="365760" y="6309360"/>
            <a:ext cx="11430000" cy="228600"/>
          </a:xfrm>
          <a:prstGeom prst="rect">
            <a:avLst/>
          </a:prstGeom>
          <a:noFill/>
        </p:spPr>
        <p:txBody>
          <a:bodyPr wrap="square">
            <a:spAutoFit/>
          </a:bodyPr>
          <a:lstStyle/>
          <a:p>
            <a:pPr algn="l"/>
            <a:r>
              <a:rPr sz="750" b="0" i="1">
                <a:solidFill>
                  <a:srgbClr val="6B7280"/>
                </a:solidFill>
              </a:rPr>
              <a:t>出典：EC事業者の公開情報を基に構成（想定シナリオ）</a:t>
            </a:r>
          </a:p>
        </p:txBody>
      </p:sp>
      <p:sp>
        <p:nvSpPr>
          <p:cNvPr id="21" name="Rectangle 20"/>
          <p:cNvSpPr/>
          <p:nvPr/>
        </p:nvSpPr>
        <p:spPr>
          <a:xfrm>
            <a:off x="0" y="6537960"/>
            <a:ext cx="12188952"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6565392"/>
            <a:ext cx="9144000" cy="256032"/>
          </a:xfrm>
          <a:prstGeom prst="rect">
            <a:avLst/>
          </a:prstGeom>
          <a:noFill/>
        </p:spPr>
        <p:txBody>
          <a:bodyPr wrap="square">
            <a:spAutoFit/>
          </a:bodyPr>
          <a:lstStyle/>
          <a:p>
            <a:pPr algn="l"/>
            <a:r>
              <a:rPr sz="800" b="0" i="0">
                <a:solidFill>
                  <a:srgbClr val="6B7280"/>
                </a:solidFill>
              </a:rPr>
              <a:t>保冷バッグ Amazon輸入 品質表示法対応 提案書  ©貴社名</a:t>
            </a:r>
          </a:p>
        </p:txBody>
      </p:sp>
      <p:sp>
        <p:nvSpPr>
          <p:cNvPr id="23" name="TextBox 22"/>
          <p:cNvSpPr txBox="1"/>
          <p:nvPr/>
        </p:nvSpPr>
        <p:spPr>
          <a:xfrm>
            <a:off x="11247120" y="6565392"/>
            <a:ext cx="914400" cy="256032"/>
          </a:xfrm>
          <a:prstGeom prst="rect">
            <a:avLst/>
          </a:prstGeom>
          <a:noFill/>
        </p:spPr>
        <p:txBody>
          <a:bodyPr wrap="square">
            <a:spAutoFit/>
          </a:bodyPr>
          <a:lstStyle/>
          <a:p>
            <a:pPr algn="r"/>
            <a:r>
              <a:rPr sz="800" b="0" i="0">
                <a:solidFill>
                  <a:srgbClr val="6B7280"/>
                </a:solidFill>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029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10972800" cy="384048"/>
          </a:xfrm>
          <a:prstGeom prst="rect">
            <a:avLst/>
          </a:prstGeom>
          <a:noFill/>
        </p:spPr>
        <p:txBody>
          <a:bodyPr wrap="square">
            <a:spAutoFit/>
          </a:bodyPr>
          <a:lstStyle/>
          <a:p>
            <a:pPr algn="l"/>
            <a:r>
              <a:rPr sz="1100" b="1" i="0">
                <a:solidFill>
                  <a:srgbClr val="FFFFFF"/>
                </a:solidFill>
              </a:rPr>
              <a:t>12. まとめ・今後のアクション</a:t>
            </a:r>
          </a:p>
        </p:txBody>
      </p:sp>
      <p:sp>
        <p:nvSpPr>
          <p:cNvPr id="4" name="TextBox 3"/>
          <p:cNvSpPr txBox="1"/>
          <p:nvPr/>
        </p:nvSpPr>
        <p:spPr>
          <a:xfrm>
            <a:off x="365760" y="566928"/>
            <a:ext cx="11430000" cy="502920"/>
          </a:xfrm>
          <a:prstGeom prst="rect">
            <a:avLst/>
          </a:prstGeom>
          <a:noFill/>
        </p:spPr>
        <p:txBody>
          <a:bodyPr wrap="square">
            <a:spAutoFit/>
          </a:bodyPr>
          <a:lstStyle/>
          <a:p>
            <a:pPr algn="l"/>
            <a:r>
              <a:rPr sz="1800" b="1" i="0">
                <a:solidFill>
                  <a:srgbClr val="1E3A5F"/>
                </a:solidFill>
              </a:rPr>
              <a:t>まとめと今後のアクション</a:t>
            </a:r>
          </a:p>
        </p:txBody>
      </p:sp>
      <p:sp>
        <p:nvSpPr>
          <p:cNvPr id="5" name="Rectangle 4"/>
          <p:cNvSpPr/>
          <p:nvPr/>
        </p:nvSpPr>
        <p:spPr>
          <a:xfrm>
            <a:off x="365760" y="1115568"/>
            <a:ext cx="11457432" cy="36576"/>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73152"/>
            <a:ext cx="1280160" cy="320040"/>
          </a:xfrm>
          <a:prstGeom prst="rect">
            <a:avLst/>
          </a:prstGeom>
          <a:solidFill>
            <a:srgbClr val="D1FAE5"/>
          </a:solidFill>
        </p:spPr>
        <p:txBody>
          <a:bodyPr wrap="square">
            <a:spAutoFit/>
          </a:bodyPr>
          <a:lstStyle/>
          <a:p>
            <a:pPr algn="ctr"/>
            <a:r>
              <a:rPr sz="800" b="1" i="0">
                <a:solidFill>
                  <a:srgbClr val="065F46"/>
                </a:solidFill>
              </a:rPr>
              <a:t>[確定]</a:t>
            </a:r>
          </a:p>
        </p:txBody>
      </p:sp>
      <p:sp>
        <p:nvSpPr>
          <p:cNvPr id="7" name="Rectangle 6"/>
          <p:cNvSpPr/>
          <p:nvPr/>
        </p:nvSpPr>
        <p:spPr>
          <a:xfrm>
            <a:off x="365760" y="1261872"/>
            <a:ext cx="502920" cy="5029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335024"/>
            <a:ext cx="502920" cy="347472"/>
          </a:xfrm>
          <a:prstGeom prst="rect">
            <a:avLst/>
          </a:prstGeom>
          <a:noFill/>
        </p:spPr>
        <p:txBody>
          <a:bodyPr wrap="square">
            <a:spAutoFit/>
          </a:bodyPr>
          <a:lstStyle/>
          <a:p>
            <a:pPr algn="ctr"/>
            <a:r>
              <a:rPr sz="1200" b="1" i="0">
                <a:solidFill>
                  <a:srgbClr val="FFFFFF"/>
                </a:solidFill>
              </a:rPr>
              <a:t>①</a:t>
            </a:r>
          </a:p>
        </p:txBody>
      </p:sp>
      <p:sp>
        <p:nvSpPr>
          <p:cNvPr id="9" name="TextBox 8"/>
          <p:cNvSpPr txBox="1"/>
          <p:nvPr/>
        </p:nvSpPr>
        <p:spPr>
          <a:xfrm>
            <a:off x="960120" y="1261872"/>
            <a:ext cx="10789920" cy="256032"/>
          </a:xfrm>
          <a:prstGeom prst="rect">
            <a:avLst/>
          </a:prstGeom>
          <a:noFill/>
        </p:spPr>
        <p:txBody>
          <a:bodyPr wrap="square">
            <a:spAutoFit/>
          </a:bodyPr>
          <a:lstStyle/>
          <a:p>
            <a:pPr algn="l"/>
            <a:r>
              <a:rPr sz="1050" b="1" i="0">
                <a:solidFill>
                  <a:srgbClr val="1E3A5F"/>
                </a:solidFill>
              </a:rPr>
              <a:t>家庭用品品質表示法への対応が法的義務（must）</a:t>
            </a:r>
          </a:p>
        </p:txBody>
      </p:sp>
      <p:sp>
        <p:nvSpPr>
          <p:cNvPr id="10" name="TextBox 9"/>
          <p:cNvSpPr txBox="1"/>
          <p:nvPr/>
        </p:nvSpPr>
        <p:spPr>
          <a:xfrm>
            <a:off x="960120" y="1517904"/>
            <a:ext cx="10789920" cy="292608"/>
          </a:xfrm>
          <a:prstGeom prst="rect">
            <a:avLst/>
          </a:prstGeom>
          <a:noFill/>
        </p:spPr>
        <p:txBody>
          <a:bodyPr wrap="square">
            <a:spAutoFit/>
          </a:bodyPr>
          <a:lstStyle/>
          <a:p>
            <a:pPr algn="l"/>
            <a:r>
              <a:rPr sz="900" b="0" i="0">
                <a:solidFill>
                  <a:srgbClr val="222222"/>
                </a:solidFill>
              </a:rPr>
              <a:t>原料樹脂・耐熱温度・耐冷温度・表示者名を記載したラベルの貼付が必須。未対応は罰金（最大¥200,000）・Amazon出品停止リスクあり。</a:t>
            </a:r>
          </a:p>
        </p:txBody>
      </p:sp>
      <p:sp>
        <p:nvSpPr>
          <p:cNvPr id="11" name="Rectangle 10"/>
          <p:cNvSpPr/>
          <p:nvPr/>
        </p:nvSpPr>
        <p:spPr>
          <a:xfrm>
            <a:off x="365760" y="1920239"/>
            <a:ext cx="502920" cy="5029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993391"/>
            <a:ext cx="502920" cy="347472"/>
          </a:xfrm>
          <a:prstGeom prst="rect">
            <a:avLst/>
          </a:prstGeom>
          <a:noFill/>
        </p:spPr>
        <p:txBody>
          <a:bodyPr wrap="square">
            <a:spAutoFit/>
          </a:bodyPr>
          <a:lstStyle/>
          <a:p>
            <a:pPr algn="ctr"/>
            <a:r>
              <a:rPr sz="1200" b="1" i="0">
                <a:solidFill>
                  <a:srgbClr val="FFFFFF"/>
                </a:solidFill>
              </a:rPr>
              <a:t>②</a:t>
            </a:r>
          </a:p>
        </p:txBody>
      </p:sp>
      <p:sp>
        <p:nvSpPr>
          <p:cNvPr id="13" name="TextBox 12"/>
          <p:cNvSpPr txBox="1"/>
          <p:nvPr/>
        </p:nvSpPr>
        <p:spPr>
          <a:xfrm>
            <a:off x="960120" y="1920239"/>
            <a:ext cx="10789920" cy="256032"/>
          </a:xfrm>
          <a:prstGeom prst="rect">
            <a:avLst/>
          </a:prstGeom>
          <a:noFill/>
        </p:spPr>
        <p:txBody>
          <a:bodyPr wrap="square">
            <a:spAutoFit/>
          </a:bodyPr>
          <a:lstStyle/>
          <a:p>
            <a:pPr algn="l"/>
            <a:r>
              <a:rPr sz="1050" b="1" i="0">
                <a:solidFill>
                  <a:srgbClr val="1E3A5F"/>
                </a:solidFill>
              </a:rPr>
              <a:t>食品衛生法ポジティブリスト制度への対応が急務</a:t>
            </a:r>
          </a:p>
        </p:txBody>
      </p:sp>
      <p:sp>
        <p:nvSpPr>
          <p:cNvPr id="14" name="TextBox 13"/>
          <p:cNvSpPr txBox="1"/>
          <p:nvPr/>
        </p:nvSpPr>
        <p:spPr>
          <a:xfrm>
            <a:off x="960120" y="2176272"/>
            <a:ext cx="10789920" cy="292608"/>
          </a:xfrm>
          <a:prstGeom prst="rect">
            <a:avLst/>
          </a:prstGeom>
          <a:noFill/>
        </p:spPr>
        <p:txBody>
          <a:bodyPr wrap="square">
            <a:spAutoFit/>
          </a:bodyPr>
          <a:lstStyle/>
          <a:p>
            <a:pPr algn="l"/>
            <a:r>
              <a:rPr sz="900" b="0" i="0">
                <a:solidFill>
                  <a:srgbClr val="222222"/>
                </a:solidFill>
              </a:rPr>
              <a:t>2025年6月1日より経過措置終了。仕入先から適合証明書を取得し、輸入届出を提出することが必須（must）。</a:t>
            </a:r>
          </a:p>
        </p:txBody>
      </p:sp>
      <p:sp>
        <p:nvSpPr>
          <p:cNvPr id="15" name="Rectangle 14"/>
          <p:cNvSpPr/>
          <p:nvPr/>
        </p:nvSpPr>
        <p:spPr>
          <a:xfrm>
            <a:off x="365760" y="2578607"/>
            <a:ext cx="502920" cy="5029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2651759"/>
            <a:ext cx="502920" cy="347472"/>
          </a:xfrm>
          <a:prstGeom prst="rect">
            <a:avLst/>
          </a:prstGeom>
          <a:noFill/>
        </p:spPr>
        <p:txBody>
          <a:bodyPr wrap="square">
            <a:spAutoFit/>
          </a:bodyPr>
          <a:lstStyle/>
          <a:p>
            <a:pPr algn="ctr"/>
            <a:r>
              <a:rPr sz="1200" b="1" i="0">
                <a:solidFill>
                  <a:srgbClr val="FFFFFF"/>
                </a:solidFill>
              </a:rPr>
              <a:t>③</a:t>
            </a:r>
          </a:p>
        </p:txBody>
      </p:sp>
      <p:sp>
        <p:nvSpPr>
          <p:cNvPr id="17" name="TextBox 16"/>
          <p:cNvSpPr txBox="1"/>
          <p:nvPr/>
        </p:nvSpPr>
        <p:spPr>
          <a:xfrm>
            <a:off x="960120" y="2578607"/>
            <a:ext cx="10789920" cy="256032"/>
          </a:xfrm>
          <a:prstGeom prst="rect">
            <a:avLst/>
          </a:prstGeom>
          <a:noFill/>
        </p:spPr>
        <p:txBody>
          <a:bodyPr wrap="square">
            <a:spAutoFit/>
          </a:bodyPr>
          <a:lstStyle/>
          <a:p>
            <a:pPr algn="l"/>
            <a:r>
              <a:rPr sz="1050" b="1" i="0">
                <a:solidFill>
                  <a:srgbClr val="1E3A5F"/>
                </a:solidFill>
              </a:rPr>
              <a:t>初期投資¥50,000〜105,000で全リスクを排除できる</a:t>
            </a:r>
          </a:p>
        </p:txBody>
      </p:sp>
      <p:sp>
        <p:nvSpPr>
          <p:cNvPr id="18" name="TextBox 17"/>
          <p:cNvSpPr txBox="1"/>
          <p:nvPr/>
        </p:nvSpPr>
        <p:spPr>
          <a:xfrm>
            <a:off x="960120" y="2834639"/>
            <a:ext cx="10789920" cy="292608"/>
          </a:xfrm>
          <a:prstGeom prst="rect">
            <a:avLst/>
          </a:prstGeom>
          <a:noFill/>
        </p:spPr>
        <p:txBody>
          <a:bodyPr wrap="square">
            <a:spAutoFit/>
          </a:bodyPr>
          <a:lstStyle/>
          <a:p>
            <a:pPr algn="l"/>
            <a:r>
              <a:rPr sz="900" b="0" i="0">
                <a:solidFill>
                  <a:srgbClr val="222222"/>
                </a:solidFill>
              </a:rPr>
              <a:t>事後対応のコスト（約¥400,000〜700,000）と比べ約1/7〜1/4。事前対応が圧倒的に経済合理的。</a:t>
            </a:r>
          </a:p>
        </p:txBody>
      </p:sp>
      <p:sp>
        <p:nvSpPr>
          <p:cNvPr id="19" name="TextBox 18"/>
          <p:cNvSpPr txBox="1"/>
          <p:nvPr/>
        </p:nvSpPr>
        <p:spPr>
          <a:xfrm>
            <a:off x="365760" y="3328416"/>
            <a:ext cx="3657600" cy="256032"/>
          </a:xfrm>
          <a:prstGeom prst="rect">
            <a:avLst/>
          </a:prstGeom>
          <a:noFill/>
        </p:spPr>
        <p:txBody>
          <a:bodyPr wrap="square">
            <a:spAutoFit/>
          </a:bodyPr>
          <a:lstStyle/>
          <a:p>
            <a:pPr algn="l"/>
            <a:r>
              <a:rPr sz="1000" b="1" i="0">
                <a:solidFill>
                  <a:srgbClr val="1E3A5F"/>
                </a:solidFill>
              </a:rPr>
              <a:t>■ 今後のアクション</a:t>
            </a:r>
          </a:p>
        </p:txBody>
      </p:sp>
      <p:graphicFrame>
        <p:nvGraphicFramePr>
          <p:cNvPr id="20" name="Table 19"/>
          <p:cNvGraphicFramePr>
            <a:graphicFrameLocks noGrp="1"/>
          </p:cNvGraphicFramePr>
          <p:nvPr/>
        </p:nvGraphicFramePr>
        <p:xfrm>
          <a:off x="365760" y="3639312"/>
          <a:ext cx="10515600" cy="2779776"/>
        </p:xfrm>
        <a:graphic>
          <a:graphicData uri="http://schemas.openxmlformats.org/drawingml/2006/table">
            <a:tbl>
              <a:tblPr firstRow="1" bandRow="1">
                <a:tableStyleId>{5C22544A-7EE6-4342-B048-85BDC9FD1C3A}</a:tableStyleId>
              </a:tblPr>
              <a:tblGrid>
                <a:gridCol w="365760"/>
                <a:gridCol w="5029200"/>
                <a:gridCol w="1828800"/>
                <a:gridCol w="1645920"/>
                <a:gridCol w="1645920"/>
              </a:tblGrid>
              <a:tr h="347472">
                <a:tc>
                  <a:txBody>
                    <a:bodyPr wrap="square"/>
                    <a:lstStyle/>
                    <a:p>
                      <a:pPr algn="l"/>
                      <a:r>
                        <a:rPr sz="850" b="1">
                          <a:solidFill>
                            <a:srgbClr val="FFFFFF"/>
                          </a:solidFill>
                        </a:rPr>
                        <a:t>#</a:t>
                      </a:r>
                    </a:p>
                  </a:txBody>
                  <a:tcPr>
                    <a:solidFill>
                      <a:srgbClr val="1A56DB"/>
                    </a:solidFill>
                  </a:tcPr>
                </a:tc>
                <a:tc>
                  <a:txBody>
                    <a:bodyPr wrap="square"/>
                    <a:lstStyle/>
                    <a:p>
                      <a:pPr algn="l"/>
                      <a:r>
                        <a:rPr sz="850" b="1">
                          <a:solidFill>
                            <a:srgbClr val="FFFFFF"/>
                          </a:solidFill>
                        </a:rPr>
                        <a:t>アクション</a:t>
                      </a:r>
                    </a:p>
                  </a:txBody>
                  <a:tcPr>
                    <a:solidFill>
                      <a:srgbClr val="1A56DB"/>
                    </a:solidFill>
                  </a:tcPr>
                </a:tc>
                <a:tc>
                  <a:txBody>
                    <a:bodyPr wrap="square"/>
                    <a:lstStyle/>
                    <a:p>
                      <a:pPr algn="l"/>
                      <a:r>
                        <a:rPr sz="850" b="1">
                          <a:solidFill>
                            <a:srgbClr val="FFFFFF"/>
                          </a:solidFill>
                        </a:rPr>
                        <a:t>担当</a:t>
                      </a:r>
                    </a:p>
                  </a:txBody>
                  <a:tcPr>
                    <a:solidFill>
                      <a:srgbClr val="1A56DB"/>
                    </a:solidFill>
                  </a:tcPr>
                </a:tc>
                <a:tc>
                  <a:txBody>
                    <a:bodyPr wrap="square"/>
                    <a:lstStyle/>
                    <a:p>
                      <a:pPr algn="l"/>
                      <a:r>
                        <a:rPr sz="850" b="1">
                          <a:solidFill>
                            <a:srgbClr val="FFFFFF"/>
                          </a:solidFill>
                        </a:rPr>
                        <a:t>期限</a:t>
                      </a:r>
                    </a:p>
                  </a:txBody>
                  <a:tcPr>
                    <a:solidFill>
                      <a:srgbClr val="1A56DB"/>
                    </a:solidFill>
                  </a:tcPr>
                </a:tc>
                <a:tc>
                  <a:txBody>
                    <a:bodyPr wrap="square"/>
                    <a:lstStyle/>
                    <a:p>
                      <a:pPr algn="l"/>
                      <a:r>
                        <a:rPr sz="850" b="1">
                          <a:solidFill>
                            <a:srgbClr val="FFFFFF"/>
                          </a:solidFill>
                        </a:rPr>
                        <a:t>ステータス</a:t>
                      </a:r>
                    </a:p>
                  </a:txBody>
                  <a:tcPr>
                    <a:solidFill>
                      <a:srgbClr val="1A56DB"/>
                    </a:solidFill>
                  </a:tcPr>
                </a:tc>
              </a:tr>
              <a:tr h="347472">
                <a:tc>
                  <a:txBody>
                    <a:bodyPr wrap="square"/>
                    <a:lstStyle/>
                    <a:p>
                      <a:pPr algn="l"/>
                      <a:r>
                        <a:rPr sz="850" b="0">
                          <a:solidFill>
                            <a:srgbClr val="222222"/>
                          </a:solidFill>
                        </a:rPr>
                        <a:t>1</a:t>
                      </a:r>
                    </a:p>
                  </a:txBody>
                  <a:tcPr>
                    <a:solidFill>
                      <a:srgbClr val="FFFFFF"/>
                    </a:solidFill>
                  </a:tcPr>
                </a:tc>
                <a:tc>
                  <a:txBody>
                    <a:bodyPr wrap="square"/>
                    <a:lstStyle/>
                    <a:p>
                      <a:pPr algn="l"/>
                      <a:r>
                        <a:rPr sz="850" b="0">
                          <a:solidFill>
                            <a:srgbClr val="222222"/>
                          </a:solidFill>
                        </a:rPr>
                        <a:t>本提案の承認判断</a:t>
                      </a:r>
                    </a:p>
                  </a:txBody>
                  <a:tcPr>
                    <a:solidFill>
                      <a:srgbClr val="FFFFFF"/>
                    </a:solidFill>
                  </a:tcPr>
                </a:tc>
                <a:tc>
                  <a:txBody>
                    <a:bodyPr wrap="square"/>
                    <a:lstStyle/>
                    <a:p>
                      <a:pPr algn="l"/>
                      <a:r>
                        <a:rPr sz="850" b="0">
                          <a:solidFill>
                            <a:srgbClr val="222222"/>
                          </a:solidFill>
                        </a:rPr>
                        <a:t>EC事業責任者</a:t>
                      </a:r>
                    </a:p>
                  </a:txBody>
                  <a:tcPr>
                    <a:solidFill>
                      <a:srgbClr val="FFFFFF"/>
                    </a:solidFill>
                  </a:tcPr>
                </a:tc>
                <a:tc>
                  <a:txBody>
                    <a:bodyPr wrap="square"/>
                    <a:lstStyle/>
                    <a:p>
                      <a:pPr algn="l"/>
                      <a:r>
                        <a:rPr sz="850" b="0">
                          <a:solidFill>
                            <a:srgbClr val="222222"/>
                          </a:solidFill>
                        </a:rPr>
                        <a:t>2026年7月第1週</a:t>
                      </a:r>
                    </a:p>
                  </a:txBody>
                  <a:tcPr>
                    <a:solidFill>
                      <a:srgbClr val="FFFFFF"/>
                    </a:solidFill>
                  </a:tcPr>
                </a:tc>
                <a:tc>
                  <a:txBody>
                    <a:bodyPr wrap="square"/>
                    <a:lstStyle/>
                    <a:p>
                      <a:pPr algn="l"/>
                      <a:r>
                        <a:rPr sz="850" b="0">
                          <a:solidFill>
                            <a:srgbClr val="222222"/>
                          </a:solidFill>
                        </a:rPr>
                        <a:t>[検討中]</a:t>
                      </a:r>
                    </a:p>
                  </a:txBody>
                  <a:tcPr>
                    <a:solidFill>
                      <a:srgbClr val="FFFFFF"/>
                    </a:solidFill>
                  </a:tcPr>
                </a:tc>
              </a:tr>
              <a:tr h="347472">
                <a:tc>
                  <a:txBody>
                    <a:bodyPr wrap="square"/>
                    <a:lstStyle/>
                    <a:p>
                      <a:pPr algn="l"/>
                      <a:r>
                        <a:rPr sz="850" b="0">
                          <a:solidFill>
                            <a:srgbClr val="222222"/>
                          </a:solidFill>
                        </a:rPr>
                        <a:t>2</a:t>
                      </a:r>
                    </a:p>
                  </a:txBody>
                  <a:tcPr>
                    <a:solidFill>
                      <a:srgbClr val="F8FAFC"/>
                    </a:solidFill>
                  </a:tcPr>
                </a:tc>
                <a:tc>
                  <a:txBody>
                    <a:bodyPr wrap="square"/>
                    <a:lstStyle/>
                    <a:p>
                      <a:pPr algn="l"/>
                      <a:r>
                        <a:rPr sz="850" b="0">
                          <a:solidFill>
                            <a:srgbClr val="222222"/>
                          </a:solidFill>
                        </a:rPr>
                        <a:t>検査機関への見積もり依頼（3社比較）</a:t>
                      </a:r>
                    </a:p>
                  </a:txBody>
                  <a:tcPr>
                    <a:solidFill>
                      <a:srgbClr val="F8FAFC"/>
                    </a:solidFill>
                  </a:tcPr>
                </a:tc>
                <a:tc>
                  <a:txBody>
                    <a:bodyPr wrap="square"/>
                    <a:lstStyle/>
                    <a:p>
                      <a:pPr algn="l"/>
                      <a:r>
                        <a:rPr sz="850" b="0">
                          <a:solidFill>
                            <a:srgbClr val="222222"/>
                          </a:solidFill>
                        </a:rPr>
                        <a:t>仕入・物流担当</a:t>
                      </a:r>
                    </a:p>
                  </a:txBody>
                  <a:tcPr>
                    <a:solidFill>
                      <a:srgbClr val="F8FAFC"/>
                    </a:solidFill>
                  </a:tcPr>
                </a:tc>
                <a:tc>
                  <a:txBody>
                    <a:bodyPr wrap="square"/>
                    <a:lstStyle/>
                    <a:p>
                      <a:pPr algn="l"/>
                      <a:r>
                        <a:rPr sz="850" b="0">
                          <a:solidFill>
                            <a:srgbClr val="222222"/>
                          </a:solidFill>
                        </a:rPr>
                        <a:t>承認後1週間以内</a:t>
                      </a:r>
                    </a:p>
                  </a:txBody>
                  <a:tcPr>
                    <a:solidFill>
                      <a:srgbClr val="F8FAFC"/>
                    </a:solidFill>
                  </a:tcPr>
                </a:tc>
                <a:tc>
                  <a:txBody>
                    <a:bodyPr wrap="square"/>
                    <a:lstStyle/>
                    <a:p>
                      <a:pPr algn="l"/>
                      <a:r>
                        <a:rPr sz="850" b="0">
                          <a:solidFill>
                            <a:srgbClr val="222222"/>
                          </a:solidFill>
                        </a:rPr>
                        <a:t>[検討中]</a:t>
                      </a:r>
                    </a:p>
                  </a:txBody>
                  <a:tcPr>
                    <a:solidFill>
                      <a:srgbClr val="F8FAFC"/>
                    </a:solidFill>
                  </a:tcPr>
                </a:tc>
              </a:tr>
              <a:tr h="347472">
                <a:tc>
                  <a:txBody>
                    <a:bodyPr wrap="square"/>
                    <a:lstStyle/>
                    <a:p>
                      <a:pPr algn="l"/>
                      <a:r>
                        <a:rPr sz="850" b="0">
                          <a:solidFill>
                            <a:srgbClr val="222222"/>
                          </a:solidFill>
                        </a:rPr>
                        <a:t>3</a:t>
                      </a:r>
                    </a:p>
                  </a:txBody>
                  <a:tcPr>
                    <a:solidFill>
                      <a:srgbClr val="FFFFFF"/>
                    </a:solidFill>
                  </a:tcPr>
                </a:tc>
                <a:tc>
                  <a:txBody>
                    <a:bodyPr wrap="square"/>
                    <a:lstStyle/>
                    <a:p>
                      <a:pPr algn="l"/>
                      <a:r>
                        <a:rPr sz="850" b="0">
                          <a:solidFill>
                            <a:srgbClr val="222222"/>
                          </a:solidFill>
                        </a:rPr>
                        <a:t>仕入先から適合証明書の取得指示</a:t>
                      </a:r>
                    </a:p>
                  </a:txBody>
                  <a:tcPr>
                    <a:solidFill>
                      <a:srgbClr val="FFFFFF"/>
                    </a:solidFill>
                  </a:tcPr>
                </a:tc>
                <a:tc>
                  <a:txBody>
                    <a:bodyPr wrap="square"/>
                    <a:lstStyle/>
                    <a:p>
                      <a:pPr algn="l"/>
                      <a:r>
                        <a:rPr sz="850" b="0">
                          <a:solidFill>
                            <a:srgbClr val="222222"/>
                          </a:solidFill>
                        </a:rPr>
                        <a:t>仕入・物流担当</a:t>
                      </a:r>
                    </a:p>
                  </a:txBody>
                  <a:tcPr>
                    <a:solidFill>
                      <a:srgbClr val="FFFFFF"/>
                    </a:solidFill>
                  </a:tcPr>
                </a:tc>
                <a:tc>
                  <a:txBody>
                    <a:bodyPr wrap="square"/>
                    <a:lstStyle/>
                    <a:p>
                      <a:pPr algn="l"/>
                      <a:r>
                        <a:rPr sz="850" b="0">
                          <a:solidFill>
                            <a:srgbClr val="222222"/>
                          </a:solidFill>
                        </a:rPr>
                        <a:t>承認後1週間以内</a:t>
                      </a:r>
                    </a:p>
                  </a:txBody>
                  <a:tcPr>
                    <a:solidFill>
                      <a:srgbClr val="FFFFFF"/>
                    </a:solidFill>
                  </a:tcPr>
                </a:tc>
                <a:tc>
                  <a:txBody>
                    <a:bodyPr wrap="square"/>
                    <a:lstStyle/>
                    <a:p>
                      <a:pPr algn="l"/>
                      <a:r>
                        <a:rPr sz="850" b="0">
                          <a:solidFill>
                            <a:srgbClr val="222222"/>
                          </a:solidFill>
                        </a:rPr>
                        <a:t>[検討中]</a:t>
                      </a:r>
                    </a:p>
                  </a:txBody>
                  <a:tcPr>
                    <a:solidFill>
                      <a:srgbClr val="FFFFFF"/>
                    </a:solidFill>
                  </a:tcPr>
                </a:tc>
              </a:tr>
              <a:tr h="347472">
                <a:tc>
                  <a:txBody>
                    <a:bodyPr wrap="square"/>
                    <a:lstStyle/>
                    <a:p>
                      <a:pPr algn="l"/>
                      <a:r>
                        <a:rPr sz="850" b="0">
                          <a:solidFill>
                            <a:srgbClr val="222222"/>
                          </a:solidFill>
                        </a:rPr>
                        <a:t>4</a:t>
                      </a:r>
                    </a:p>
                  </a:txBody>
                  <a:tcPr>
                    <a:solidFill>
                      <a:srgbClr val="F8FAFC"/>
                    </a:solidFill>
                  </a:tcPr>
                </a:tc>
                <a:tc>
                  <a:txBody>
                    <a:bodyPr wrap="square"/>
                    <a:lstStyle/>
                    <a:p>
                      <a:pPr algn="l"/>
                      <a:r>
                        <a:rPr sz="850" b="0">
                          <a:solidFill>
                            <a:srgbClr val="222222"/>
                          </a:solidFill>
                        </a:rPr>
                        <a:t>量産同等サンプルの取得・検査依頼</a:t>
                      </a:r>
                    </a:p>
                  </a:txBody>
                  <a:tcPr>
                    <a:solidFill>
                      <a:srgbClr val="F8FAFC"/>
                    </a:solidFill>
                  </a:tcPr>
                </a:tc>
                <a:tc>
                  <a:txBody>
                    <a:bodyPr wrap="square"/>
                    <a:lstStyle/>
                    <a:p>
                      <a:pPr algn="l"/>
                      <a:r>
                        <a:rPr sz="850" b="0">
                          <a:solidFill>
                            <a:srgbClr val="222222"/>
                          </a:solidFill>
                        </a:rPr>
                        <a:t>仕入・物流担当</a:t>
                      </a:r>
                    </a:p>
                  </a:txBody>
                  <a:tcPr>
                    <a:solidFill>
                      <a:srgbClr val="F8FAFC"/>
                    </a:solidFill>
                  </a:tcPr>
                </a:tc>
                <a:tc>
                  <a:txBody>
                    <a:bodyPr wrap="square"/>
                    <a:lstStyle/>
                    <a:p>
                      <a:pPr algn="l"/>
                      <a:r>
                        <a:rPr sz="850" b="0">
                          <a:solidFill>
                            <a:srgbClr val="222222"/>
                          </a:solidFill>
                        </a:rPr>
                        <a:t>サンプル到着後即時</a:t>
                      </a:r>
                    </a:p>
                  </a:txBody>
                  <a:tcPr>
                    <a:solidFill>
                      <a:srgbClr val="F8FAFC"/>
                    </a:solidFill>
                  </a:tcPr>
                </a:tc>
                <a:tc>
                  <a:txBody>
                    <a:bodyPr wrap="square"/>
                    <a:lstStyle/>
                    <a:p>
                      <a:pPr algn="l"/>
                      <a:r>
                        <a:rPr sz="850" b="0">
                          <a:solidFill>
                            <a:srgbClr val="222222"/>
                          </a:solidFill>
                        </a:rPr>
                        <a:t>[検討中]</a:t>
                      </a:r>
                    </a:p>
                  </a:txBody>
                  <a:tcPr>
                    <a:solidFill>
                      <a:srgbClr val="F8FAFC"/>
                    </a:solidFill>
                  </a:tcPr>
                </a:tc>
              </a:tr>
              <a:tr h="347472">
                <a:tc>
                  <a:txBody>
                    <a:bodyPr wrap="square"/>
                    <a:lstStyle/>
                    <a:p>
                      <a:pPr algn="l"/>
                      <a:r>
                        <a:rPr sz="850" b="0">
                          <a:solidFill>
                            <a:srgbClr val="222222"/>
                          </a:solidFill>
                        </a:rPr>
                        <a:t>5</a:t>
                      </a:r>
                    </a:p>
                  </a:txBody>
                  <a:tcPr>
                    <a:solidFill>
                      <a:srgbClr val="FFFFFF"/>
                    </a:solidFill>
                  </a:tcPr>
                </a:tc>
                <a:tc>
                  <a:txBody>
                    <a:bodyPr wrap="square"/>
                    <a:lstStyle/>
                    <a:p>
                      <a:pPr algn="l"/>
                      <a:r>
                        <a:rPr sz="850" b="0">
                          <a:solidFill>
                            <a:srgbClr val="222222"/>
                          </a:solidFill>
                        </a:rPr>
                        <a:t>ラベル記載内容確定・印刷発注</a:t>
                      </a:r>
                    </a:p>
                  </a:txBody>
                  <a:tcPr>
                    <a:solidFill>
                      <a:srgbClr val="FFFFFF"/>
                    </a:solidFill>
                  </a:tcPr>
                </a:tc>
                <a:tc>
                  <a:txBody>
                    <a:bodyPr wrap="square"/>
                    <a:lstStyle/>
                    <a:p>
                      <a:pPr algn="l"/>
                      <a:r>
                        <a:rPr sz="850" b="0">
                          <a:solidFill>
                            <a:srgbClr val="222222"/>
                          </a:solidFill>
                        </a:rPr>
                        <a:t>仕入・物流担当</a:t>
                      </a:r>
                    </a:p>
                  </a:txBody>
                  <a:tcPr>
                    <a:solidFill>
                      <a:srgbClr val="FFFFFF"/>
                    </a:solidFill>
                  </a:tcPr>
                </a:tc>
                <a:tc>
                  <a:txBody>
                    <a:bodyPr wrap="square"/>
                    <a:lstStyle/>
                    <a:p>
                      <a:pPr algn="l"/>
                      <a:r>
                        <a:rPr sz="850" b="0">
                          <a:solidFill>
                            <a:srgbClr val="222222"/>
                          </a:solidFill>
                        </a:rPr>
                        <a:t>試験成績書受領後3日</a:t>
                      </a:r>
                    </a:p>
                  </a:txBody>
                  <a:tcPr>
                    <a:solidFill>
                      <a:srgbClr val="FFFFFF"/>
                    </a:solidFill>
                  </a:tcPr>
                </a:tc>
                <a:tc>
                  <a:txBody>
                    <a:bodyPr wrap="square"/>
                    <a:lstStyle/>
                    <a:p>
                      <a:pPr algn="l"/>
                      <a:r>
                        <a:rPr sz="850" b="0">
                          <a:solidFill>
                            <a:srgbClr val="222222"/>
                          </a:solidFill>
                        </a:rPr>
                        <a:t>[検討中]</a:t>
                      </a:r>
                    </a:p>
                  </a:txBody>
                  <a:tcPr>
                    <a:solidFill>
                      <a:srgbClr val="FFFFFF"/>
                    </a:solidFill>
                  </a:tcPr>
                </a:tc>
              </a:tr>
              <a:tr h="347472">
                <a:tc>
                  <a:txBody>
                    <a:bodyPr wrap="square"/>
                    <a:lstStyle/>
                    <a:p>
                      <a:pPr algn="l"/>
                      <a:r>
                        <a:rPr sz="850" b="0">
                          <a:solidFill>
                            <a:srgbClr val="222222"/>
                          </a:solidFill>
                        </a:rPr>
                        <a:t>6</a:t>
                      </a:r>
                    </a:p>
                  </a:txBody>
                  <a:tcPr>
                    <a:solidFill>
                      <a:srgbClr val="F8FAFC"/>
                    </a:solidFill>
                  </a:tcPr>
                </a:tc>
                <a:tc>
                  <a:txBody>
                    <a:bodyPr wrap="square"/>
                    <a:lstStyle/>
                    <a:p>
                      <a:pPr algn="l"/>
                      <a:r>
                        <a:rPr sz="850" b="0">
                          <a:solidFill>
                            <a:srgbClr val="222222"/>
                          </a:solidFill>
                        </a:rPr>
                        <a:t>FBA納品・販売開始</a:t>
                      </a:r>
                    </a:p>
                  </a:txBody>
                  <a:tcPr>
                    <a:solidFill>
                      <a:srgbClr val="F8FAFC"/>
                    </a:solidFill>
                  </a:tcPr>
                </a:tc>
                <a:tc>
                  <a:txBody>
                    <a:bodyPr wrap="square"/>
                    <a:lstStyle/>
                    <a:p>
                      <a:pPr algn="l"/>
                      <a:r>
                        <a:rPr sz="850" b="0">
                          <a:solidFill>
                            <a:srgbClr val="222222"/>
                          </a:solidFill>
                        </a:rPr>
                        <a:t>EC事業責任者</a:t>
                      </a:r>
                    </a:p>
                  </a:txBody>
                  <a:tcPr>
                    <a:solidFill>
                      <a:srgbClr val="F8FAFC"/>
                    </a:solidFill>
                  </a:tcPr>
                </a:tc>
                <a:tc>
                  <a:txBody>
                    <a:bodyPr wrap="square"/>
                    <a:lstStyle/>
                    <a:p>
                      <a:pPr algn="l"/>
                      <a:r>
                        <a:rPr sz="850" b="0">
                          <a:solidFill>
                            <a:srgbClr val="222222"/>
                          </a:solidFill>
                        </a:rPr>
                        <a:t>2026年9月中旬（目標）</a:t>
                      </a:r>
                    </a:p>
                  </a:txBody>
                  <a:tcPr>
                    <a:solidFill>
                      <a:srgbClr val="F8FAFC"/>
                    </a:solidFill>
                  </a:tcPr>
                </a:tc>
                <a:tc>
                  <a:txBody>
                    <a:bodyPr wrap="square"/>
                    <a:lstStyle/>
                    <a:p>
                      <a:pPr algn="l"/>
                      <a:r>
                        <a:rPr sz="850" b="0">
                          <a:solidFill>
                            <a:srgbClr val="222222"/>
                          </a:solidFill>
                        </a:rPr>
                        <a:t>[検討中]</a:t>
                      </a:r>
                    </a:p>
                  </a:txBody>
                  <a:tcPr>
                    <a:solidFill>
                      <a:srgbClr val="F8FAFC"/>
                    </a:solidFill>
                  </a:tcPr>
                </a:tc>
              </a:tr>
              <a:tr h="347472">
                <a:tc>
                  <a:txBody>
                    <a:bodyPr wrap="square"/>
                    <a:lstStyle/>
                    <a:p>
                      <a:pPr algn="l"/>
                      <a:r>
                        <a:rPr sz="850" b="0">
                          <a:solidFill>
                            <a:srgbClr val="222222"/>
                          </a:solidFill>
                        </a:rPr>
                        <a:t>7</a:t>
                      </a:r>
                    </a:p>
                  </a:txBody>
                  <a:tcPr>
                    <a:solidFill>
                      <a:srgbClr val="FFFFFF"/>
                    </a:solidFill>
                  </a:tcPr>
                </a:tc>
                <a:tc>
                  <a:txBody>
                    <a:bodyPr wrap="square"/>
                    <a:lstStyle/>
                    <a:p>
                      <a:pPr algn="l"/>
                      <a:r>
                        <a:rPr sz="850" b="0">
                          <a:solidFill>
                            <a:srgbClr val="222222"/>
                          </a:solidFill>
                        </a:rPr>
                        <a:t>表示内容管理シートの作成・運用開始</a:t>
                      </a:r>
                    </a:p>
                  </a:txBody>
                  <a:tcPr>
                    <a:solidFill>
                      <a:srgbClr val="FFFFFF"/>
                    </a:solidFill>
                  </a:tcPr>
                </a:tc>
                <a:tc>
                  <a:txBody>
                    <a:bodyPr wrap="square"/>
                    <a:lstStyle/>
                    <a:p>
                      <a:pPr algn="l"/>
                      <a:r>
                        <a:rPr sz="850" b="0">
                          <a:solidFill>
                            <a:srgbClr val="222222"/>
                          </a:solidFill>
                        </a:rPr>
                        <a:t>法務/コンプライアンス</a:t>
                      </a:r>
                    </a:p>
                  </a:txBody>
                  <a:tcPr>
                    <a:solidFill>
                      <a:srgbClr val="FFFFFF"/>
                    </a:solidFill>
                  </a:tcPr>
                </a:tc>
                <a:tc>
                  <a:txBody>
                    <a:bodyPr wrap="square"/>
                    <a:lstStyle/>
                    <a:p>
                      <a:pPr algn="l"/>
                      <a:r>
                        <a:rPr sz="850" b="0">
                          <a:solidFill>
                            <a:srgbClr val="222222"/>
                          </a:solidFill>
                        </a:rPr>
                        <a:t>販売開始と同時</a:t>
                      </a:r>
                    </a:p>
                  </a:txBody>
                  <a:tcPr>
                    <a:solidFill>
                      <a:srgbClr val="FFFFFF"/>
                    </a:solidFill>
                  </a:tcPr>
                </a:tc>
                <a:tc>
                  <a:txBody>
                    <a:bodyPr wrap="square"/>
                    <a:lstStyle/>
                    <a:p>
                      <a:pPr algn="l"/>
                      <a:r>
                        <a:rPr sz="850" b="0">
                          <a:solidFill>
                            <a:srgbClr val="222222"/>
                          </a:solidFill>
                        </a:rPr>
                        <a:t>[検討中]</a:t>
                      </a:r>
                    </a:p>
                  </a:txBody>
                  <a:tcPr>
                    <a:solidFill>
                      <a:srgbClr val="FFFFFF"/>
                    </a:solidFill>
                  </a:tcPr>
                </a:tc>
              </a:tr>
            </a:tbl>
          </a:graphicData>
        </a:graphic>
      </p:graphicFrame>
      <p:sp>
        <p:nvSpPr>
          <p:cNvPr id="21" name="TextBox 20"/>
          <p:cNvSpPr txBox="1"/>
          <p:nvPr/>
        </p:nvSpPr>
        <p:spPr>
          <a:xfrm>
            <a:off x="365760" y="6355080"/>
            <a:ext cx="5486400" cy="201168"/>
          </a:xfrm>
          <a:prstGeom prst="rect">
            <a:avLst/>
          </a:prstGeom>
          <a:noFill/>
        </p:spPr>
        <p:txBody>
          <a:bodyPr wrap="square">
            <a:spAutoFit/>
          </a:bodyPr>
          <a:lstStyle/>
          <a:p>
            <a:pPr algn="l"/>
            <a:r>
              <a:rPr sz="800" b="0" i="0">
                <a:solidFill>
                  <a:srgbClr val="6B7280"/>
                </a:solidFill>
              </a:rPr>
              <a:t>問い合わせ先：（担当者名・部署・メールアドレス・電話番号を記入）</a:t>
            </a:r>
          </a:p>
        </p:txBody>
      </p:sp>
      <p:sp>
        <p:nvSpPr>
          <p:cNvPr id="22" name="Rectangle 21"/>
          <p:cNvSpPr/>
          <p:nvPr/>
        </p:nvSpPr>
        <p:spPr>
          <a:xfrm>
            <a:off x="0" y="6537960"/>
            <a:ext cx="12188952"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6565392"/>
            <a:ext cx="9144000" cy="256032"/>
          </a:xfrm>
          <a:prstGeom prst="rect">
            <a:avLst/>
          </a:prstGeom>
          <a:noFill/>
        </p:spPr>
        <p:txBody>
          <a:bodyPr wrap="square">
            <a:spAutoFit/>
          </a:bodyPr>
          <a:lstStyle/>
          <a:p>
            <a:pPr algn="l"/>
            <a:r>
              <a:rPr sz="800" b="0" i="0">
                <a:solidFill>
                  <a:srgbClr val="6B7280"/>
                </a:solidFill>
              </a:rPr>
              <a:t>保冷バッグ Amazon輸入 品質表示法対応 提案書  ©貴社名</a:t>
            </a:r>
          </a:p>
        </p:txBody>
      </p:sp>
      <p:sp>
        <p:nvSpPr>
          <p:cNvPr id="24" name="TextBox 23"/>
          <p:cNvSpPr txBox="1"/>
          <p:nvPr/>
        </p:nvSpPr>
        <p:spPr>
          <a:xfrm>
            <a:off x="11247120" y="6565392"/>
            <a:ext cx="914400" cy="256032"/>
          </a:xfrm>
          <a:prstGeom prst="rect">
            <a:avLst/>
          </a:prstGeom>
          <a:noFill/>
        </p:spPr>
        <p:txBody>
          <a:bodyPr wrap="square">
            <a:spAutoFit/>
          </a:bodyPr>
          <a:lstStyle/>
          <a:p>
            <a:pPr algn="r"/>
            <a:r>
              <a:rPr sz="800" b="0" i="0">
                <a:solidFill>
                  <a:srgbClr val="6B7280"/>
                </a:solidFill>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