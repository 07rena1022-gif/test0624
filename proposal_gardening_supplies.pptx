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731520"/>
          </a:xfrm>
          <a:prstGeom prst="rect">
            <a:avLst/>
          </a:prstGeom>
          <a:noFill/>
        </p:spPr>
        <p:txBody>
          <a:bodyPr wrap="square">
            <a:spAutoFit/>
          </a:bodyPr>
          <a:lstStyle/>
          <a:p>
            <a:pPr algn="l"/>
            <a:r>
              <a:rPr sz="2800" b="1">
                <a:solidFill>
                  <a:srgbClr val="FFFFFF"/>
                </a:solidFill>
              </a:rPr>
              <a:t>ガーデニング用品 新規事業提案書</a:t>
            </a:r>
          </a:p>
        </p:txBody>
      </p:sp>
      <p:sp>
        <p:nvSpPr>
          <p:cNvPr id="5" name="TextBox 4"/>
          <p:cNvSpPr txBox="1"/>
          <p:nvPr/>
        </p:nvSpPr>
        <p:spPr>
          <a:xfrm>
            <a:off x="457200" y="822960"/>
            <a:ext cx="10972800" cy="457200"/>
          </a:xfrm>
          <a:prstGeom prst="rect">
            <a:avLst/>
          </a:prstGeom>
          <a:noFill/>
        </p:spPr>
        <p:txBody>
          <a:bodyPr wrap="square">
            <a:spAutoFit/>
          </a:bodyPr>
          <a:lstStyle/>
          <a:p>
            <a:pPr algn="l"/>
            <a:r>
              <a:rPr sz="1400" b="0">
                <a:solidFill>
                  <a:srgbClr val="CCDDFF"/>
                </a:solidFill>
              </a:rPr>
              <a:t>〜家庭園芸市場への本格参入に向けた商品ラインナップ拡充と販路開拓〜</a:t>
            </a:r>
          </a:p>
        </p:txBody>
      </p:sp>
      <p:sp>
        <p:nvSpPr>
          <p:cNvPr id="6" name="TextBox 5"/>
          <p:cNvSpPr txBox="1"/>
          <p:nvPr/>
        </p:nvSpPr>
        <p:spPr>
          <a:xfrm>
            <a:off x="731520" y="1645920"/>
            <a:ext cx="4572000" cy="365760"/>
          </a:xfrm>
          <a:prstGeom prst="rect">
            <a:avLst/>
          </a:prstGeom>
          <a:noFill/>
        </p:spPr>
        <p:txBody>
          <a:bodyPr wrap="square">
            <a:spAutoFit/>
          </a:bodyPr>
          <a:lstStyle/>
          <a:p>
            <a:pPr algn="l"/>
            <a:r>
              <a:rPr sz="1200" b="0">
                <a:solidFill>
                  <a:srgbClr val="222222"/>
                </a:solidFill>
              </a:rPr>
              <a:t>日付：2026年6月24日</a:t>
            </a:r>
          </a:p>
        </p:txBody>
      </p:sp>
      <p:sp>
        <p:nvSpPr>
          <p:cNvPr id="7" name="TextBox 6"/>
          <p:cNvSpPr txBox="1"/>
          <p:nvPr/>
        </p:nvSpPr>
        <p:spPr>
          <a:xfrm>
            <a:off x="731520" y="2011680"/>
            <a:ext cx="5486400" cy="365760"/>
          </a:xfrm>
          <a:prstGeom prst="rect">
            <a:avLst/>
          </a:prstGeom>
          <a:noFill/>
        </p:spPr>
        <p:txBody>
          <a:bodyPr wrap="square">
            <a:spAutoFit/>
          </a:bodyPr>
          <a:lstStyle/>
          <a:p>
            <a:pPr algn="l"/>
            <a:r>
              <a:rPr sz="1200" b="0">
                <a:solidFill>
                  <a:srgbClr val="222222"/>
                </a:solidFill>
              </a:rPr>
              <a:t>組織名：ガーデニング用品事業推進室</a:t>
            </a:r>
          </a:p>
        </p:txBody>
      </p:sp>
      <p:sp>
        <p:nvSpPr>
          <p:cNvPr id="8" name="TextBox 7"/>
          <p:cNvSpPr txBox="1"/>
          <p:nvPr/>
        </p:nvSpPr>
        <p:spPr>
          <a:xfrm>
            <a:off x="731520" y="2377440"/>
            <a:ext cx="5486400" cy="365760"/>
          </a:xfrm>
          <a:prstGeom prst="rect">
            <a:avLst/>
          </a:prstGeom>
          <a:noFill/>
        </p:spPr>
        <p:txBody>
          <a:bodyPr wrap="square">
            <a:spAutoFit/>
          </a:bodyPr>
          <a:lstStyle/>
          <a:p>
            <a:pPr algn="l"/>
            <a:r>
              <a:rPr sz="1200" b="0">
                <a:solidFill>
                  <a:srgbClr val="222222"/>
                </a:solidFill>
              </a:rPr>
              <a:t>作成者：提案担当者・商品企画部</a:t>
            </a:r>
          </a:p>
        </p:txBody>
      </p:sp>
      <p:sp>
        <p:nvSpPr>
          <p:cNvPr id="9" name="Rectangle 8"/>
          <p:cNvSpPr/>
          <p:nvPr/>
        </p:nvSpPr>
        <p:spPr>
          <a:xfrm>
            <a:off x="457200" y="2834640"/>
            <a:ext cx="11274552" cy="2743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926080"/>
            <a:ext cx="10058400" cy="365760"/>
          </a:xfrm>
          <a:prstGeom prst="rect">
            <a:avLst/>
          </a:prstGeom>
          <a:noFill/>
        </p:spPr>
        <p:txBody>
          <a:bodyPr wrap="square">
            <a:spAutoFit/>
          </a:bodyPr>
          <a:lstStyle/>
          <a:p>
            <a:pPr algn="l"/>
            <a:r>
              <a:rPr sz="1100" b="0">
                <a:solidFill>
                  <a:srgbClr val="222222"/>
                </a:solidFill>
              </a:rPr>
              <a:t>対象読者：☑ 経営層　☑ 事業推進担当　□ 法務/コンプライアンス　☑ 現場担当</a:t>
            </a:r>
          </a:p>
        </p:txBody>
      </p:sp>
      <p:sp>
        <p:nvSpPr>
          <p:cNvPr id="11" name="TextBox 10"/>
          <p:cNvSpPr txBox="1"/>
          <p:nvPr/>
        </p:nvSpPr>
        <p:spPr>
          <a:xfrm>
            <a:off x="731520" y="3337560"/>
            <a:ext cx="10515600" cy="365760"/>
          </a:xfrm>
          <a:prstGeom prst="rect">
            <a:avLst/>
          </a:prstGeom>
          <a:noFill/>
        </p:spPr>
        <p:txBody>
          <a:bodyPr wrap="square">
            <a:spAutoFit/>
          </a:bodyPr>
          <a:lstStyle/>
          <a:p>
            <a:pPr algn="l"/>
            <a:r>
              <a:rPr sz="1100" b="0">
                <a:solidFill>
                  <a:srgbClr val="222222"/>
                </a:solidFill>
              </a:rPr>
              <a:t>本資料の目的：ガーデニング用品の新規事業立ち上げに向けた事業計画・投資根拠を経営層に提示し、承認を得ること</a:t>
            </a:r>
          </a:p>
        </p:txBody>
      </p:sp>
      <p:sp>
        <p:nvSpPr>
          <p:cNvPr id="12" name="TextBox 11"/>
          <p:cNvSpPr txBox="1"/>
          <p:nvPr/>
        </p:nvSpPr>
        <p:spPr>
          <a:xfrm>
            <a:off x="731520" y="3749039"/>
            <a:ext cx="10515600" cy="365760"/>
          </a:xfrm>
          <a:prstGeom prst="rect">
            <a:avLst/>
          </a:prstGeom>
          <a:noFill/>
        </p:spPr>
        <p:txBody>
          <a:bodyPr wrap="square">
            <a:spAutoFit/>
          </a:bodyPr>
          <a:lstStyle/>
          <a:p>
            <a:pPr algn="l"/>
            <a:r>
              <a:rPr sz="1100" b="0">
                <a:solidFill>
                  <a:srgbClr val="222222"/>
                </a:solidFill>
              </a:rPr>
              <a:t>読後に期待するアクション：事業化の可否判断および初期投資予算（約800万円）の承認</a:t>
            </a:r>
          </a:p>
        </p:txBody>
      </p:sp>
      <p:sp>
        <p:nvSpPr>
          <p:cNvPr id="13" name="Rectangle 12"/>
          <p:cNvSpPr/>
          <p:nvPr/>
        </p:nvSpPr>
        <p:spPr>
          <a:xfrm>
            <a:off x="457200" y="4160520"/>
            <a:ext cx="11274552" cy="2743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515600" cy="548640"/>
          </a:xfrm>
          <a:prstGeom prst="rect">
            <a:avLst/>
          </a:prstGeom>
          <a:noFill/>
        </p:spPr>
        <p:txBody>
          <a:bodyPr wrap="none">
            <a:spAutoFit/>
          </a:bodyPr>
          <a:lstStyle/>
          <a:p>
            <a:r>
              <a:rPr sz="2000" b="1">
                <a:solidFill>
                  <a:srgbClr val="FFFFFF"/>
                </a:solidFill>
              </a:rPr>
              <a:t>目次</a:t>
            </a:r>
          </a:p>
        </p:txBody>
      </p:sp>
      <p:sp>
        <p:nvSpPr>
          <p:cNvPr id="4" name="TextBox 3"/>
          <p:cNvSpPr txBox="1"/>
          <p:nvPr/>
        </p:nvSpPr>
        <p:spPr>
          <a:xfrm>
            <a:off x="10789920" y="91440"/>
            <a:ext cx="1280160" cy="320040"/>
          </a:xfrm>
          <a:prstGeom prst="rect">
            <a:avLst/>
          </a:prstGeom>
          <a:noFill/>
          <a:solidFill>
            <a:srgbClr val="1A56DB"/>
          </a:solidFill>
        </p:spPr>
        <p:txBody>
          <a:bodyPr wrap="square">
            <a:spAutoFit/>
          </a:bodyPr>
          <a:lstStyle/>
          <a:p>
            <a:pPr algn="ctr"/>
            <a:r>
              <a:rPr sz="900" b="1">
                <a:solidFill>
                  <a:srgbClr val="FFFFFF"/>
                </a:solidFill>
              </a:rPr>
              <a:t>[確定]</a:t>
            </a:r>
          </a:p>
        </p:txBody>
      </p:sp>
      <p:sp>
        <p:nvSpPr>
          <p:cNvPr id="5" name="TextBox 4"/>
          <p:cNvSpPr txBox="1"/>
          <p:nvPr/>
        </p:nvSpPr>
        <p:spPr>
          <a:xfrm>
            <a:off x="457200" y="777240"/>
            <a:ext cx="9144000" cy="411480"/>
          </a:xfrm>
          <a:prstGeom prst="rect">
            <a:avLst/>
          </a:prstGeom>
          <a:noFill/>
        </p:spPr>
        <p:txBody>
          <a:bodyPr wrap="square">
            <a:spAutoFit/>
          </a:bodyPr>
          <a:lstStyle/>
          <a:p>
            <a:pPr algn="l"/>
            <a:r>
              <a:rPr sz="1100" b="0">
                <a:solidFill>
                  <a:srgbClr val="222222"/>
                </a:solidFill>
              </a:rPr>
              <a:t>I.  前置き（用語集・組織概要）</a:t>
            </a:r>
          </a:p>
        </p:txBody>
      </p:sp>
      <p:sp>
        <p:nvSpPr>
          <p:cNvPr id="6" name="TextBox 5"/>
          <p:cNvSpPr txBox="1"/>
          <p:nvPr/>
        </p:nvSpPr>
        <p:spPr>
          <a:xfrm>
            <a:off x="10515600" y="777240"/>
            <a:ext cx="1371600" cy="411480"/>
          </a:xfrm>
          <a:prstGeom prst="rect">
            <a:avLst/>
          </a:prstGeom>
          <a:noFill/>
        </p:spPr>
        <p:txBody>
          <a:bodyPr wrap="square">
            <a:spAutoFit/>
          </a:bodyPr>
          <a:lstStyle/>
          <a:p>
            <a:pPr algn="r"/>
            <a:r>
              <a:rPr sz="1100" b="0">
                <a:solidFill>
                  <a:srgbClr val="222222"/>
                </a:solidFill>
              </a:rPr>
              <a:t>p.3–4</a:t>
            </a:r>
          </a:p>
        </p:txBody>
      </p:sp>
      <p:sp>
        <p:nvSpPr>
          <p:cNvPr id="7" name="TextBox 6"/>
          <p:cNvSpPr txBox="1"/>
          <p:nvPr/>
        </p:nvSpPr>
        <p:spPr>
          <a:xfrm>
            <a:off x="457200" y="1261872"/>
            <a:ext cx="9144000" cy="411480"/>
          </a:xfrm>
          <a:prstGeom prst="rect">
            <a:avLst/>
          </a:prstGeom>
          <a:noFill/>
        </p:spPr>
        <p:txBody>
          <a:bodyPr wrap="square">
            <a:spAutoFit/>
          </a:bodyPr>
          <a:lstStyle/>
          <a:p>
            <a:pPr algn="l"/>
            <a:r>
              <a:rPr sz="1100" b="0">
                <a:solidFill>
                  <a:srgbClr val="222222"/>
                </a:solidFill>
              </a:rPr>
              <a:t>II.  背景と課題</a:t>
            </a:r>
          </a:p>
        </p:txBody>
      </p:sp>
      <p:sp>
        <p:nvSpPr>
          <p:cNvPr id="8" name="TextBox 7"/>
          <p:cNvSpPr txBox="1"/>
          <p:nvPr/>
        </p:nvSpPr>
        <p:spPr>
          <a:xfrm>
            <a:off x="10515600" y="1261872"/>
            <a:ext cx="1371600" cy="411480"/>
          </a:xfrm>
          <a:prstGeom prst="rect">
            <a:avLst/>
          </a:prstGeom>
          <a:noFill/>
        </p:spPr>
        <p:txBody>
          <a:bodyPr wrap="square">
            <a:spAutoFit/>
          </a:bodyPr>
          <a:lstStyle/>
          <a:p>
            <a:pPr algn="r"/>
            <a:r>
              <a:rPr sz="1100" b="0">
                <a:solidFill>
                  <a:srgbClr val="222222"/>
                </a:solidFill>
              </a:rPr>
              <a:t>p.5</a:t>
            </a:r>
          </a:p>
        </p:txBody>
      </p:sp>
      <p:sp>
        <p:nvSpPr>
          <p:cNvPr id="9" name="TextBox 8"/>
          <p:cNvSpPr txBox="1"/>
          <p:nvPr/>
        </p:nvSpPr>
        <p:spPr>
          <a:xfrm>
            <a:off x="457200" y="1746504"/>
            <a:ext cx="9144000" cy="411480"/>
          </a:xfrm>
          <a:prstGeom prst="rect">
            <a:avLst/>
          </a:prstGeom>
          <a:noFill/>
        </p:spPr>
        <p:txBody>
          <a:bodyPr wrap="square">
            <a:spAutoFit/>
          </a:bodyPr>
          <a:lstStyle/>
          <a:p>
            <a:pPr algn="l"/>
            <a:r>
              <a:rPr sz="1100" b="0">
                <a:solidFill>
                  <a:srgbClr val="222222"/>
                </a:solidFill>
              </a:rPr>
              <a:t>III.  本提案の目的と位置づけ</a:t>
            </a:r>
          </a:p>
        </p:txBody>
      </p:sp>
      <p:sp>
        <p:nvSpPr>
          <p:cNvPr id="10" name="TextBox 9"/>
          <p:cNvSpPr txBox="1"/>
          <p:nvPr/>
        </p:nvSpPr>
        <p:spPr>
          <a:xfrm>
            <a:off x="10515600" y="1746504"/>
            <a:ext cx="1371600" cy="411480"/>
          </a:xfrm>
          <a:prstGeom prst="rect">
            <a:avLst/>
          </a:prstGeom>
          <a:noFill/>
        </p:spPr>
        <p:txBody>
          <a:bodyPr wrap="square">
            <a:spAutoFit/>
          </a:bodyPr>
          <a:lstStyle/>
          <a:p>
            <a:pPr algn="r"/>
            <a:r>
              <a:rPr sz="1100" b="0">
                <a:solidFill>
                  <a:srgbClr val="222222"/>
                </a:solidFill>
              </a:rPr>
              <a:t>p.6</a:t>
            </a:r>
          </a:p>
        </p:txBody>
      </p:sp>
      <p:sp>
        <p:nvSpPr>
          <p:cNvPr id="11" name="TextBox 10"/>
          <p:cNvSpPr txBox="1"/>
          <p:nvPr/>
        </p:nvSpPr>
        <p:spPr>
          <a:xfrm>
            <a:off x="457200" y="2231136"/>
            <a:ext cx="9144000" cy="411480"/>
          </a:xfrm>
          <a:prstGeom prst="rect">
            <a:avLst/>
          </a:prstGeom>
          <a:noFill/>
        </p:spPr>
        <p:txBody>
          <a:bodyPr wrap="square">
            <a:spAutoFit/>
          </a:bodyPr>
          <a:lstStyle/>
          <a:p>
            <a:pPr algn="l"/>
            <a:r>
              <a:rPr sz="1100" b="0">
                <a:solidFill>
                  <a:srgbClr val="222222"/>
                </a:solidFill>
              </a:rPr>
              <a:t>IV.  従来手法 vs 提案の対比</a:t>
            </a:r>
          </a:p>
        </p:txBody>
      </p:sp>
      <p:sp>
        <p:nvSpPr>
          <p:cNvPr id="12" name="TextBox 11"/>
          <p:cNvSpPr txBox="1"/>
          <p:nvPr/>
        </p:nvSpPr>
        <p:spPr>
          <a:xfrm>
            <a:off x="10515600" y="2231136"/>
            <a:ext cx="1371600" cy="411480"/>
          </a:xfrm>
          <a:prstGeom prst="rect">
            <a:avLst/>
          </a:prstGeom>
          <a:noFill/>
        </p:spPr>
        <p:txBody>
          <a:bodyPr wrap="square">
            <a:spAutoFit/>
          </a:bodyPr>
          <a:lstStyle/>
          <a:p>
            <a:pPr algn="r"/>
            <a:r>
              <a:rPr sz="1100" b="0">
                <a:solidFill>
                  <a:srgbClr val="222222"/>
                </a:solidFill>
              </a:rPr>
              <a:t>p.7</a:t>
            </a:r>
          </a:p>
        </p:txBody>
      </p:sp>
      <p:sp>
        <p:nvSpPr>
          <p:cNvPr id="13" name="TextBox 12"/>
          <p:cNvSpPr txBox="1"/>
          <p:nvPr/>
        </p:nvSpPr>
        <p:spPr>
          <a:xfrm>
            <a:off x="457200" y="2715768"/>
            <a:ext cx="9144000" cy="411480"/>
          </a:xfrm>
          <a:prstGeom prst="rect">
            <a:avLst/>
          </a:prstGeom>
          <a:noFill/>
        </p:spPr>
        <p:txBody>
          <a:bodyPr wrap="square">
            <a:spAutoFit/>
          </a:bodyPr>
          <a:lstStyle/>
          <a:p>
            <a:pPr algn="l"/>
            <a:r>
              <a:rPr sz="1100" b="0">
                <a:solidFill>
                  <a:srgbClr val="222222"/>
                </a:solidFill>
              </a:rPr>
              <a:t>V.  想定リスクと対応策</a:t>
            </a:r>
          </a:p>
        </p:txBody>
      </p:sp>
      <p:sp>
        <p:nvSpPr>
          <p:cNvPr id="14" name="TextBox 13"/>
          <p:cNvSpPr txBox="1"/>
          <p:nvPr/>
        </p:nvSpPr>
        <p:spPr>
          <a:xfrm>
            <a:off x="10515600" y="2715768"/>
            <a:ext cx="1371600" cy="411480"/>
          </a:xfrm>
          <a:prstGeom prst="rect">
            <a:avLst/>
          </a:prstGeom>
          <a:noFill/>
        </p:spPr>
        <p:txBody>
          <a:bodyPr wrap="square">
            <a:spAutoFit/>
          </a:bodyPr>
          <a:lstStyle/>
          <a:p>
            <a:pPr algn="r"/>
            <a:r>
              <a:rPr sz="1100" b="0">
                <a:solidFill>
                  <a:srgbClr val="222222"/>
                </a:solidFill>
              </a:rPr>
              <a:t>p.8</a:t>
            </a:r>
          </a:p>
        </p:txBody>
      </p:sp>
      <p:sp>
        <p:nvSpPr>
          <p:cNvPr id="15" name="TextBox 14"/>
          <p:cNvSpPr txBox="1"/>
          <p:nvPr/>
        </p:nvSpPr>
        <p:spPr>
          <a:xfrm>
            <a:off x="457200" y="3200400"/>
            <a:ext cx="9144000" cy="411480"/>
          </a:xfrm>
          <a:prstGeom prst="rect">
            <a:avLst/>
          </a:prstGeom>
          <a:noFill/>
        </p:spPr>
        <p:txBody>
          <a:bodyPr wrap="square">
            <a:spAutoFit/>
          </a:bodyPr>
          <a:lstStyle/>
          <a:p>
            <a:pPr algn="l"/>
            <a:r>
              <a:rPr sz="1100" b="0">
                <a:solidFill>
                  <a:srgbClr val="222222"/>
                </a:solidFill>
              </a:rPr>
              <a:t>VI.  商品方針・ラインナップ</a:t>
            </a:r>
          </a:p>
        </p:txBody>
      </p:sp>
      <p:sp>
        <p:nvSpPr>
          <p:cNvPr id="16" name="TextBox 15"/>
          <p:cNvSpPr txBox="1"/>
          <p:nvPr/>
        </p:nvSpPr>
        <p:spPr>
          <a:xfrm>
            <a:off x="10515600" y="3200400"/>
            <a:ext cx="1371600" cy="411480"/>
          </a:xfrm>
          <a:prstGeom prst="rect">
            <a:avLst/>
          </a:prstGeom>
          <a:noFill/>
        </p:spPr>
        <p:txBody>
          <a:bodyPr wrap="square">
            <a:spAutoFit/>
          </a:bodyPr>
          <a:lstStyle/>
          <a:p>
            <a:pPr algn="r"/>
            <a:r>
              <a:rPr sz="1100" b="0">
                <a:solidFill>
                  <a:srgbClr val="222222"/>
                </a:solidFill>
              </a:rPr>
              <a:t>p.9</a:t>
            </a:r>
          </a:p>
        </p:txBody>
      </p:sp>
      <p:sp>
        <p:nvSpPr>
          <p:cNvPr id="17" name="TextBox 16"/>
          <p:cNvSpPr txBox="1"/>
          <p:nvPr/>
        </p:nvSpPr>
        <p:spPr>
          <a:xfrm>
            <a:off x="457200" y="3685032"/>
            <a:ext cx="9144000" cy="411480"/>
          </a:xfrm>
          <a:prstGeom prst="rect">
            <a:avLst/>
          </a:prstGeom>
          <a:noFill/>
        </p:spPr>
        <p:txBody>
          <a:bodyPr wrap="square">
            <a:spAutoFit/>
          </a:bodyPr>
          <a:lstStyle/>
          <a:p>
            <a:pPr algn="l"/>
            <a:r>
              <a:rPr sz="1100" b="0">
                <a:solidFill>
                  <a:srgbClr val="222222"/>
                </a:solidFill>
              </a:rPr>
              <a:t>VII.  関連法規・規制対応</a:t>
            </a:r>
          </a:p>
        </p:txBody>
      </p:sp>
      <p:sp>
        <p:nvSpPr>
          <p:cNvPr id="18" name="TextBox 17"/>
          <p:cNvSpPr txBox="1"/>
          <p:nvPr/>
        </p:nvSpPr>
        <p:spPr>
          <a:xfrm>
            <a:off x="10515600" y="3685032"/>
            <a:ext cx="1371600" cy="411480"/>
          </a:xfrm>
          <a:prstGeom prst="rect">
            <a:avLst/>
          </a:prstGeom>
          <a:noFill/>
        </p:spPr>
        <p:txBody>
          <a:bodyPr wrap="square">
            <a:spAutoFit/>
          </a:bodyPr>
          <a:lstStyle/>
          <a:p>
            <a:pPr algn="r"/>
            <a:r>
              <a:rPr sz="1100" b="0">
                <a:solidFill>
                  <a:srgbClr val="222222"/>
                </a:solidFill>
              </a:rPr>
              <a:t>p.10</a:t>
            </a:r>
          </a:p>
        </p:txBody>
      </p:sp>
      <p:sp>
        <p:nvSpPr>
          <p:cNvPr id="19" name="TextBox 18"/>
          <p:cNvSpPr txBox="1"/>
          <p:nvPr/>
        </p:nvSpPr>
        <p:spPr>
          <a:xfrm>
            <a:off x="457200" y="4169664"/>
            <a:ext cx="9144000" cy="411480"/>
          </a:xfrm>
          <a:prstGeom prst="rect">
            <a:avLst/>
          </a:prstGeom>
          <a:noFill/>
        </p:spPr>
        <p:txBody>
          <a:bodyPr wrap="square">
            <a:spAutoFit/>
          </a:bodyPr>
          <a:lstStyle/>
          <a:p>
            <a:pPr algn="l"/>
            <a:r>
              <a:rPr sz="1100" b="0">
                <a:solidFill>
                  <a:srgbClr val="222222"/>
                </a:solidFill>
              </a:rPr>
              <a:t>VIII.  販売ライフサイクルと実施フロー</a:t>
            </a:r>
          </a:p>
        </p:txBody>
      </p:sp>
      <p:sp>
        <p:nvSpPr>
          <p:cNvPr id="20" name="TextBox 19"/>
          <p:cNvSpPr txBox="1"/>
          <p:nvPr/>
        </p:nvSpPr>
        <p:spPr>
          <a:xfrm>
            <a:off x="10515600" y="4169664"/>
            <a:ext cx="1371600" cy="411480"/>
          </a:xfrm>
          <a:prstGeom prst="rect">
            <a:avLst/>
          </a:prstGeom>
          <a:noFill/>
        </p:spPr>
        <p:txBody>
          <a:bodyPr wrap="square">
            <a:spAutoFit/>
          </a:bodyPr>
          <a:lstStyle/>
          <a:p>
            <a:pPr algn="r"/>
            <a:r>
              <a:rPr sz="1100" b="0">
                <a:solidFill>
                  <a:srgbClr val="222222"/>
                </a:solidFill>
              </a:rPr>
              <a:t>p.11</a:t>
            </a:r>
          </a:p>
        </p:txBody>
      </p:sp>
      <p:sp>
        <p:nvSpPr>
          <p:cNvPr id="21" name="TextBox 20"/>
          <p:cNvSpPr txBox="1"/>
          <p:nvPr/>
        </p:nvSpPr>
        <p:spPr>
          <a:xfrm>
            <a:off x="457200" y="4654296"/>
            <a:ext cx="9144000" cy="411480"/>
          </a:xfrm>
          <a:prstGeom prst="rect">
            <a:avLst/>
          </a:prstGeom>
          <a:noFill/>
        </p:spPr>
        <p:txBody>
          <a:bodyPr wrap="square">
            <a:spAutoFit/>
          </a:bodyPr>
          <a:lstStyle/>
          <a:p>
            <a:pPr algn="l"/>
            <a:r>
              <a:rPr sz="1100" b="0">
                <a:solidFill>
                  <a:srgbClr val="222222"/>
                </a:solidFill>
              </a:rPr>
              <a:t>IX.  コスト・ROI試算（必須）</a:t>
            </a:r>
          </a:p>
        </p:txBody>
      </p:sp>
      <p:sp>
        <p:nvSpPr>
          <p:cNvPr id="22" name="TextBox 21"/>
          <p:cNvSpPr txBox="1"/>
          <p:nvPr/>
        </p:nvSpPr>
        <p:spPr>
          <a:xfrm>
            <a:off x="10515600" y="4654296"/>
            <a:ext cx="1371600" cy="411480"/>
          </a:xfrm>
          <a:prstGeom prst="rect">
            <a:avLst/>
          </a:prstGeom>
          <a:noFill/>
        </p:spPr>
        <p:txBody>
          <a:bodyPr wrap="square">
            <a:spAutoFit/>
          </a:bodyPr>
          <a:lstStyle/>
          <a:p>
            <a:pPr algn="r"/>
            <a:r>
              <a:rPr sz="1100" b="0">
                <a:solidFill>
                  <a:srgbClr val="222222"/>
                </a:solidFill>
              </a:rPr>
              <a:t>p.12</a:t>
            </a:r>
          </a:p>
        </p:txBody>
      </p:sp>
      <p:sp>
        <p:nvSpPr>
          <p:cNvPr id="23" name="TextBox 22"/>
          <p:cNvSpPr txBox="1"/>
          <p:nvPr/>
        </p:nvSpPr>
        <p:spPr>
          <a:xfrm>
            <a:off x="457200" y="5138928"/>
            <a:ext cx="9144000" cy="411480"/>
          </a:xfrm>
          <a:prstGeom prst="rect">
            <a:avLst/>
          </a:prstGeom>
          <a:noFill/>
        </p:spPr>
        <p:txBody>
          <a:bodyPr wrap="square">
            <a:spAutoFit/>
          </a:bodyPr>
          <a:lstStyle/>
          <a:p>
            <a:pPr algn="l"/>
            <a:r>
              <a:rPr sz="1100" b="0">
                <a:solidFill>
                  <a:srgbClr val="222222"/>
                </a:solidFill>
              </a:rPr>
              <a:t>X.  活用事例・ユースケース</a:t>
            </a:r>
          </a:p>
        </p:txBody>
      </p:sp>
      <p:sp>
        <p:nvSpPr>
          <p:cNvPr id="24" name="TextBox 23"/>
          <p:cNvSpPr txBox="1"/>
          <p:nvPr/>
        </p:nvSpPr>
        <p:spPr>
          <a:xfrm>
            <a:off x="10515600" y="5138928"/>
            <a:ext cx="1371600" cy="411480"/>
          </a:xfrm>
          <a:prstGeom prst="rect">
            <a:avLst/>
          </a:prstGeom>
          <a:noFill/>
        </p:spPr>
        <p:txBody>
          <a:bodyPr wrap="square">
            <a:spAutoFit/>
          </a:bodyPr>
          <a:lstStyle/>
          <a:p>
            <a:pPr algn="r"/>
            <a:r>
              <a:rPr sz="1100" b="0">
                <a:solidFill>
                  <a:srgbClr val="222222"/>
                </a:solidFill>
              </a:rPr>
              <a:t>p.13–14</a:t>
            </a:r>
          </a:p>
        </p:txBody>
      </p:sp>
      <p:sp>
        <p:nvSpPr>
          <p:cNvPr id="25" name="TextBox 24"/>
          <p:cNvSpPr txBox="1"/>
          <p:nvPr/>
        </p:nvSpPr>
        <p:spPr>
          <a:xfrm>
            <a:off x="457200" y="5623560"/>
            <a:ext cx="9144000" cy="411480"/>
          </a:xfrm>
          <a:prstGeom prst="rect">
            <a:avLst/>
          </a:prstGeom>
          <a:noFill/>
        </p:spPr>
        <p:txBody>
          <a:bodyPr wrap="square">
            <a:spAutoFit/>
          </a:bodyPr>
          <a:lstStyle/>
          <a:p>
            <a:pPr algn="l"/>
            <a:r>
              <a:rPr sz="1100" b="0">
                <a:solidFill>
                  <a:srgbClr val="222222"/>
                </a:solidFill>
              </a:rPr>
              <a:t>XI.  まとめと今後のアクション</a:t>
            </a:r>
          </a:p>
        </p:txBody>
      </p:sp>
      <p:sp>
        <p:nvSpPr>
          <p:cNvPr id="26" name="TextBox 25"/>
          <p:cNvSpPr txBox="1"/>
          <p:nvPr/>
        </p:nvSpPr>
        <p:spPr>
          <a:xfrm>
            <a:off x="10515600" y="5623560"/>
            <a:ext cx="1371600" cy="411480"/>
          </a:xfrm>
          <a:prstGeom prst="rect">
            <a:avLst/>
          </a:prstGeom>
          <a:noFill/>
        </p:spPr>
        <p:txBody>
          <a:bodyPr wrap="square">
            <a:spAutoFit/>
          </a:bodyPr>
          <a:lstStyle/>
          <a:p>
            <a:pPr algn="r"/>
            <a:r>
              <a:rPr sz="1100" b="0">
                <a:solidFill>
                  <a:srgbClr val="222222"/>
                </a:solidFill>
              </a:rPr>
              <a:t>p.15</a:t>
            </a:r>
          </a:p>
        </p:txBody>
      </p:sp>
      <p:sp>
        <p:nvSpPr>
          <p:cNvPr id="27" name="TextBox 26"/>
          <p:cNvSpPr txBox="1"/>
          <p:nvPr/>
        </p:nvSpPr>
        <p:spPr>
          <a:xfrm>
            <a:off x="457200" y="6217920"/>
            <a:ext cx="10972800" cy="365760"/>
          </a:xfrm>
          <a:prstGeom prst="rect">
            <a:avLst/>
          </a:prstGeom>
          <a:noFill/>
        </p:spPr>
        <p:txBody>
          <a:bodyPr wrap="square">
            <a:spAutoFit/>
          </a:bodyPr>
          <a:lstStyle/>
          <a:p>
            <a:pPr algn="l"/>
            <a:r>
              <a:rPr sz="900" b="0">
                <a:solidFill>
                  <a:srgbClr val="666666"/>
                </a:solidFill>
              </a:rPr>
              <a:t>凡例：[確定] = 決定済み　[検討中] = 変更可能性あり　[参考] = 外部引用</a:t>
            </a:r>
          </a:p>
        </p:txBody>
      </p:sp>
      <p:sp>
        <p:nvSpPr>
          <p:cNvPr id="28" name="TextBox 27"/>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515600" cy="548640"/>
          </a:xfrm>
          <a:prstGeom prst="rect">
            <a:avLst/>
          </a:prstGeom>
          <a:noFill/>
        </p:spPr>
        <p:txBody>
          <a:bodyPr wrap="none">
            <a:spAutoFit/>
          </a:bodyPr>
          <a:lstStyle/>
          <a:p>
            <a:r>
              <a:rPr sz="2000" b="1">
                <a:solidFill>
                  <a:srgbClr val="FFFFFF"/>
                </a:solidFill>
              </a:rPr>
              <a:t>本資料で使用する主要用語</a:t>
            </a:r>
          </a:p>
        </p:txBody>
      </p:sp>
      <p:sp>
        <p:nvSpPr>
          <p:cNvPr id="4" name="TextBox 3"/>
          <p:cNvSpPr txBox="1"/>
          <p:nvPr/>
        </p:nvSpPr>
        <p:spPr>
          <a:xfrm>
            <a:off x="10789920" y="91440"/>
            <a:ext cx="1280160" cy="320040"/>
          </a:xfrm>
          <a:prstGeom prst="rect">
            <a:avLst/>
          </a:prstGeom>
          <a:noFill/>
          <a:solidFill>
            <a:srgbClr val="1A56DB"/>
          </a:solidFill>
        </p:spPr>
        <p:txBody>
          <a:bodyPr wrap="square">
            <a:spAutoFit/>
          </a:bodyPr>
          <a:lstStyle/>
          <a:p>
            <a:pPr algn="ctr"/>
            <a:r>
              <a:rPr sz="900" b="1">
                <a:solidFill>
                  <a:srgbClr val="FFFFFF"/>
                </a:solidFill>
              </a:rPr>
              <a:t>[確定]</a:t>
            </a:r>
          </a:p>
        </p:txBody>
      </p:sp>
      <p:graphicFrame>
        <p:nvGraphicFramePr>
          <p:cNvPr id="5" name="Table 4"/>
          <p:cNvGraphicFramePr>
            <a:graphicFrameLocks noGrp="1"/>
          </p:cNvGraphicFramePr>
          <p:nvPr/>
        </p:nvGraphicFramePr>
        <p:xfrm>
          <a:off x="274320" y="731520"/>
          <a:ext cx="11612880" cy="5303520"/>
        </p:xfrm>
        <a:graphic>
          <a:graphicData uri="http://schemas.openxmlformats.org/drawingml/2006/table">
            <a:tbl>
              <a:tblPr firstRow="1" bandRow="1">
                <a:tableStyleId>{5C22544A-7EE6-4342-B048-85BDC9FD1C3A}</a:tableStyleId>
              </a:tblPr>
              <a:tblGrid>
                <a:gridCol w="3870960"/>
                <a:gridCol w="3870960"/>
                <a:gridCol w="3870960"/>
              </a:tblGrid>
              <a:tr h="662940">
                <a:tc>
                  <a:txBody>
                    <a:bodyPr/>
                    <a:lstStyle/>
                    <a:p>
                      <a:r>
                        <a:rPr b="1" sz="900">
                          <a:solidFill>
                            <a:srgbClr val="FFFFFF"/>
                          </a:solidFill>
                        </a:rPr>
                        <a:t>用語</a:t>
                      </a:r>
                    </a:p>
                  </a:txBody>
                  <a:tcPr>
                    <a:solidFill>
                      <a:srgbClr val="1A56DB"/>
                    </a:solidFill>
                  </a:tcPr>
                </a:tc>
                <a:tc>
                  <a:txBody>
                    <a:bodyPr/>
                    <a:lstStyle/>
                    <a:p>
                      <a:r>
                        <a:rPr b="1" sz="900">
                          <a:solidFill>
                            <a:srgbClr val="FFFFFF"/>
                          </a:solidFill>
                        </a:rPr>
                        <a:t>正式名称・読み</a:t>
                      </a:r>
                    </a:p>
                  </a:txBody>
                  <a:tcPr>
                    <a:solidFill>
                      <a:srgbClr val="1A56DB"/>
                    </a:solidFill>
                  </a:tcPr>
                </a:tc>
                <a:tc>
                  <a:txBody>
                    <a:bodyPr/>
                    <a:lstStyle/>
                    <a:p>
                      <a:r>
                        <a:rPr b="1" sz="900">
                          <a:solidFill>
                            <a:srgbClr val="FFFFFF"/>
                          </a:solidFill>
                        </a:rPr>
                        <a:t>説明（1–2文）</a:t>
                      </a:r>
                    </a:p>
                  </a:txBody>
                  <a:tcPr>
                    <a:solidFill>
                      <a:srgbClr val="1A56DB"/>
                    </a:solidFill>
                  </a:tcPr>
                </a:tc>
              </a:tr>
              <a:tr h="662940">
                <a:tc>
                  <a:txBody>
                    <a:bodyPr/>
                    <a:lstStyle/>
                    <a:p>
                      <a:r>
                        <a:rPr sz="800">
                          <a:solidFill>
                            <a:srgbClr val="222222"/>
                          </a:solidFill>
                        </a:rPr>
                        <a:t>ガーデニング用品</a:t>
                      </a:r>
                    </a:p>
                  </a:txBody>
                  <a:tcPr>
                    <a:solidFill>
                      <a:srgbClr val="F0F0F0"/>
                    </a:solidFill>
                  </a:tcPr>
                </a:tc>
                <a:tc>
                  <a:txBody>
                    <a:bodyPr/>
                    <a:lstStyle/>
                    <a:p>
                      <a:r>
                        <a:rPr sz="800">
                          <a:solidFill>
                            <a:srgbClr val="222222"/>
                          </a:solidFill>
                        </a:rPr>
                        <a:t>Gardening Supplies</a:t>
                      </a:r>
                    </a:p>
                  </a:txBody>
                  <a:tcPr>
                    <a:solidFill>
                      <a:srgbClr val="F0F0F0"/>
                    </a:solidFill>
                  </a:tcPr>
                </a:tc>
                <a:tc>
                  <a:txBody>
                    <a:bodyPr/>
                    <a:lstStyle/>
                    <a:p>
                      <a:r>
                        <a:rPr sz="800">
                          <a:solidFill>
                            <a:srgbClr val="222222"/>
                          </a:solidFill>
                        </a:rPr>
                        <a:t>家庭菜園・庭づくりに使う道具・資材の総称。鉢・培養土・肥料・剪定ばさみ等を含む</a:t>
                      </a:r>
                    </a:p>
                  </a:txBody>
                  <a:tcPr>
                    <a:solidFill>
                      <a:srgbClr val="F0F0F0"/>
                    </a:solidFill>
                  </a:tcPr>
                </a:tc>
              </a:tr>
              <a:tr h="662940">
                <a:tc>
                  <a:txBody>
                    <a:bodyPr/>
                    <a:lstStyle/>
                    <a:p>
                      <a:r>
                        <a:rPr sz="800">
                          <a:solidFill>
                            <a:srgbClr val="222222"/>
                          </a:solidFill>
                        </a:rPr>
                        <a:t>OEM</a:t>
                      </a:r>
                    </a:p>
                  </a:txBody>
                  <a:tcPr>
                    <a:solidFill>
                      <a:srgbClr val="FFFFFF"/>
                    </a:solidFill>
                  </a:tcPr>
                </a:tc>
                <a:tc>
                  <a:txBody>
                    <a:bodyPr/>
                    <a:lstStyle/>
                    <a:p>
                      <a:r>
                        <a:rPr sz="800">
                          <a:solidFill>
                            <a:srgbClr val="222222"/>
                          </a:solidFill>
                        </a:rPr>
                        <a:t>Original Equipment Manufacturer</a:t>
                      </a:r>
                    </a:p>
                  </a:txBody>
                  <a:tcPr>
                    <a:solidFill>
                      <a:srgbClr val="FFFFFF"/>
                    </a:solidFill>
                  </a:tcPr>
                </a:tc>
                <a:tc>
                  <a:txBody>
                    <a:bodyPr/>
                    <a:lstStyle/>
                    <a:p>
                      <a:r>
                        <a:rPr sz="800">
                          <a:solidFill>
                            <a:srgbClr val="222222"/>
                          </a:solidFill>
                        </a:rPr>
                        <a:t>他社ブランドで販売する製品を受託製造する方式。自社製造設備不要で商品化が可能</a:t>
                      </a:r>
                    </a:p>
                  </a:txBody>
                  <a:tcPr>
                    <a:solidFill>
                      <a:srgbClr val="FFFFFF"/>
                    </a:solidFill>
                  </a:tcPr>
                </a:tc>
              </a:tr>
              <a:tr h="662940">
                <a:tc>
                  <a:txBody>
                    <a:bodyPr/>
                    <a:lstStyle/>
                    <a:p>
                      <a:r>
                        <a:rPr sz="800">
                          <a:solidFill>
                            <a:srgbClr val="222222"/>
                          </a:solidFill>
                        </a:rPr>
                        <a:t>EC</a:t>
                      </a:r>
                    </a:p>
                  </a:txBody>
                  <a:tcPr>
                    <a:solidFill>
                      <a:srgbClr val="F0F0F0"/>
                    </a:solidFill>
                  </a:tcPr>
                </a:tc>
                <a:tc>
                  <a:txBody>
                    <a:bodyPr/>
                    <a:lstStyle/>
                    <a:p>
                      <a:r>
                        <a:rPr sz="800">
                          <a:solidFill>
                            <a:srgbClr val="222222"/>
                          </a:solidFill>
                        </a:rPr>
                        <a:t>Electronic Commerce（電子商取引）</a:t>
                      </a:r>
                    </a:p>
                  </a:txBody>
                  <a:tcPr>
                    <a:solidFill>
                      <a:srgbClr val="F0F0F0"/>
                    </a:solidFill>
                  </a:tcPr>
                </a:tc>
                <a:tc>
                  <a:txBody>
                    <a:bodyPr/>
                    <a:lstStyle/>
                    <a:p>
                      <a:r>
                        <a:rPr sz="800">
                          <a:solidFill>
                            <a:srgbClr val="222222"/>
                          </a:solidFill>
                        </a:rPr>
                        <a:t>インターネット上での売買。本資料では自社ECサイトおよびモール型EC（楽天・Amazon）を指す</a:t>
                      </a:r>
                    </a:p>
                  </a:txBody>
                  <a:tcPr>
                    <a:solidFill>
                      <a:srgbClr val="F0F0F0"/>
                    </a:solidFill>
                  </a:tcPr>
                </a:tc>
              </a:tr>
              <a:tr h="662940">
                <a:tc>
                  <a:txBody>
                    <a:bodyPr/>
                    <a:lstStyle/>
                    <a:p>
                      <a:r>
                        <a:rPr sz="800">
                          <a:solidFill>
                            <a:srgbClr val="222222"/>
                          </a:solidFill>
                        </a:rPr>
                        <a:t>SKU</a:t>
                      </a:r>
                    </a:p>
                  </a:txBody>
                  <a:tcPr>
                    <a:solidFill>
                      <a:srgbClr val="FFFFFF"/>
                    </a:solidFill>
                  </a:tcPr>
                </a:tc>
                <a:tc>
                  <a:txBody>
                    <a:bodyPr/>
                    <a:lstStyle/>
                    <a:p>
                      <a:r>
                        <a:rPr sz="800">
                          <a:solidFill>
                            <a:srgbClr val="222222"/>
                          </a:solidFill>
                        </a:rPr>
                        <a:t>Stock Keeping Unit（最小管理単位）</a:t>
                      </a:r>
                    </a:p>
                  </a:txBody>
                  <a:tcPr>
                    <a:solidFill>
                      <a:srgbClr val="FFFFFF"/>
                    </a:solidFill>
                  </a:tcPr>
                </a:tc>
                <a:tc>
                  <a:txBody>
                    <a:bodyPr/>
                    <a:lstStyle/>
                    <a:p>
                      <a:r>
                        <a:rPr sz="800">
                          <a:solidFill>
                            <a:srgbClr val="222222"/>
                          </a:solidFill>
                        </a:rPr>
                        <a:t>商品・サイズ・色等の組み合わせ単位。在庫管理の基本単位</a:t>
                      </a:r>
                    </a:p>
                  </a:txBody>
                  <a:tcPr>
                    <a:solidFill>
                      <a:srgbClr val="FFFFFF"/>
                    </a:solidFill>
                  </a:tcPr>
                </a:tc>
              </a:tr>
              <a:tr h="662940">
                <a:tc>
                  <a:txBody>
                    <a:bodyPr/>
                    <a:lstStyle/>
                    <a:p>
                      <a:r>
                        <a:rPr sz="800">
                          <a:solidFill>
                            <a:srgbClr val="222222"/>
                          </a:solidFill>
                        </a:rPr>
                        <a:t>D2C</a:t>
                      </a:r>
                    </a:p>
                  </a:txBody>
                  <a:tcPr>
                    <a:solidFill>
                      <a:srgbClr val="F0F0F0"/>
                    </a:solidFill>
                  </a:tcPr>
                </a:tc>
                <a:tc>
                  <a:txBody>
                    <a:bodyPr/>
                    <a:lstStyle/>
                    <a:p>
                      <a:r>
                        <a:rPr sz="800">
                          <a:solidFill>
                            <a:srgbClr val="222222"/>
                          </a:solidFill>
                        </a:rPr>
                        <a:t>Direct to Consumer</a:t>
                      </a:r>
                    </a:p>
                  </a:txBody>
                  <a:tcPr>
                    <a:solidFill>
                      <a:srgbClr val="F0F0F0"/>
                    </a:solidFill>
                  </a:tcPr>
                </a:tc>
                <a:tc>
                  <a:txBody>
                    <a:bodyPr/>
                    <a:lstStyle/>
                    <a:p>
                      <a:r>
                        <a:rPr sz="800">
                          <a:solidFill>
                            <a:srgbClr val="222222"/>
                          </a:solidFill>
                        </a:rPr>
                        <a:t>メーカーが中間流通を介さず直接消費者へ販売するモデル</a:t>
                      </a:r>
                    </a:p>
                  </a:txBody>
                  <a:tcPr>
                    <a:solidFill>
                      <a:srgbClr val="F0F0F0"/>
                    </a:solidFill>
                  </a:tcPr>
                </a:tc>
              </a:tr>
              <a:tr h="662940">
                <a:tc>
                  <a:txBody>
                    <a:bodyPr/>
                    <a:lstStyle/>
                    <a:p>
                      <a:r>
                        <a:rPr sz="800">
                          <a:solidFill>
                            <a:srgbClr val="222222"/>
                          </a:solidFill>
                        </a:rPr>
                        <a:t>ROI</a:t>
                      </a:r>
                    </a:p>
                  </a:txBody>
                  <a:tcPr>
                    <a:solidFill>
                      <a:srgbClr val="FFFFFF"/>
                    </a:solidFill>
                  </a:tcPr>
                </a:tc>
                <a:tc>
                  <a:txBody>
                    <a:bodyPr/>
                    <a:lstStyle/>
                    <a:p>
                      <a:r>
                        <a:rPr sz="800">
                          <a:solidFill>
                            <a:srgbClr val="222222"/>
                          </a:solidFill>
                        </a:rPr>
                        <a:t>Return on Investment（投資対効果）</a:t>
                      </a:r>
                    </a:p>
                  </a:txBody>
                  <a:tcPr>
                    <a:solidFill>
                      <a:srgbClr val="FFFFFF"/>
                    </a:solidFill>
                  </a:tcPr>
                </a:tc>
                <a:tc>
                  <a:txBody>
                    <a:bodyPr/>
                    <a:lstStyle/>
                    <a:p>
                      <a:r>
                        <a:rPr sz="800">
                          <a:solidFill>
                            <a:srgbClr val="222222"/>
                          </a:solidFill>
                        </a:rPr>
                        <a:t>投資額に対してどれだけの利益を生んだかを示す指標。ROI＝(利益÷投資額)×100%</a:t>
                      </a:r>
                    </a:p>
                  </a:txBody>
                  <a:tcPr>
                    <a:solidFill>
                      <a:srgbClr val="FFFFFF"/>
                    </a:solidFill>
                  </a:tcPr>
                </a:tc>
              </a:tr>
              <a:tr h="662940">
                <a:tc>
                  <a:txBody>
                    <a:bodyPr/>
                    <a:lstStyle/>
                    <a:p>
                      <a:r>
                        <a:rPr sz="800">
                          <a:solidFill>
                            <a:srgbClr val="222222"/>
                          </a:solidFill>
                        </a:rPr>
                        <a:t>SKU廃番</a:t>
                      </a:r>
                    </a:p>
                  </a:txBody>
                  <a:tcPr>
                    <a:solidFill>
                      <a:srgbClr val="F0F0F0"/>
                    </a:solidFill>
                  </a:tcPr>
                </a:tc>
                <a:tc>
                  <a:txBody>
                    <a:bodyPr/>
                    <a:lstStyle/>
                    <a:p>
                      <a:r>
                        <a:rPr sz="800">
                          <a:solidFill>
                            <a:srgbClr val="222222"/>
                          </a:solidFill>
                        </a:rPr>
                        <a:t>SKU Discontinuation</a:t>
                      </a:r>
                    </a:p>
                  </a:txBody>
                  <a:tcPr>
                    <a:solidFill>
                      <a:srgbClr val="F0F0F0"/>
                    </a:solidFill>
                  </a:tcPr>
                </a:tc>
                <a:tc>
                  <a:txBody>
                    <a:bodyPr/>
                    <a:lstStyle/>
                    <a:p>
                      <a:r>
                        <a:rPr sz="800">
                          <a:solidFill>
                            <a:srgbClr val="222222"/>
                          </a:solidFill>
                        </a:rPr>
                        <a:t>販売不振・季節終了等の理由で特定SKUの販売を終了すること</a:t>
                      </a:r>
                    </a:p>
                  </a:txBody>
                  <a:tcPr>
                    <a:solidFill>
                      <a:srgbClr val="F0F0F0"/>
                    </a:solidFill>
                  </a:tcPr>
                </a:tc>
              </a:tr>
            </a:tbl>
          </a:graphicData>
        </a:graphic>
      </p:graphicFrame>
      <p:sp>
        <p:nvSpPr>
          <p:cNvPr id="6" name="TextBox 5"/>
          <p:cNvSpPr txBox="1"/>
          <p:nvPr/>
        </p:nvSpPr>
        <p:spPr>
          <a:xfrm>
            <a:off x="274320" y="6126480"/>
            <a:ext cx="10972800" cy="320040"/>
          </a:xfrm>
          <a:prstGeom prst="rect">
            <a:avLst/>
          </a:prstGeom>
          <a:noFill/>
        </p:spPr>
        <p:txBody>
          <a:bodyPr wrap="square">
            <a:spAutoFit/>
          </a:bodyPr>
          <a:lstStyle/>
          <a:p>
            <a:pPr algn="l"/>
            <a:r>
              <a:rPr sz="800" b="0">
                <a:solidFill>
                  <a:srgbClr val="666666"/>
                </a:solidFill>
              </a:rPr>
              <a:t>※以降、本文中の初出箇所でも括弧内に一言説明を付記する</a:t>
            </a:r>
          </a:p>
        </p:txBody>
      </p:sp>
      <p:sp>
        <p:nvSpPr>
          <p:cNvPr id="7" name="TextBox 6"/>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515600" cy="548640"/>
          </a:xfrm>
          <a:prstGeom prst="rect">
            <a:avLst/>
          </a:prstGeom>
          <a:noFill/>
        </p:spPr>
        <p:txBody>
          <a:bodyPr wrap="none">
            <a:spAutoFit/>
          </a:bodyPr>
          <a:lstStyle/>
          <a:p>
            <a:r>
              <a:rPr sz="2000" b="1">
                <a:solidFill>
                  <a:srgbClr val="FFFFFF"/>
                </a:solidFill>
              </a:rPr>
              <a:t>組織概要</a:t>
            </a:r>
          </a:p>
        </p:txBody>
      </p:sp>
      <p:sp>
        <p:nvSpPr>
          <p:cNvPr id="4" name="TextBox 3"/>
          <p:cNvSpPr txBox="1"/>
          <p:nvPr/>
        </p:nvSpPr>
        <p:spPr>
          <a:xfrm>
            <a:off x="10789920" y="91440"/>
            <a:ext cx="1280160" cy="320040"/>
          </a:xfrm>
          <a:prstGeom prst="rect">
            <a:avLst/>
          </a:prstGeom>
          <a:noFill/>
          <a:solidFill>
            <a:srgbClr val="1A56DB"/>
          </a:solidFill>
        </p:spPr>
        <p:txBody>
          <a:bodyPr wrap="square">
            <a:spAutoFit/>
          </a:bodyPr>
          <a:lstStyle/>
          <a:p>
            <a:pPr algn="ctr"/>
            <a:r>
              <a:rPr sz="900" b="1">
                <a:solidFill>
                  <a:srgbClr val="FFFFFF"/>
                </a:solidFill>
              </a:rPr>
              <a:t>[確定]</a:t>
            </a:r>
          </a:p>
        </p:txBody>
      </p:sp>
      <p:sp>
        <p:nvSpPr>
          <p:cNvPr id="5" name="TextBox 4"/>
          <p:cNvSpPr txBox="1"/>
          <p:nvPr/>
        </p:nvSpPr>
        <p:spPr>
          <a:xfrm>
            <a:off x="457200" y="777240"/>
            <a:ext cx="10972800" cy="411480"/>
          </a:xfrm>
          <a:prstGeom prst="rect">
            <a:avLst/>
          </a:prstGeom>
          <a:noFill/>
        </p:spPr>
        <p:txBody>
          <a:bodyPr wrap="square">
            <a:spAutoFit/>
          </a:bodyPr>
          <a:lstStyle/>
          <a:p>
            <a:pPr algn="l"/>
            <a:r>
              <a:rPr sz="1200" b="1">
                <a:solidFill>
                  <a:srgbClr val="1A56DB"/>
                </a:solidFill>
              </a:rPr>
              <a:t>ミッション：「生活に緑と豊かさを届け、人々の暮らしをより楽しくする」</a:t>
            </a:r>
          </a:p>
        </p:txBody>
      </p:sp>
      <p:sp>
        <p:nvSpPr>
          <p:cNvPr id="6" name="TextBox 5"/>
          <p:cNvSpPr txBox="1"/>
          <p:nvPr/>
        </p:nvSpPr>
        <p:spPr>
          <a:xfrm>
            <a:off x="457200" y="1234440"/>
            <a:ext cx="10972800" cy="365760"/>
          </a:xfrm>
          <a:prstGeom prst="rect">
            <a:avLst/>
          </a:prstGeom>
          <a:noFill/>
        </p:spPr>
        <p:txBody>
          <a:bodyPr wrap="square">
            <a:spAutoFit/>
          </a:bodyPr>
          <a:lstStyle/>
          <a:p>
            <a:pPr algn="l"/>
            <a:r>
              <a:rPr sz="1100" b="0">
                <a:solidFill>
                  <a:srgbClr val="222222"/>
                </a:solidFill>
              </a:rPr>
              <a:t>設立：2010年　　従業員数：320名　　年商：42億円（2025年度実績）</a:t>
            </a:r>
          </a:p>
        </p:txBody>
      </p:sp>
      <p:sp>
        <p:nvSpPr>
          <p:cNvPr id="7" name="TextBox 6"/>
          <p:cNvSpPr txBox="1"/>
          <p:nvPr/>
        </p:nvSpPr>
        <p:spPr>
          <a:xfrm>
            <a:off x="457200" y="1691640"/>
            <a:ext cx="3657600" cy="320040"/>
          </a:xfrm>
          <a:prstGeom prst="rect">
            <a:avLst/>
          </a:prstGeom>
          <a:noFill/>
        </p:spPr>
        <p:txBody>
          <a:bodyPr wrap="square">
            <a:spAutoFit/>
          </a:bodyPr>
          <a:lstStyle/>
          <a:p>
            <a:pPr algn="l"/>
            <a:r>
              <a:rPr sz="1100" b="1">
                <a:solidFill>
                  <a:srgbClr val="222222"/>
                </a:solidFill>
              </a:rPr>
              <a:t>【事業部門構成】</a:t>
            </a:r>
          </a:p>
        </p:txBody>
      </p:sp>
      <p:sp>
        <p:nvSpPr>
          <p:cNvPr id="8" name="TextBox 7"/>
          <p:cNvSpPr txBox="1"/>
          <p:nvPr/>
        </p:nvSpPr>
        <p:spPr>
          <a:xfrm>
            <a:off x="731520" y="2057400"/>
            <a:ext cx="10515600" cy="365760"/>
          </a:xfrm>
          <a:prstGeom prst="rect">
            <a:avLst/>
          </a:prstGeom>
          <a:noFill/>
        </p:spPr>
        <p:txBody>
          <a:bodyPr wrap="square">
            <a:spAutoFit/>
          </a:bodyPr>
          <a:lstStyle/>
          <a:p>
            <a:pPr algn="l"/>
            <a:r>
              <a:rPr sz="1100" b="0">
                <a:solidFill>
                  <a:srgbClr val="222222"/>
                </a:solidFill>
              </a:rPr>
              <a:t>■ 生活雑貨部門（売上構成比 55%）</a:t>
            </a:r>
          </a:p>
        </p:txBody>
      </p:sp>
      <p:sp>
        <p:nvSpPr>
          <p:cNvPr id="9" name="TextBox 8"/>
          <p:cNvSpPr txBox="1"/>
          <p:nvPr/>
        </p:nvSpPr>
        <p:spPr>
          <a:xfrm>
            <a:off x="731520" y="2514600"/>
            <a:ext cx="10515600" cy="365760"/>
          </a:xfrm>
          <a:prstGeom prst="rect">
            <a:avLst/>
          </a:prstGeom>
          <a:noFill/>
        </p:spPr>
        <p:txBody>
          <a:bodyPr wrap="square">
            <a:spAutoFit/>
          </a:bodyPr>
          <a:lstStyle/>
          <a:p>
            <a:pPr algn="l"/>
            <a:r>
              <a:rPr sz="1100" b="0">
                <a:solidFill>
                  <a:srgbClr val="222222"/>
                </a:solidFill>
              </a:rPr>
              <a:t>■ インテリア用品部門（売上構成比 30%）</a:t>
            </a:r>
          </a:p>
        </p:txBody>
      </p:sp>
      <p:sp>
        <p:nvSpPr>
          <p:cNvPr id="10" name="TextBox 9"/>
          <p:cNvSpPr txBox="1"/>
          <p:nvPr/>
        </p:nvSpPr>
        <p:spPr>
          <a:xfrm>
            <a:off x="731520" y="2971800"/>
            <a:ext cx="10515600" cy="365760"/>
          </a:xfrm>
          <a:prstGeom prst="rect">
            <a:avLst/>
          </a:prstGeom>
          <a:noFill/>
        </p:spPr>
        <p:txBody>
          <a:bodyPr wrap="square">
            <a:spAutoFit/>
          </a:bodyPr>
          <a:lstStyle/>
          <a:p>
            <a:pPr algn="l"/>
            <a:r>
              <a:rPr sz="1100" b="1">
                <a:solidFill>
                  <a:srgbClr val="1A56DB"/>
                </a:solidFill>
              </a:rPr>
              <a:t>■ ★ ガーデニング用品部門（新設予定）（売上構成比 15%目標）　← 本提案の対象</a:t>
            </a:r>
          </a:p>
        </p:txBody>
      </p:sp>
      <p:sp>
        <p:nvSpPr>
          <p:cNvPr id="11" name="TextBox 10"/>
          <p:cNvSpPr txBox="1"/>
          <p:nvPr/>
        </p:nvSpPr>
        <p:spPr>
          <a:xfrm>
            <a:off x="457200" y="3749039"/>
            <a:ext cx="10972800" cy="457200"/>
          </a:xfrm>
          <a:prstGeom prst="rect">
            <a:avLst/>
          </a:prstGeom>
          <a:noFill/>
        </p:spPr>
        <p:txBody>
          <a:bodyPr wrap="square">
            <a:spAutoFit/>
          </a:bodyPr>
          <a:lstStyle/>
          <a:p>
            <a:pPr algn="l"/>
            <a:r>
              <a:rPr sz="1100" b="0">
                <a:solidFill>
                  <a:srgbClr val="1A56DB"/>
                </a:solidFill>
              </a:rPr>
              <a:t>本提案との関係：ガーデニング用品部門を新設し、既存ECインフラと仕入れネットワークを活用して新規事業として立ち上げる</a:t>
            </a:r>
          </a:p>
        </p:txBody>
      </p:sp>
      <p:sp>
        <p:nvSpPr>
          <p:cNvPr id="12" name="TextBox 11"/>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515600" cy="548640"/>
          </a:xfrm>
          <a:prstGeom prst="rect">
            <a:avLst/>
          </a:prstGeom>
          <a:noFill/>
        </p:spPr>
        <p:txBody>
          <a:bodyPr wrap="none">
            <a:spAutoFit/>
          </a:bodyPr>
          <a:lstStyle/>
          <a:p>
            <a:r>
              <a:rPr sz="2000" b="1">
                <a:solidFill>
                  <a:srgbClr val="FFFFFF"/>
                </a:solidFill>
              </a:rPr>
              <a:t>背景と課題</a:t>
            </a:r>
          </a:p>
        </p:txBody>
      </p:sp>
      <p:sp>
        <p:nvSpPr>
          <p:cNvPr id="4" name="TextBox 3"/>
          <p:cNvSpPr txBox="1"/>
          <p:nvPr/>
        </p:nvSpPr>
        <p:spPr>
          <a:xfrm>
            <a:off x="10789920" y="91440"/>
            <a:ext cx="1280160" cy="320040"/>
          </a:xfrm>
          <a:prstGeom prst="rect">
            <a:avLst/>
          </a:prstGeom>
          <a:noFill/>
          <a:solidFill>
            <a:srgbClr val="1A56DB"/>
          </a:solidFill>
        </p:spPr>
        <p:txBody>
          <a:bodyPr wrap="square">
            <a:spAutoFit/>
          </a:bodyPr>
          <a:lstStyle/>
          <a:p>
            <a:pPr algn="ctr"/>
            <a:r>
              <a:rPr sz="900" b="1">
                <a:solidFill>
                  <a:srgbClr val="FFFFFF"/>
                </a:solidFill>
              </a:rPr>
              <a:t>[確定]</a:t>
            </a:r>
          </a:p>
        </p:txBody>
      </p:sp>
      <p:sp>
        <p:nvSpPr>
          <p:cNvPr id="5" name="TextBox 4"/>
          <p:cNvSpPr txBox="1"/>
          <p:nvPr/>
        </p:nvSpPr>
        <p:spPr>
          <a:xfrm>
            <a:off x="457200" y="777240"/>
            <a:ext cx="10972800" cy="320040"/>
          </a:xfrm>
          <a:prstGeom prst="rect">
            <a:avLst/>
          </a:prstGeom>
          <a:noFill/>
        </p:spPr>
        <p:txBody>
          <a:bodyPr wrap="square">
            <a:spAutoFit/>
          </a:bodyPr>
          <a:lstStyle/>
          <a:p>
            <a:pPr algn="l"/>
            <a:r>
              <a:rPr sz="1300" b="1">
                <a:solidFill>
                  <a:srgbClr val="1A56DB"/>
                </a:solidFill>
              </a:rPr>
              <a:t>● 現状の課題</a:t>
            </a:r>
          </a:p>
        </p:txBody>
      </p:sp>
      <p:sp>
        <p:nvSpPr>
          <p:cNvPr id="6" name="TextBox 5"/>
          <p:cNvSpPr txBox="1"/>
          <p:nvPr/>
        </p:nvSpPr>
        <p:spPr>
          <a:xfrm>
            <a:off x="640080" y="1143000"/>
            <a:ext cx="10972800" cy="365760"/>
          </a:xfrm>
          <a:prstGeom prst="rect">
            <a:avLst/>
          </a:prstGeom>
          <a:noFill/>
        </p:spPr>
        <p:txBody>
          <a:bodyPr wrap="square">
            <a:spAutoFit/>
          </a:bodyPr>
          <a:lstStyle/>
          <a:p>
            <a:pPr algn="l"/>
            <a:r>
              <a:rPr sz="1000" b="0">
                <a:solidFill>
                  <a:srgbClr val="222222"/>
                </a:solidFill>
              </a:rPr>
              <a:t>  ・既存事業（生活雑貨・インテリア）の成長率が鈍化：前年比+2.1%（2025年度）</a:t>
            </a:r>
          </a:p>
        </p:txBody>
      </p:sp>
      <p:sp>
        <p:nvSpPr>
          <p:cNvPr id="7" name="TextBox 6"/>
          <p:cNvSpPr txBox="1"/>
          <p:nvPr/>
        </p:nvSpPr>
        <p:spPr>
          <a:xfrm>
            <a:off x="640080" y="1554480"/>
            <a:ext cx="10972800" cy="365760"/>
          </a:xfrm>
          <a:prstGeom prst="rect">
            <a:avLst/>
          </a:prstGeom>
          <a:noFill/>
        </p:spPr>
        <p:txBody>
          <a:bodyPr wrap="square">
            <a:spAutoFit/>
          </a:bodyPr>
          <a:lstStyle/>
          <a:p>
            <a:pPr algn="l"/>
            <a:r>
              <a:rPr sz="1000" b="0">
                <a:solidFill>
                  <a:srgbClr val="222222"/>
                </a:solidFill>
              </a:rPr>
              <a:t>  ・家庭園芸市場は拡大中：国内市場規模 2,800億円（2025年）、前年比+8.3%（矢野経済研究所 2025年調査）</a:t>
            </a:r>
          </a:p>
        </p:txBody>
      </p:sp>
      <p:sp>
        <p:nvSpPr>
          <p:cNvPr id="8" name="TextBox 7"/>
          <p:cNvSpPr txBox="1"/>
          <p:nvPr/>
        </p:nvSpPr>
        <p:spPr>
          <a:xfrm>
            <a:off x="640080" y="1965960"/>
            <a:ext cx="10972800" cy="365760"/>
          </a:xfrm>
          <a:prstGeom prst="rect">
            <a:avLst/>
          </a:prstGeom>
          <a:noFill/>
        </p:spPr>
        <p:txBody>
          <a:bodyPr wrap="square">
            <a:spAutoFit/>
          </a:bodyPr>
          <a:lstStyle/>
          <a:p>
            <a:pPr algn="l"/>
            <a:r>
              <a:rPr sz="1000" b="0">
                <a:solidFill>
                  <a:srgbClr val="222222"/>
                </a:solidFill>
              </a:rPr>
              <a:t>  ・競合他社（A社・B社）がガーデニング用品ECに参入済みで、先行者利益を享受している状態</a:t>
            </a:r>
          </a:p>
        </p:txBody>
      </p:sp>
      <p:sp>
        <p:nvSpPr>
          <p:cNvPr id="9" name="TextBox 8"/>
          <p:cNvSpPr txBox="1"/>
          <p:nvPr/>
        </p:nvSpPr>
        <p:spPr>
          <a:xfrm>
            <a:off x="457200" y="2423160"/>
            <a:ext cx="10972800" cy="320040"/>
          </a:xfrm>
          <a:prstGeom prst="rect">
            <a:avLst/>
          </a:prstGeom>
          <a:noFill/>
        </p:spPr>
        <p:txBody>
          <a:bodyPr wrap="square">
            <a:spAutoFit/>
          </a:bodyPr>
          <a:lstStyle/>
          <a:p>
            <a:pPr algn="l"/>
            <a:r>
              <a:rPr sz="1300" b="1">
                <a:solidFill>
                  <a:srgbClr val="CC0000"/>
                </a:solidFill>
              </a:rPr>
              <a:t>● このまま対応しない場合のリスク</a:t>
            </a:r>
          </a:p>
        </p:txBody>
      </p:sp>
      <p:sp>
        <p:nvSpPr>
          <p:cNvPr id="10" name="TextBox 9"/>
          <p:cNvSpPr txBox="1"/>
          <p:nvPr/>
        </p:nvSpPr>
        <p:spPr>
          <a:xfrm>
            <a:off x="640080" y="2788920"/>
            <a:ext cx="10972800" cy="365760"/>
          </a:xfrm>
          <a:prstGeom prst="rect">
            <a:avLst/>
          </a:prstGeom>
          <a:noFill/>
        </p:spPr>
        <p:txBody>
          <a:bodyPr wrap="square">
            <a:spAutoFit/>
          </a:bodyPr>
          <a:lstStyle/>
          <a:p>
            <a:pPr algn="l"/>
            <a:r>
              <a:rPr sz="1000" b="0">
                <a:solidFill>
                  <a:srgbClr val="222222"/>
                </a:solidFill>
              </a:rPr>
              <a:t>  ・機会損失：ガーデニング用品EC市場の年間成長額は約230億円規模（推計）。参入遅延1年で見込み売上4,000万円を逃す</a:t>
            </a:r>
          </a:p>
        </p:txBody>
      </p:sp>
      <p:sp>
        <p:nvSpPr>
          <p:cNvPr id="11" name="TextBox 10"/>
          <p:cNvSpPr txBox="1"/>
          <p:nvPr/>
        </p:nvSpPr>
        <p:spPr>
          <a:xfrm>
            <a:off x="640080" y="3200400"/>
            <a:ext cx="10972800" cy="365760"/>
          </a:xfrm>
          <a:prstGeom prst="rect">
            <a:avLst/>
          </a:prstGeom>
          <a:noFill/>
        </p:spPr>
        <p:txBody>
          <a:bodyPr wrap="square">
            <a:spAutoFit/>
          </a:bodyPr>
          <a:lstStyle/>
          <a:p>
            <a:pPr algn="l"/>
            <a:r>
              <a:rPr sz="1000" b="0">
                <a:solidFill>
                  <a:srgbClr val="222222"/>
                </a:solidFill>
              </a:rPr>
              <a:t>  ・競争激化：先行企業のブランド確立後は顧客獲得コスト（CPA）が現在比1.5〜2倍に膨らむ可能性</a:t>
            </a:r>
          </a:p>
        </p:txBody>
      </p:sp>
      <p:sp>
        <p:nvSpPr>
          <p:cNvPr id="12" name="Rectangle 11"/>
          <p:cNvSpPr/>
          <p:nvPr/>
        </p:nvSpPr>
        <p:spPr>
          <a:xfrm>
            <a:off x="5029200" y="3703320"/>
            <a:ext cx="2130552" cy="4572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3703320"/>
            <a:ext cx="2743200" cy="320040"/>
          </a:xfrm>
          <a:prstGeom prst="rect">
            <a:avLst/>
          </a:prstGeom>
          <a:noFill/>
        </p:spPr>
        <p:txBody>
          <a:bodyPr wrap="square">
            <a:spAutoFit/>
          </a:bodyPr>
          <a:lstStyle/>
          <a:p>
            <a:pPr algn="ctr"/>
            <a:r>
              <a:rPr sz="1200" b="1">
                <a:solidFill>
                  <a:srgbClr val="1A56DB"/>
                </a:solidFill>
              </a:rPr>
              <a:t>↓  したがって</a:t>
            </a:r>
          </a:p>
        </p:txBody>
      </p:sp>
      <p:sp>
        <p:nvSpPr>
          <p:cNvPr id="14" name="TextBox 13"/>
          <p:cNvSpPr txBox="1"/>
          <p:nvPr/>
        </p:nvSpPr>
        <p:spPr>
          <a:xfrm>
            <a:off x="457200" y="4114800"/>
            <a:ext cx="10972800" cy="320040"/>
          </a:xfrm>
          <a:prstGeom prst="rect">
            <a:avLst/>
          </a:prstGeom>
          <a:noFill/>
        </p:spPr>
        <p:txBody>
          <a:bodyPr wrap="square">
            <a:spAutoFit/>
          </a:bodyPr>
          <a:lstStyle/>
          <a:p>
            <a:pPr algn="l"/>
            <a:r>
              <a:rPr sz="1300" b="1">
                <a:solidFill>
                  <a:srgbClr val="1A56DB"/>
                </a:solidFill>
              </a:rPr>
              <a:t>● 提案の方向性</a:t>
            </a:r>
          </a:p>
        </p:txBody>
      </p:sp>
      <p:sp>
        <p:nvSpPr>
          <p:cNvPr id="15" name="TextBox 14"/>
          <p:cNvSpPr txBox="1"/>
          <p:nvPr/>
        </p:nvSpPr>
        <p:spPr>
          <a:xfrm>
            <a:off x="457200" y="4480560"/>
            <a:ext cx="10972800" cy="457200"/>
          </a:xfrm>
          <a:prstGeom prst="rect">
            <a:avLst/>
          </a:prstGeom>
          <a:noFill/>
        </p:spPr>
        <p:txBody>
          <a:bodyPr wrap="square">
            <a:spAutoFit/>
          </a:bodyPr>
          <a:lstStyle/>
          <a:p>
            <a:pPr algn="l"/>
            <a:r>
              <a:rPr sz="1100" b="0">
                <a:solidFill>
                  <a:srgbClr val="222222"/>
                </a:solidFill>
              </a:rPr>
              <a:t>  2026年秋をターゲットに、OEMおよびD2Cモデルでガーデニング用品ECに参入し、3年以内に年商4億円・ROI 150%を達成する</a:t>
            </a:r>
          </a:p>
        </p:txBody>
      </p:sp>
      <p:sp>
        <p:nvSpPr>
          <p:cNvPr id="16" name="TextBox 15"/>
          <p:cNvSpPr txBox="1"/>
          <p:nvPr/>
        </p:nvSpPr>
        <p:spPr>
          <a:xfrm>
            <a:off x="274320" y="5074920"/>
            <a:ext cx="10972800" cy="320040"/>
          </a:xfrm>
          <a:prstGeom prst="rect">
            <a:avLst/>
          </a:prstGeom>
          <a:noFill/>
        </p:spPr>
        <p:txBody>
          <a:bodyPr wrap="square">
            <a:spAutoFit/>
          </a:bodyPr>
          <a:lstStyle/>
          <a:p>
            <a:pPr algn="l"/>
            <a:r>
              <a:rPr sz="800" b="0">
                <a:solidFill>
                  <a:srgbClr val="666666"/>
                </a:solidFill>
              </a:rPr>
              <a:t>根拠データ出典：矢野経済研究所「ガーデニング・植物関連市場に関する調査（2025年）」</a:t>
            </a:r>
          </a:p>
        </p:txBody>
      </p:sp>
      <p:sp>
        <p:nvSpPr>
          <p:cNvPr id="17" name="TextBox 16"/>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515600" cy="548640"/>
          </a:xfrm>
          <a:prstGeom prst="rect">
            <a:avLst/>
          </a:prstGeom>
          <a:noFill/>
        </p:spPr>
        <p:txBody>
          <a:bodyPr wrap="none">
            <a:spAutoFit/>
          </a:bodyPr>
          <a:lstStyle/>
          <a:p>
            <a:r>
              <a:rPr sz="2000" b="1">
                <a:solidFill>
                  <a:srgbClr val="FFFFFF"/>
                </a:solidFill>
              </a:rPr>
              <a:t>本提案の目的と位置づけ</a:t>
            </a:r>
          </a:p>
        </p:txBody>
      </p:sp>
      <p:sp>
        <p:nvSpPr>
          <p:cNvPr id="4" name="TextBox 3"/>
          <p:cNvSpPr txBox="1"/>
          <p:nvPr/>
        </p:nvSpPr>
        <p:spPr>
          <a:xfrm>
            <a:off x="10789920" y="91440"/>
            <a:ext cx="1280160" cy="320040"/>
          </a:xfrm>
          <a:prstGeom prst="rect">
            <a:avLst/>
          </a:prstGeom>
          <a:noFill/>
          <a:solidFill>
            <a:srgbClr val="1A56DB"/>
          </a:solidFill>
        </p:spPr>
        <p:txBody>
          <a:bodyPr wrap="square">
            <a:spAutoFit/>
          </a:bodyPr>
          <a:lstStyle/>
          <a:p>
            <a:pPr algn="ctr"/>
            <a:r>
              <a:rPr sz="900" b="1">
                <a:solidFill>
                  <a:srgbClr val="FFFFFF"/>
                </a:solidFill>
              </a:rPr>
              <a:t>[確定]</a:t>
            </a:r>
          </a:p>
        </p:txBody>
      </p:sp>
      <p:sp>
        <p:nvSpPr>
          <p:cNvPr id="5" name="TextBox 4"/>
          <p:cNvSpPr txBox="1"/>
          <p:nvPr/>
        </p:nvSpPr>
        <p:spPr>
          <a:xfrm>
            <a:off x="457200" y="777240"/>
            <a:ext cx="914400" cy="320040"/>
          </a:xfrm>
          <a:prstGeom prst="rect">
            <a:avLst/>
          </a:prstGeom>
          <a:noFill/>
        </p:spPr>
        <p:txBody>
          <a:bodyPr wrap="square">
            <a:spAutoFit/>
          </a:bodyPr>
          <a:lstStyle/>
          <a:p>
            <a:pPr algn="l"/>
            <a:r>
              <a:rPr sz="1300" b="1">
                <a:solidFill>
                  <a:srgbClr val="1A56DB"/>
                </a:solidFill>
              </a:rPr>
              <a:t>目的：</a:t>
            </a:r>
          </a:p>
        </p:txBody>
      </p:sp>
      <p:sp>
        <p:nvSpPr>
          <p:cNvPr id="6" name="TextBox 5"/>
          <p:cNvSpPr txBox="1"/>
          <p:nvPr/>
        </p:nvSpPr>
        <p:spPr>
          <a:xfrm>
            <a:off x="457200" y="1143000"/>
            <a:ext cx="10972800" cy="548640"/>
          </a:xfrm>
          <a:prstGeom prst="rect">
            <a:avLst/>
          </a:prstGeom>
          <a:noFill/>
        </p:spPr>
        <p:txBody>
          <a:bodyPr wrap="square">
            <a:spAutoFit/>
          </a:bodyPr>
          <a:lstStyle/>
          <a:p>
            <a:pPr algn="l"/>
            <a:r>
              <a:rPr sz="1100" b="0">
                <a:solidFill>
                  <a:srgbClr val="222222"/>
                </a:solidFill>
              </a:rPr>
              <a:t>家庭園芸市場に新規参入し、既存EC基盤を活用したガーデニング用品事業を立ち上げる。
3年以内に年商4億円・営業利益率12%以上を達成し、新たな収益柱とする。</a:t>
            </a:r>
          </a:p>
        </p:txBody>
      </p:sp>
      <p:sp>
        <p:nvSpPr>
          <p:cNvPr id="7" name="TextBox 6"/>
          <p:cNvSpPr txBox="1"/>
          <p:nvPr/>
        </p:nvSpPr>
        <p:spPr>
          <a:xfrm>
            <a:off x="457200" y="1828800"/>
            <a:ext cx="1828800" cy="320040"/>
          </a:xfrm>
          <a:prstGeom prst="rect">
            <a:avLst/>
          </a:prstGeom>
          <a:noFill/>
        </p:spPr>
        <p:txBody>
          <a:bodyPr wrap="square">
            <a:spAutoFit/>
          </a:bodyPr>
          <a:lstStyle/>
          <a:p>
            <a:pPr algn="l"/>
            <a:r>
              <a:rPr sz="1300" b="1">
                <a:solidFill>
                  <a:srgbClr val="1A56DB"/>
                </a:solidFill>
              </a:rPr>
              <a:t>位置づけ：</a:t>
            </a:r>
          </a:p>
        </p:txBody>
      </p:sp>
      <p:sp>
        <p:nvSpPr>
          <p:cNvPr id="8" name="TextBox 7"/>
          <p:cNvSpPr txBox="1"/>
          <p:nvPr/>
        </p:nvSpPr>
        <p:spPr>
          <a:xfrm>
            <a:off x="457200" y="2194560"/>
            <a:ext cx="10972800" cy="640080"/>
          </a:xfrm>
          <a:prstGeom prst="rect">
            <a:avLst/>
          </a:prstGeom>
          <a:noFill/>
        </p:spPr>
        <p:txBody>
          <a:bodyPr wrap="square">
            <a:spAutoFit/>
          </a:bodyPr>
          <a:lstStyle/>
          <a:p>
            <a:pPr algn="l"/>
            <a:r>
              <a:rPr sz="1100" b="0">
                <a:solidFill>
                  <a:srgbClr val="222222"/>
                </a:solidFill>
              </a:rPr>
              <a:t>【本資料の範囲】　商品企画 → 仕入/OEM → EC販売 → 顧客サポートまでの事業立ち上げ全体
関連既存方針との関係：全社EC戦略（2025年策定）の新事業拡張として位置づける。矛盾が生じた場合は全社EC戦略を優先する。</a:t>
            </a:r>
          </a:p>
        </p:txBody>
      </p:sp>
      <p:sp>
        <p:nvSpPr>
          <p:cNvPr id="9" name="Rectangle 8"/>
          <p:cNvSpPr/>
          <p:nvPr/>
        </p:nvSpPr>
        <p:spPr>
          <a:xfrm>
            <a:off x="457200" y="2971800"/>
            <a:ext cx="11274552" cy="27432"/>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063240"/>
            <a:ext cx="2743200" cy="320040"/>
          </a:xfrm>
          <a:prstGeom prst="rect">
            <a:avLst/>
          </a:prstGeom>
          <a:noFill/>
        </p:spPr>
        <p:txBody>
          <a:bodyPr wrap="square">
            <a:spAutoFit/>
          </a:bodyPr>
          <a:lstStyle/>
          <a:p>
            <a:pPr algn="l"/>
            <a:r>
              <a:rPr sz="1100" b="1">
                <a:solidFill>
                  <a:srgbClr val="222222"/>
                </a:solidFill>
              </a:rPr>
              <a:t>免責事項</a:t>
            </a:r>
          </a:p>
        </p:txBody>
      </p:sp>
      <p:sp>
        <p:nvSpPr>
          <p:cNvPr id="11" name="TextBox 10"/>
          <p:cNvSpPr txBox="1"/>
          <p:nvPr/>
        </p:nvSpPr>
        <p:spPr>
          <a:xfrm>
            <a:off x="457200" y="3429000"/>
            <a:ext cx="10972800" cy="685800"/>
          </a:xfrm>
          <a:prstGeom prst="rect">
            <a:avLst/>
          </a:prstGeom>
          <a:noFill/>
        </p:spPr>
        <p:txBody>
          <a:bodyPr wrap="square">
            <a:spAutoFit/>
          </a:bodyPr>
          <a:lstStyle/>
          <a:p>
            <a:pPr algn="l"/>
            <a:r>
              <a:rPr sz="1000" b="0">
                <a:solidFill>
                  <a:srgbClr val="555555"/>
                </a:solidFill>
              </a:rPr>
              <a:t>本資料はガーデニング用品新規事業への参入検討を目的とした参考指針であり、法的助言を構成するものではない。
本資料に基づく判断は各部門の責任において行うものとする。市場データは公表時点の情報であり、将来の成果を保証するものではない。</a:t>
            </a:r>
          </a:p>
        </p:txBody>
      </p:sp>
      <p:sp>
        <p:nvSpPr>
          <p:cNvPr id="12" name="TextBox 11"/>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515600" cy="548640"/>
          </a:xfrm>
          <a:prstGeom prst="rect">
            <a:avLst/>
          </a:prstGeom>
          <a:noFill/>
        </p:spPr>
        <p:txBody>
          <a:bodyPr wrap="none">
            <a:spAutoFit/>
          </a:bodyPr>
          <a:lstStyle/>
          <a:p>
            <a:r>
              <a:rPr sz="2000" b="1">
                <a:solidFill>
                  <a:srgbClr val="FFFFFF"/>
                </a:solidFill>
              </a:rPr>
              <a:t>従来アプローチ vs 本提案：対比表</a:t>
            </a:r>
          </a:p>
        </p:txBody>
      </p:sp>
      <p:sp>
        <p:nvSpPr>
          <p:cNvPr id="4" name="TextBox 3"/>
          <p:cNvSpPr txBox="1"/>
          <p:nvPr/>
        </p:nvSpPr>
        <p:spPr>
          <a:xfrm>
            <a:off x="10789920" y="91440"/>
            <a:ext cx="1280160" cy="320040"/>
          </a:xfrm>
          <a:prstGeom prst="rect">
            <a:avLst/>
          </a:prstGeom>
          <a:noFill/>
          <a:solidFill>
            <a:srgbClr val="1A56DB"/>
          </a:solidFill>
        </p:spPr>
        <p:txBody>
          <a:bodyPr wrap="square">
            <a:spAutoFit/>
          </a:bodyPr>
          <a:lstStyle/>
          <a:p>
            <a:pPr algn="ctr"/>
            <a:r>
              <a:rPr sz="900" b="1">
                <a:solidFill>
                  <a:srgbClr val="FFFFFF"/>
                </a:solidFill>
              </a:rPr>
              <a:t>[確定]</a:t>
            </a:r>
          </a:p>
        </p:txBody>
      </p:sp>
      <p:sp>
        <p:nvSpPr>
          <p:cNvPr id="5" name="TextBox 4"/>
          <p:cNvSpPr txBox="1"/>
          <p:nvPr/>
        </p:nvSpPr>
        <p:spPr>
          <a:xfrm>
            <a:off x="274320" y="777240"/>
            <a:ext cx="11430000" cy="365760"/>
          </a:xfrm>
          <a:prstGeom prst="rect">
            <a:avLst/>
          </a:prstGeom>
          <a:noFill/>
        </p:spPr>
        <p:txBody>
          <a:bodyPr wrap="square">
            <a:spAutoFit/>
          </a:bodyPr>
          <a:lstStyle/>
          <a:p>
            <a:pPr algn="l"/>
            <a:r>
              <a:rPr sz="1000" b="0">
                <a:solidFill>
                  <a:srgbClr val="222222"/>
                </a:solidFill>
              </a:rPr>
              <a:t>比較の目的：自社EC・OEM活用による直販モデルが、卸売依存モデルより収益性・スピードで優位であることを示す</a:t>
            </a:r>
          </a:p>
        </p:txBody>
      </p:sp>
      <p:graphicFrame>
        <p:nvGraphicFramePr>
          <p:cNvPr id="6" name="Table 5"/>
          <p:cNvGraphicFramePr>
            <a:graphicFrameLocks noGrp="1"/>
          </p:cNvGraphicFramePr>
          <p:nvPr/>
        </p:nvGraphicFramePr>
        <p:xfrm>
          <a:off x="274320" y="1188720"/>
          <a:ext cx="11612880" cy="4572000"/>
        </p:xfrm>
        <a:graphic>
          <a:graphicData uri="http://schemas.openxmlformats.org/drawingml/2006/table">
            <a:tbl>
              <a:tblPr firstRow="1" bandRow="1">
                <a:tableStyleId>{5C22544A-7EE6-4342-B048-85BDC9FD1C3A}</a:tableStyleId>
              </a:tblPr>
              <a:tblGrid>
                <a:gridCol w="3870960"/>
                <a:gridCol w="3870960"/>
                <a:gridCol w="3870960"/>
              </a:tblGrid>
              <a:tr h="571500">
                <a:tc>
                  <a:txBody>
                    <a:bodyPr/>
                    <a:lstStyle/>
                    <a:p>
                      <a:r>
                        <a:rPr b="1" sz="900">
                          <a:solidFill>
                            <a:srgbClr val="FFFFFF"/>
                          </a:solidFill>
                        </a:rPr>
                        <a:t>項目</a:t>
                      </a:r>
                    </a:p>
                  </a:txBody>
                  <a:tcPr>
                    <a:solidFill>
                      <a:srgbClr val="1A56DB"/>
                    </a:solidFill>
                  </a:tcPr>
                </a:tc>
                <a:tc>
                  <a:txBody>
                    <a:bodyPr/>
                    <a:lstStyle/>
                    <a:p>
                      <a:r>
                        <a:rPr b="1" sz="900">
                          <a:solidFill>
                            <a:srgbClr val="FFFFFF"/>
                          </a:solidFill>
                        </a:rPr>
                        <a:t>従来（卸売依存）</a:t>
                      </a:r>
                    </a:p>
                  </a:txBody>
                  <a:tcPr>
                    <a:solidFill>
                      <a:srgbClr val="1A56DB"/>
                    </a:solidFill>
                  </a:tcPr>
                </a:tc>
                <a:tc>
                  <a:txBody>
                    <a:bodyPr/>
                    <a:lstStyle/>
                    <a:p>
                      <a:r>
                        <a:rPr b="1" sz="900">
                          <a:solidFill>
                            <a:srgbClr val="FFFFFF"/>
                          </a:solidFill>
                        </a:rPr>
                        <a:t>本提案（EC直販＋OEM）</a:t>
                      </a:r>
                    </a:p>
                  </a:txBody>
                  <a:tcPr>
                    <a:solidFill>
                      <a:srgbClr val="1A56DB"/>
                    </a:solidFill>
                  </a:tcPr>
                </a:tc>
              </a:tr>
              <a:tr h="571500">
                <a:tc>
                  <a:txBody>
                    <a:bodyPr/>
                    <a:lstStyle/>
                    <a:p>
                      <a:r>
                        <a:rPr sz="800">
                          <a:solidFill>
                            <a:srgbClr val="222222"/>
                          </a:solidFill>
                        </a:rPr>
                        <a:t>粗利率</a:t>
                      </a:r>
                    </a:p>
                  </a:txBody>
                  <a:tcPr>
                    <a:solidFill>
                      <a:srgbClr val="F0F0F0"/>
                    </a:solidFill>
                  </a:tcPr>
                </a:tc>
                <a:tc>
                  <a:txBody>
                    <a:bodyPr/>
                    <a:lstStyle/>
                    <a:p>
                      <a:r>
                        <a:rPr sz="800">
                          <a:solidFill>
                            <a:srgbClr val="222222"/>
                          </a:solidFill>
                        </a:rPr>
                        <a:t>約22%（卸値のため低い）</a:t>
                      </a:r>
                    </a:p>
                  </a:txBody>
                  <a:tcPr>
                    <a:solidFill>
                      <a:srgbClr val="F0F0F0"/>
                    </a:solidFill>
                  </a:tcPr>
                </a:tc>
                <a:tc>
                  <a:txBody>
                    <a:bodyPr/>
                    <a:lstStyle/>
                    <a:p>
                      <a:r>
                        <a:rPr sz="800">
                          <a:solidFill>
                            <a:srgbClr val="222222"/>
                          </a:solidFill>
                        </a:rPr>
                        <a:t>約48%（D2Cにより改善）</a:t>
                      </a:r>
                    </a:p>
                  </a:txBody>
                  <a:tcPr>
                    <a:solidFill>
                      <a:srgbClr val="F0F0F0"/>
                    </a:solidFill>
                  </a:tcPr>
                </a:tc>
              </a:tr>
              <a:tr h="571500">
                <a:tc>
                  <a:txBody>
                    <a:bodyPr/>
                    <a:lstStyle/>
                    <a:p>
                      <a:r>
                        <a:rPr sz="800">
                          <a:solidFill>
                            <a:srgbClr val="222222"/>
                          </a:solidFill>
                        </a:rPr>
                        <a:t>参入期間</a:t>
                      </a:r>
                    </a:p>
                  </a:txBody>
                  <a:tcPr>
                    <a:solidFill>
                      <a:srgbClr val="FFFFFF"/>
                    </a:solidFill>
                  </a:tcPr>
                </a:tc>
                <a:tc>
                  <a:txBody>
                    <a:bodyPr/>
                    <a:lstStyle/>
                    <a:p>
                      <a:r>
                        <a:rPr sz="800">
                          <a:solidFill>
                            <a:srgbClr val="222222"/>
                          </a:solidFill>
                        </a:rPr>
                        <a:t>18〜24か月（代理店交渉含む）</a:t>
                      </a:r>
                    </a:p>
                  </a:txBody>
                  <a:tcPr>
                    <a:solidFill>
                      <a:srgbClr val="FFFFFF"/>
                    </a:solidFill>
                  </a:tcPr>
                </a:tc>
                <a:tc>
                  <a:txBody>
                    <a:bodyPr/>
                    <a:lstStyle/>
                    <a:p>
                      <a:r>
                        <a:rPr sz="800">
                          <a:solidFill>
                            <a:srgbClr val="222222"/>
                          </a:solidFill>
                        </a:rPr>
                        <a:t>6〜9か月（OEM調達＋自社EC活用）</a:t>
                      </a:r>
                    </a:p>
                  </a:txBody>
                  <a:tcPr>
                    <a:solidFill>
                      <a:srgbClr val="FFFFFF"/>
                    </a:solidFill>
                  </a:tcPr>
                </a:tc>
              </a:tr>
              <a:tr h="571500">
                <a:tc>
                  <a:txBody>
                    <a:bodyPr/>
                    <a:lstStyle/>
                    <a:p>
                      <a:r>
                        <a:rPr sz="800">
                          <a:solidFill>
                            <a:srgbClr val="222222"/>
                          </a:solidFill>
                        </a:rPr>
                        <a:t>顧客データ取得</a:t>
                      </a:r>
                    </a:p>
                  </a:txBody>
                  <a:tcPr>
                    <a:solidFill>
                      <a:srgbClr val="F0F0F0"/>
                    </a:solidFill>
                  </a:tcPr>
                </a:tc>
                <a:tc>
                  <a:txBody>
                    <a:bodyPr/>
                    <a:lstStyle/>
                    <a:p>
                      <a:r>
                        <a:rPr sz="800">
                          <a:solidFill>
                            <a:srgbClr val="222222"/>
                          </a:solidFill>
                        </a:rPr>
                        <a:t>卸先任せ・取得不可</a:t>
                      </a:r>
                    </a:p>
                  </a:txBody>
                  <a:tcPr>
                    <a:solidFill>
                      <a:srgbClr val="F0F0F0"/>
                    </a:solidFill>
                  </a:tcPr>
                </a:tc>
                <a:tc>
                  <a:txBody>
                    <a:bodyPr/>
                    <a:lstStyle/>
                    <a:p>
                      <a:r>
                        <a:rPr sz="800">
                          <a:solidFill>
                            <a:srgbClr val="222222"/>
                          </a:solidFill>
                        </a:rPr>
                        <a:t>全購買データを自社保有</a:t>
                      </a:r>
                    </a:p>
                  </a:txBody>
                  <a:tcPr>
                    <a:solidFill>
                      <a:srgbClr val="F0F0F0"/>
                    </a:solidFill>
                  </a:tcPr>
                </a:tc>
              </a:tr>
              <a:tr h="571500">
                <a:tc>
                  <a:txBody>
                    <a:bodyPr/>
                    <a:lstStyle/>
                    <a:p>
                      <a:r>
                        <a:rPr sz="800">
                          <a:solidFill>
                            <a:srgbClr val="222222"/>
                          </a:solidFill>
                        </a:rPr>
                        <a:t>価格コントロール</a:t>
                      </a:r>
                    </a:p>
                  </a:txBody>
                  <a:tcPr>
                    <a:solidFill>
                      <a:srgbClr val="FFFFFF"/>
                    </a:solidFill>
                  </a:tcPr>
                </a:tc>
                <a:tc>
                  <a:txBody>
                    <a:bodyPr/>
                    <a:lstStyle/>
                    <a:p>
                      <a:r>
                        <a:rPr sz="800">
                          <a:solidFill>
                            <a:srgbClr val="222222"/>
                          </a:solidFill>
                        </a:rPr>
                        <a:t>不可（卸先が決定）</a:t>
                      </a:r>
                    </a:p>
                  </a:txBody>
                  <a:tcPr>
                    <a:solidFill>
                      <a:srgbClr val="FFFFFF"/>
                    </a:solidFill>
                  </a:tcPr>
                </a:tc>
                <a:tc>
                  <a:txBody>
                    <a:bodyPr/>
                    <a:lstStyle/>
                    <a:p>
                      <a:r>
                        <a:rPr sz="800">
                          <a:solidFill>
                            <a:srgbClr val="222222"/>
                          </a:solidFill>
                        </a:rPr>
                        <a:t>自社で設定可能</a:t>
                      </a:r>
                    </a:p>
                  </a:txBody>
                  <a:tcPr>
                    <a:solidFill>
                      <a:srgbClr val="FFFFFF"/>
                    </a:solidFill>
                  </a:tcPr>
                </a:tc>
              </a:tr>
              <a:tr h="571500">
                <a:tc>
                  <a:txBody>
                    <a:bodyPr/>
                    <a:lstStyle/>
                    <a:p>
                      <a:r>
                        <a:rPr sz="800">
                          <a:solidFill>
                            <a:srgbClr val="222222"/>
                          </a:solidFill>
                        </a:rPr>
                        <a:t>初期在庫リスク</a:t>
                      </a:r>
                    </a:p>
                  </a:txBody>
                  <a:tcPr>
                    <a:solidFill>
                      <a:srgbClr val="F0F0F0"/>
                    </a:solidFill>
                  </a:tcPr>
                </a:tc>
                <a:tc>
                  <a:txBody>
                    <a:bodyPr/>
                    <a:lstStyle/>
                    <a:p>
                      <a:r>
                        <a:rPr sz="800">
                          <a:solidFill>
                            <a:srgbClr val="222222"/>
                          </a:solidFill>
                        </a:rPr>
                        <a:t>最小ロット300個/SKU（卸条件）</a:t>
                      </a:r>
                    </a:p>
                  </a:txBody>
                  <a:tcPr>
                    <a:solidFill>
                      <a:srgbClr val="F0F0F0"/>
                    </a:solidFill>
                  </a:tcPr>
                </a:tc>
                <a:tc>
                  <a:txBody>
                    <a:bodyPr/>
                    <a:lstStyle/>
                    <a:p>
                      <a:r>
                        <a:rPr sz="800">
                          <a:solidFill>
                            <a:srgbClr val="222222"/>
                          </a:solidFill>
                        </a:rPr>
                        <a:t>OEM最小ロット100個/SKUで小ロット対応</a:t>
                      </a:r>
                    </a:p>
                  </a:txBody>
                  <a:tcPr>
                    <a:solidFill>
                      <a:srgbClr val="F0F0F0"/>
                    </a:solidFill>
                  </a:tcPr>
                </a:tc>
              </a:tr>
              <a:tr h="571500">
                <a:tc>
                  <a:txBody>
                    <a:bodyPr/>
                    <a:lstStyle/>
                    <a:p>
                      <a:r>
                        <a:rPr sz="800">
                          <a:solidFill>
                            <a:srgbClr val="222222"/>
                          </a:solidFill>
                        </a:rPr>
                        <a:t>ブランド認知</a:t>
                      </a:r>
                    </a:p>
                  </a:txBody>
                  <a:tcPr>
                    <a:solidFill>
                      <a:srgbClr val="FFFFFF"/>
                    </a:solidFill>
                  </a:tcPr>
                </a:tc>
                <a:tc>
                  <a:txBody>
                    <a:bodyPr/>
                    <a:lstStyle/>
                    <a:p>
                      <a:r>
                        <a:rPr sz="800">
                          <a:solidFill>
                            <a:srgbClr val="222222"/>
                          </a:solidFill>
                        </a:rPr>
                        <a:t>自社ブランド化困難</a:t>
                      </a:r>
                    </a:p>
                  </a:txBody>
                  <a:tcPr>
                    <a:solidFill>
                      <a:srgbClr val="FFFFFF"/>
                    </a:solidFill>
                  </a:tcPr>
                </a:tc>
                <a:tc>
                  <a:txBody>
                    <a:bodyPr/>
                    <a:lstStyle/>
                    <a:p>
                      <a:r>
                        <a:rPr sz="800">
                          <a:solidFill>
                            <a:srgbClr val="222222"/>
                          </a:solidFill>
                        </a:rPr>
                        <a:t>自社ブランドとして育成可能</a:t>
                      </a:r>
                    </a:p>
                  </a:txBody>
                  <a:tcPr>
                    <a:solidFill>
                      <a:srgbClr val="FFFFFF"/>
                    </a:solidFill>
                  </a:tcPr>
                </a:tc>
              </a:tr>
              <a:tr h="571500">
                <a:tc>
                  <a:txBody>
                    <a:bodyPr/>
                    <a:lstStyle/>
                    <a:p>
                      <a:r>
                        <a:rPr sz="800">
                          <a:solidFill>
                            <a:srgbClr val="222222"/>
                          </a:solidFill>
                        </a:rPr>
                        <a:t>定量比較困難な点</a:t>
                      </a:r>
                    </a:p>
                  </a:txBody>
                  <a:tcPr>
                    <a:solidFill>
                      <a:srgbClr val="F0F0F0"/>
                    </a:solidFill>
                  </a:tcPr>
                </a:tc>
                <a:tc>
                  <a:txBody>
                    <a:bodyPr/>
                    <a:lstStyle/>
                    <a:p>
                      <a:r>
                        <a:rPr sz="800">
                          <a:solidFill>
                            <a:srgbClr val="222222"/>
                          </a:solidFill>
                        </a:rPr>
                        <a:t>—</a:t>
                      </a:r>
                    </a:p>
                  </a:txBody>
                  <a:tcPr>
                    <a:solidFill>
                      <a:srgbClr val="F0F0F0"/>
                    </a:solidFill>
                  </a:tcPr>
                </a:tc>
                <a:tc>
                  <a:txBody>
                    <a:bodyPr/>
                    <a:lstStyle/>
                    <a:p>
                      <a:r>
                        <a:rPr sz="800">
                          <a:solidFill>
                            <a:srgbClr val="222222"/>
                          </a:solidFill>
                        </a:rPr>
                        <a:t>顧客ロイヤルティは6か月以上の運用後に評価（定量化困難なため「想定」と明記）</a:t>
                      </a:r>
                    </a:p>
                  </a:txBody>
                  <a:tcPr>
                    <a:solidFill>
                      <a:srgbClr val="F0F0F0"/>
                    </a:solidFill>
                  </a:tcPr>
                </a:tc>
              </a:tr>
            </a:tbl>
          </a:graphicData>
        </a:graphic>
      </p:graphicFrame>
      <p:sp>
        <p:nvSpPr>
          <p:cNvPr id="7" name="TextBox 6"/>
          <p:cNvSpPr txBox="1"/>
          <p:nvPr/>
        </p:nvSpPr>
        <p:spPr>
          <a:xfrm>
            <a:off x="274320" y="5897880"/>
            <a:ext cx="10972800" cy="320040"/>
          </a:xfrm>
          <a:prstGeom prst="rect">
            <a:avLst/>
          </a:prstGeom>
          <a:noFill/>
        </p:spPr>
        <p:txBody>
          <a:bodyPr wrap="square">
            <a:spAutoFit/>
          </a:bodyPr>
          <a:lstStyle/>
          <a:p>
            <a:pPr algn="l"/>
            <a:r>
              <a:rPr sz="800" b="0">
                <a:solidFill>
                  <a:srgbClr val="666666"/>
                </a:solidFill>
              </a:rPr>
              <a:t>出典：社内調査（2026年5月）、OEMサプライヤーヒアリング結果</a:t>
            </a:r>
          </a:p>
        </p:txBody>
      </p:sp>
      <p:sp>
        <p:nvSpPr>
          <p:cNvPr id="8" name="TextBox 7"/>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515600" cy="548640"/>
          </a:xfrm>
          <a:prstGeom prst="rect">
            <a:avLst/>
          </a:prstGeom>
          <a:noFill/>
        </p:spPr>
        <p:txBody>
          <a:bodyPr wrap="none">
            <a:spAutoFit/>
          </a:bodyPr>
          <a:lstStyle/>
          <a:p>
            <a:r>
              <a:rPr sz="2000" b="1">
                <a:solidFill>
                  <a:srgbClr val="FFFFFF"/>
                </a:solidFill>
              </a:rPr>
              <a:t>想定リスクと対応策</a:t>
            </a:r>
          </a:p>
        </p:txBody>
      </p:sp>
      <p:sp>
        <p:nvSpPr>
          <p:cNvPr id="4" name="TextBox 3"/>
          <p:cNvSpPr txBox="1"/>
          <p:nvPr/>
        </p:nvSpPr>
        <p:spPr>
          <a:xfrm>
            <a:off x="10789920" y="91440"/>
            <a:ext cx="1280160" cy="320040"/>
          </a:xfrm>
          <a:prstGeom prst="rect">
            <a:avLst/>
          </a:prstGeom>
          <a:noFill/>
          <a:solidFill>
            <a:srgbClr val="CC7700"/>
          </a:solidFill>
        </p:spPr>
        <p:txBody>
          <a:bodyPr wrap="square">
            <a:spAutoFit/>
          </a:bodyPr>
          <a:lstStyle/>
          <a:p>
            <a:pPr algn="ctr"/>
            <a:r>
              <a:rPr sz="900" b="1">
                <a:solidFill>
                  <a:srgbClr val="FFFFFF"/>
                </a:solidFill>
              </a:rPr>
              <a:t>[検討中]</a:t>
            </a:r>
          </a:p>
        </p:txBody>
      </p:sp>
      <p:graphicFrame>
        <p:nvGraphicFramePr>
          <p:cNvPr id="5" name="Table 4"/>
          <p:cNvGraphicFramePr>
            <a:graphicFrameLocks noGrp="1"/>
          </p:cNvGraphicFramePr>
          <p:nvPr/>
        </p:nvGraphicFramePr>
        <p:xfrm>
          <a:off x="182880" y="777240"/>
          <a:ext cx="11795760" cy="5029200"/>
        </p:xfrm>
        <a:graphic>
          <a:graphicData uri="http://schemas.openxmlformats.org/drawingml/2006/table">
            <a:tbl>
              <a:tblPr firstRow="1" bandRow="1">
                <a:tableStyleId>{5C22544A-7EE6-4342-B048-85BDC9FD1C3A}</a:tableStyleId>
              </a:tblPr>
              <a:tblGrid>
                <a:gridCol w="2359152"/>
                <a:gridCol w="2359152"/>
                <a:gridCol w="2359152"/>
                <a:gridCol w="2359152"/>
                <a:gridCol w="2359152"/>
              </a:tblGrid>
              <a:tr h="838200">
                <a:tc>
                  <a:txBody>
                    <a:bodyPr/>
                    <a:lstStyle/>
                    <a:p>
                      <a:r>
                        <a:rPr b="1" sz="900">
                          <a:solidFill>
                            <a:srgbClr val="FFFFFF"/>
                          </a:solidFill>
                        </a:rPr>
                        <a:t>リスク名</a:t>
                      </a:r>
                    </a:p>
                  </a:txBody>
                  <a:tcPr>
                    <a:solidFill>
                      <a:srgbClr val="1A56DB"/>
                    </a:solidFill>
                  </a:tcPr>
                </a:tc>
                <a:tc>
                  <a:txBody>
                    <a:bodyPr/>
                    <a:lstStyle/>
                    <a:p>
                      <a:r>
                        <a:rPr b="1" sz="900">
                          <a:solidFill>
                            <a:srgbClr val="FFFFFF"/>
                          </a:solidFill>
                        </a:rPr>
                        <a:t>概要</a:t>
                      </a:r>
                    </a:p>
                  </a:txBody>
                  <a:tcPr>
                    <a:solidFill>
                      <a:srgbClr val="1A56DB"/>
                    </a:solidFill>
                  </a:tcPr>
                </a:tc>
                <a:tc>
                  <a:txBody>
                    <a:bodyPr/>
                    <a:lstStyle/>
                    <a:p>
                      <a:r>
                        <a:rPr b="1" sz="900">
                          <a:solidFill>
                            <a:srgbClr val="FFFFFF"/>
                          </a:solidFill>
                        </a:rPr>
                        <a:t>発生確率</a:t>
                      </a:r>
                    </a:p>
                  </a:txBody>
                  <a:tcPr>
                    <a:solidFill>
                      <a:srgbClr val="1A56DB"/>
                    </a:solidFill>
                  </a:tcPr>
                </a:tc>
                <a:tc>
                  <a:txBody>
                    <a:bodyPr/>
                    <a:lstStyle/>
                    <a:p>
                      <a:r>
                        <a:rPr b="1" sz="900">
                          <a:solidFill>
                            <a:srgbClr val="FFFFFF"/>
                          </a:solidFill>
                        </a:rPr>
                        <a:t>影響度</a:t>
                      </a:r>
                    </a:p>
                  </a:txBody>
                  <a:tcPr>
                    <a:solidFill>
                      <a:srgbClr val="1A56DB"/>
                    </a:solidFill>
                  </a:tcPr>
                </a:tc>
                <a:tc>
                  <a:txBody>
                    <a:bodyPr/>
                    <a:lstStyle/>
                    <a:p>
                      <a:r>
                        <a:rPr b="1" sz="900">
                          <a:solidFill>
                            <a:srgbClr val="FFFFFF"/>
                          </a:solidFill>
                        </a:rPr>
                        <a:t>対応策</a:t>
                      </a:r>
                    </a:p>
                  </a:txBody>
                  <a:tcPr>
                    <a:solidFill>
                      <a:srgbClr val="1A56DB"/>
                    </a:solidFill>
                  </a:tcPr>
                </a:tc>
              </a:tr>
              <a:tr h="838200">
                <a:tc>
                  <a:txBody>
                    <a:bodyPr/>
                    <a:lstStyle/>
                    <a:p>
                      <a:r>
                        <a:rPr sz="800">
                          <a:solidFill>
                            <a:srgbClr val="222222"/>
                          </a:solidFill>
                        </a:rPr>
                        <a:t>在庫過多</a:t>
                      </a:r>
                    </a:p>
                  </a:txBody>
                  <a:tcPr>
                    <a:solidFill>
                      <a:srgbClr val="F0F0F0"/>
                    </a:solidFill>
                  </a:tcPr>
                </a:tc>
                <a:tc>
                  <a:txBody>
                    <a:bodyPr/>
                    <a:lstStyle/>
                    <a:p>
                      <a:r>
                        <a:rPr sz="800">
                          <a:solidFill>
                            <a:srgbClr val="222222"/>
                          </a:solidFill>
                        </a:rPr>
                        <a:t>需要予測が外れ不良在庫が発生</a:t>
                      </a:r>
                    </a:p>
                  </a:txBody>
                  <a:tcPr>
                    <a:solidFill>
                      <a:srgbClr val="F0F0F0"/>
                    </a:solidFill>
                  </a:tcPr>
                </a:tc>
                <a:tc>
                  <a:txBody>
                    <a:bodyPr/>
                    <a:lstStyle/>
                    <a:p>
                      <a:r>
                        <a:rPr sz="800">
                          <a:solidFill>
                            <a:srgbClr val="222222"/>
                          </a:solidFill>
                        </a:rPr>
                        <a:t>中</a:t>
                      </a:r>
                    </a:p>
                  </a:txBody>
                  <a:tcPr>
                    <a:solidFill>
                      <a:srgbClr val="F0F0F0"/>
                    </a:solidFill>
                  </a:tcPr>
                </a:tc>
                <a:tc>
                  <a:txBody>
                    <a:bodyPr/>
                    <a:lstStyle/>
                    <a:p>
                      <a:r>
                        <a:rPr sz="800">
                          <a:solidFill>
                            <a:srgbClr val="222222"/>
                          </a:solidFill>
                        </a:rPr>
                        <a:t>中</a:t>
                      </a:r>
                    </a:p>
                  </a:txBody>
                  <a:tcPr>
                    <a:solidFill>
                      <a:srgbClr val="F0F0F0"/>
                    </a:solidFill>
                  </a:tcPr>
                </a:tc>
                <a:tc>
                  <a:txBody>
                    <a:bodyPr/>
                    <a:lstStyle/>
                    <a:p>
                      <a:r>
                        <a:rPr sz="800">
                          <a:solidFill>
                            <a:srgbClr val="222222"/>
                          </a:solidFill>
                        </a:rPr>
                        <a:t>【回避】初年度はSKU数を20点以内に絞る</a:t>
                      </a:r>
                    </a:p>
                    <a:p>
                      <a:r>
                        <a:rPr sz="800">
                          <a:solidFill>
                            <a:srgbClr val="222222"/>
                          </a:solidFill>
                        </a:rPr>
                        <a:t>【実施時】セール・アウトレット販売でキャッシュ回収</a:t>
                      </a:r>
                    </a:p>
                  </a:txBody>
                  <a:tcPr>
                    <a:solidFill>
                      <a:srgbClr val="F0F0F0"/>
                    </a:solidFill>
                  </a:tcPr>
                </a:tc>
              </a:tr>
              <a:tr h="838200">
                <a:tc>
                  <a:txBody>
                    <a:bodyPr/>
                    <a:lstStyle/>
                    <a:p>
                      <a:r>
                        <a:rPr sz="800">
                          <a:solidFill>
                            <a:srgbClr val="222222"/>
                          </a:solidFill>
                        </a:rPr>
                        <a:t>OEM品質問題</a:t>
                      </a:r>
                    </a:p>
                  </a:txBody>
                  <a:tcPr>
                    <a:solidFill>
                      <a:srgbClr val="FFFFFF"/>
                    </a:solidFill>
                  </a:tcPr>
                </a:tc>
                <a:tc>
                  <a:txBody>
                    <a:bodyPr/>
                    <a:lstStyle/>
                    <a:p>
                      <a:r>
                        <a:rPr sz="800">
                          <a:solidFill>
                            <a:srgbClr val="222222"/>
                          </a:solidFill>
                        </a:rPr>
                        <a:t>仕入れ品の品質不良によるクレーム・返品</a:t>
                      </a:r>
                    </a:p>
                  </a:txBody>
                  <a:tcPr>
                    <a:solidFill>
                      <a:srgbClr val="FFFFFF"/>
                    </a:solidFill>
                  </a:tcPr>
                </a:tc>
                <a:tc>
                  <a:txBody>
                    <a:bodyPr/>
                    <a:lstStyle/>
                    <a:p>
                      <a:r>
                        <a:rPr sz="800">
                          <a:solidFill>
                            <a:srgbClr val="222222"/>
                          </a:solidFill>
                        </a:rPr>
                        <a:t>低</a:t>
                      </a:r>
                    </a:p>
                  </a:txBody>
                  <a:tcPr>
                    <a:solidFill>
                      <a:srgbClr val="FFFFFF"/>
                    </a:solidFill>
                  </a:tcPr>
                </a:tc>
                <a:tc>
                  <a:txBody>
                    <a:bodyPr/>
                    <a:lstStyle/>
                    <a:p>
                      <a:r>
                        <a:rPr sz="800">
                          <a:solidFill>
                            <a:srgbClr val="222222"/>
                          </a:solidFill>
                        </a:rPr>
                        <a:t>高</a:t>
                      </a:r>
                    </a:p>
                  </a:txBody>
                  <a:tcPr>
                    <a:solidFill>
                      <a:srgbClr val="FFFFFF"/>
                    </a:solidFill>
                  </a:tcPr>
                </a:tc>
                <a:tc>
                  <a:txBody>
                    <a:bodyPr/>
                    <a:lstStyle/>
                    <a:p>
                      <a:r>
                        <a:rPr sz="800">
                          <a:solidFill>
                            <a:srgbClr val="222222"/>
                          </a:solidFill>
                        </a:rPr>
                        <a:t>【回避】国内検品業者（抜き取り率5%以上）を必ず経由</a:t>
                      </a:r>
                    </a:p>
                    <a:p>
                      <a:r>
                        <a:rPr sz="800">
                          <a:solidFill>
                            <a:srgbClr val="222222"/>
                          </a:solidFill>
                        </a:rPr>
                        <a:t>【実施時】返品・交換ポリシーの明文化＋仕入先ペナルティ条項</a:t>
                      </a:r>
                    </a:p>
                  </a:txBody>
                  <a:tcPr>
                    <a:solidFill>
                      <a:srgbClr val="FFFFFF"/>
                    </a:solidFill>
                  </a:tcPr>
                </a:tc>
              </a:tr>
              <a:tr h="838200">
                <a:tc>
                  <a:txBody>
                    <a:bodyPr/>
                    <a:lstStyle/>
                    <a:p>
                      <a:r>
                        <a:rPr sz="800">
                          <a:solidFill>
                            <a:srgbClr val="222222"/>
                          </a:solidFill>
                        </a:rPr>
                        <a:t>価格競争激化</a:t>
                      </a:r>
                    </a:p>
                  </a:txBody>
                  <a:tcPr>
                    <a:solidFill>
                      <a:srgbClr val="F0F0F0"/>
                    </a:solidFill>
                  </a:tcPr>
                </a:tc>
                <a:tc>
                  <a:txBody>
                    <a:bodyPr/>
                    <a:lstStyle/>
                    <a:p>
                      <a:r>
                        <a:rPr sz="800">
                          <a:solidFill>
                            <a:srgbClr val="222222"/>
                          </a:solidFill>
                        </a:rPr>
                        <a:t>競合値下げによる利益率悪化</a:t>
                      </a:r>
                    </a:p>
                  </a:txBody>
                  <a:tcPr>
                    <a:solidFill>
                      <a:srgbClr val="F0F0F0"/>
                    </a:solidFill>
                  </a:tcPr>
                </a:tc>
                <a:tc>
                  <a:txBody>
                    <a:bodyPr/>
                    <a:lstStyle/>
                    <a:p>
                      <a:r>
                        <a:rPr sz="800">
                          <a:solidFill>
                            <a:srgbClr val="222222"/>
                          </a:solidFill>
                        </a:rPr>
                        <a:t>高</a:t>
                      </a:r>
                    </a:p>
                  </a:txBody>
                  <a:tcPr>
                    <a:solidFill>
                      <a:srgbClr val="F0F0F0"/>
                    </a:solidFill>
                  </a:tcPr>
                </a:tc>
                <a:tc>
                  <a:txBody>
                    <a:bodyPr/>
                    <a:lstStyle/>
                    <a:p>
                      <a:r>
                        <a:rPr sz="800">
                          <a:solidFill>
                            <a:srgbClr val="222222"/>
                          </a:solidFill>
                        </a:rPr>
                        <a:t>中</a:t>
                      </a:r>
                    </a:p>
                  </a:txBody>
                  <a:tcPr>
                    <a:solidFill>
                      <a:srgbClr val="F0F0F0"/>
                    </a:solidFill>
                  </a:tcPr>
                </a:tc>
                <a:tc>
                  <a:txBody>
                    <a:bodyPr/>
                    <a:lstStyle/>
                    <a:p>
                      <a:r>
                        <a:rPr sz="800">
                          <a:solidFill>
                            <a:srgbClr val="222222"/>
                          </a:solidFill>
                        </a:rPr>
                        <a:t>【回避】価格勝負でなくブランド・コンテンツで差別化</a:t>
                      </a:r>
                    </a:p>
                    <a:p>
                      <a:r>
                        <a:rPr sz="800">
                          <a:solidFill>
                            <a:srgbClr val="222222"/>
                          </a:solidFill>
                        </a:rPr>
                        <a:t>【実施時】原価率上限30%を守りつつバンドル販売で単価維持</a:t>
                      </a:r>
                    </a:p>
                  </a:txBody>
                  <a:tcPr>
                    <a:solidFill>
                      <a:srgbClr val="F0F0F0"/>
                    </a:solidFill>
                  </a:tcPr>
                </a:tc>
              </a:tr>
              <a:tr h="838200">
                <a:tc>
                  <a:txBody>
                    <a:bodyPr/>
                    <a:lstStyle/>
                    <a:p>
                      <a:r>
                        <a:rPr sz="800">
                          <a:solidFill>
                            <a:srgbClr val="222222"/>
                          </a:solidFill>
                        </a:rPr>
                        <a:t>EC規約変更</a:t>
                      </a:r>
                    </a:p>
                  </a:txBody>
                  <a:tcPr>
                    <a:solidFill>
                      <a:srgbClr val="FFFFFF"/>
                    </a:solidFill>
                  </a:tcPr>
                </a:tc>
                <a:tc>
                  <a:txBody>
                    <a:bodyPr/>
                    <a:lstStyle/>
                    <a:p>
                      <a:r>
                        <a:rPr sz="800">
                          <a:solidFill>
                            <a:srgbClr val="222222"/>
                          </a:solidFill>
                        </a:rPr>
                        <a:t>モール型EC（楽天・Amazon）の手数料・規約変更</a:t>
                      </a:r>
                    </a:p>
                  </a:txBody>
                  <a:tcPr>
                    <a:solidFill>
                      <a:srgbClr val="FFFFFF"/>
                    </a:solidFill>
                  </a:tcPr>
                </a:tc>
                <a:tc>
                  <a:txBody>
                    <a:bodyPr/>
                    <a:lstStyle/>
                    <a:p>
                      <a:r>
                        <a:rPr sz="800">
                          <a:solidFill>
                            <a:srgbClr val="222222"/>
                          </a:solidFill>
                        </a:rPr>
                        <a:t>中</a:t>
                      </a:r>
                    </a:p>
                  </a:txBody>
                  <a:tcPr>
                    <a:solidFill>
                      <a:srgbClr val="FFFFFF"/>
                    </a:solidFill>
                  </a:tcPr>
                </a:tc>
                <a:tc>
                  <a:txBody>
                    <a:bodyPr/>
                    <a:lstStyle/>
                    <a:p>
                      <a:r>
                        <a:rPr sz="800">
                          <a:solidFill>
                            <a:srgbClr val="222222"/>
                          </a:solidFill>
                        </a:rPr>
                        <a:t>中</a:t>
                      </a:r>
                    </a:p>
                  </a:txBody>
                  <a:tcPr>
                    <a:solidFill>
                      <a:srgbClr val="FFFFFF"/>
                    </a:solidFill>
                  </a:tcPr>
                </a:tc>
                <a:tc>
                  <a:txBody>
                    <a:bodyPr/>
                    <a:lstStyle/>
                    <a:p>
                      <a:r>
                        <a:rPr sz="800">
                          <a:solidFill>
                            <a:srgbClr val="222222"/>
                          </a:solidFill>
                        </a:rPr>
                        <a:t>【回避】自社EC比率を1年以内に売上の30%以上に引き上げ</a:t>
                      </a:r>
                    </a:p>
                    <a:p>
                      <a:r>
                        <a:rPr sz="800">
                          <a:solidFill>
                            <a:srgbClr val="222222"/>
                          </a:solidFill>
                        </a:rPr>
                        <a:t>【実施時】即時に価格・送料設定を見直す</a:t>
                      </a:r>
                    </a:p>
                  </a:txBody>
                  <a:tcPr>
                    <a:solidFill>
                      <a:srgbClr val="FFFFFF"/>
                    </a:solidFill>
                  </a:tcPr>
                </a:tc>
              </a:tr>
              <a:tr h="838200">
                <a:tc>
                  <a:txBody>
                    <a:bodyPr/>
                    <a:lstStyle/>
                    <a:p>
                      <a:r>
                        <a:rPr sz="800">
                          <a:solidFill>
                            <a:srgbClr val="222222"/>
                          </a:solidFill>
                        </a:rPr>
                        <a:t>法規制強化</a:t>
                      </a:r>
                    </a:p>
                  </a:txBody>
                  <a:tcPr>
                    <a:solidFill>
                      <a:srgbClr val="F0F0F0"/>
                    </a:solidFill>
                  </a:tcPr>
                </a:tc>
                <a:tc>
                  <a:txBody>
                    <a:bodyPr/>
                    <a:lstStyle/>
                    <a:p>
                      <a:r>
                        <a:rPr sz="800">
                          <a:solidFill>
                            <a:srgbClr val="222222"/>
                          </a:solidFill>
                        </a:rPr>
                        <a:t>農薬・肥料関連の表示義務変更</a:t>
                      </a:r>
                    </a:p>
                  </a:txBody>
                  <a:tcPr>
                    <a:solidFill>
                      <a:srgbClr val="F0F0F0"/>
                    </a:solidFill>
                  </a:tcPr>
                </a:tc>
                <a:tc>
                  <a:txBody>
                    <a:bodyPr/>
                    <a:lstStyle/>
                    <a:p>
                      <a:r>
                        <a:rPr sz="800">
                          <a:solidFill>
                            <a:srgbClr val="222222"/>
                          </a:solidFill>
                        </a:rPr>
                        <a:t>低</a:t>
                      </a:r>
                    </a:p>
                  </a:txBody>
                  <a:tcPr>
                    <a:solidFill>
                      <a:srgbClr val="F0F0F0"/>
                    </a:solidFill>
                  </a:tcPr>
                </a:tc>
                <a:tc>
                  <a:txBody>
                    <a:bodyPr/>
                    <a:lstStyle/>
                    <a:p>
                      <a:r>
                        <a:rPr sz="800">
                          <a:solidFill>
                            <a:srgbClr val="222222"/>
                          </a:solidFill>
                        </a:rPr>
                        <a:t>高</a:t>
                      </a:r>
                    </a:p>
                  </a:txBody>
                  <a:tcPr>
                    <a:solidFill>
                      <a:srgbClr val="F0F0F0"/>
                    </a:solidFill>
                  </a:tcPr>
                </a:tc>
                <a:tc>
                  <a:txBody>
                    <a:bodyPr/>
                    <a:lstStyle/>
                    <a:p>
                      <a:r>
                        <a:rPr sz="800">
                          <a:solidFill>
                            <a:srgbClr val="222222"/>
                          </a:solidFill>
                        </a:rPr>
                        <a:t>【回避】発売前に薬事・景表法の専門家による表示確認</a:t>
                      </a:r>
                    </a:p>
                    <a:p>
                      <a:r>
                        <a:rPr sz="800">
                          <a:solidFill>
                            <a:srgbClr val="222222"/>
                          </a:solidFill>
                        </a:rPr>
                        <a:t>【実施時】ラベル・ECページを2週間以内に修正する</a:t>
                      </a:r>
                    </a:p>
                  </a:txBody>
                  <a:tcPr>
                    <a:solidFill>
                      <a:srgbClr val="F0F0F0"/>
                    </a:solidFill>
                  </a:tcPr>
                </a:tc>
              </a:tr>
            </a:tbl>
          </a:graphicData>
        </a:graphic>
      </p:graphicFrame>
      <p:sp>
        <p:nvSpPr>
          <p:cNvPr id="6" name="TextBox 5"/>
          <p:cNvSpPr txBox="1"/>
          <p:nvPr/>
        </p:nvSpPr>
        <p:spPr>
          <a:xfrm>
            <a:off x="182880" y="5943600"/>
            <a:ext cx="11795760" cy="365760"/>
          </a:xfrm>
          <a:prstGeom prst="rect">
            <a:avLst/>
          </a:prstGeom>
          <a:noFill/>
        </p:spPr>
        <p:txBody>
          <a:bodyPr wrap="square">
            <a:spAutoFit/>
          </a:bodyPr>
          <a:lstStyle/>
          <a:p>
            <a:pPr algn="l"/>
            <a:r>
              <a:rPr sz="800" b="0">
                <a:solidFill>
                  <a:srgbClr val="666666"/>
                </a:solidFill>
              </a:rPr>
              <a:t>判定基準　発生確率：高＝年1回以上 / 中＝数年に1回 / 低＝想定しにくい　影響度：高＝損失1,000万円以上または業務停止 / 中＝100万円以上 / 低＝100万円未満</a:t>
            </a:r>
          </a:p>
        </p:txBody>
      </p:sp>
      <p:sp>
        <p:nvSpPr>
          <p:cNvPr id="7" name="TextBox 6"/>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515600" cy="548640"/>
          </a:xfrm>
          <a:prstGeom prst="rect">
            <a:avLst/>
          </a:prstGeom>
          <a:noFill/>
        </p:spPr>
        <p:txBody>
          <a:bodyPr wrap="none">
            <a:spAutoFit/>
          </a:bodyPr>
          <a:lstStyle/>
          <a:p>
            <a:r>
              <a:rPr sz="2000" b="1">
                <a:solidFill>
                  <a:srgbClr val="FFFFFF"/>
                </a:solidFill>
              </a:rPr>
              <a:t>商品方針・ラインナップ原則</a:t>
            </a:r>
          </a:p>
        </p:txBody>
      </p:sp>
      <p:sp>
        <p:nvSpPr>
          <p:cNvPr id="4" name="TextBox 3"/>
          <p:cNvSpPr txBox="1"/>
          <p:nvPr/>
        </p:nvSpPr>
        <p:spPr>
          <a:xfrm>
            <a:off x="10789920" y="91440"/>
            <a:ext cx="1280160" cy="320040"/>
          </a:xfrm>
          <a:prstGeom prst="rect">
            <a:avLst/>
          </a:prstGeom>
          <a:noFill/>
          <a:solidFill>
            <a:srgbClr val="1A56DB"/>
          </a:solidFill>
        </p:spPr>
        <p:txBody>
          <a:bodyPr wrap="square">
            <a:spAutoFit/>
          </a:bodyPr>
          <a:lstStyle/>
          <a:p>
            <a:pPr algn="ctr"/>
            <a:r>
              <a:rPr sz="900" b="1">
                <a:solidFill>
                  <a:srgbClr val="FFFFFF"/>
                </a:solidFill>
              </a:rPr>
              <a:t>[確定]</a:t>
            </a:r>
          </a:p>
        </p:txBody>
      </p:sp>
      <p:graphicFrame>
        <p:nvGraphicFramePr>
          <p:cNvPr id="5" name="Table 4"/>
          <p:cNvGraphicFramePr>
            <a:graphicFrameLocks noGrp="1"/>
          </p:cNvGraphicFramePr>
          <p:nvPr/>
        </p:nvGraphicFramePr>
        <p:xfrm>
          <a:off x="182880" y="777240"/>
          <a:ext cx="11795760" cy="5029200"/>
        </p:xfrm>
        <a:graphic>
          <a:graphicData uri="http://schemas.openxmlformats.org/drawingml/2006/table">
            <a:tbl>
              <a:tblPr firstRow="1" bandRow="1">
                <a:tableStyleId>{5C22544A-7EE6-4342-B048-85BDC9FD1C3A}</a:tableStyleId>
              </a:tblPr>
              <a:tblGrid>
                <a:gridCol w="2359152"/>
                <a:gridCol w="2359152"/>
                <a:gridCol w="2359152"/>
                <a:gridCol w="2359152"/>
                <a:gridCol w="2359152"/>
              </a:tblGrid>
              <a:tr h="838200">
                <a:tc>
                  <a:txBody>
                    <a:bodyPr/>
                    <a:lstStyle/>
                    <a:p>
                      <a:r>
                        <a:rPr b="1" sz="900">
                          <a:solidFill>
                            <a:srgbClr val="FFFFFF"/>
                          </a:solidFill>
                        </a:rPr>
                        <a:t>原則名</a:t>
                      </a:r>
                    </a:p>
                  </a:txBody>
                  <a:tcPr>
                    <a:solidFill>
                      <a:srgbClr val="1A56DB"/>
                    </a:solidFill>
                  </a:tcPr>
                </a:tc>
                <a:tc>
                  <a:txBody>
                    <a:bodyPr/>
                    <a:lstStyle/>
                    <a:p>
                      <a:r>
                        <a:rPr b="1" sz="900">
                          <a:solidFill>
                            <a:srgbClr val="FFFFFF"/>
                          </a:solidFill>
                        </a:rPr>
                        <a:t>概要</a:t>
                      </a:r>
                    </a:p>
                  </a:txBody>
                  <a:tcPr>
                    <a:solidFill>
                      <a:srgbClr val="1A56DB"/>
                    </a:solidFill>
                  </a:tcPr>
                </a:tc>
                <a:tc>
                  <a:txBody>
                    <a:bodyPr/>
                    <a:lstStyle/>
                    <a:p>
                      <a:r>
                        <a:rPr b="1" sz="900">
                          <a:solidFill>
                            <a:srgbClr val="FFFFFF"/>
                          </a:solidFill>
                        </a:rPr>
                        <a:t>区分</a:t>
                      </a:r>
                    </a:p>
                  </a:txBody>
                  <a:tcPr>
                    <a:solidFill>
                      <a:srgbClr val="1A56DB"/>
                    </a:solidFill>
                  </a:tcPr>
                </a:tc>
                <a:tc>
                  <a:txBody>
                    <a:bodyPr/>
                    <a:lstStyle/>
                    <a:p>
                      <a:r>
                        <a:rPr b="1" sz="900">
                          <a:solidFill>
                            <a:srgbClr val="FFFFFF"/>
                          </a:solidFill>
                        </a:rPr>
                        <a:t>具体基準</a:t>
                      </a:r>
                    </a:p>
                  </a:txBody>
                  <a:tcPr>
                    <a:solidFill>
                      <a:srgbClr val="1A56DB"/>
                    </a:solidFill>
                  </a:tcPr>
                </a:tc>
                <a:tc>
                  <a:txBody>
                    <a:bodyPr/>
                    <a:lstStyle/>
                    <a:p>
                      <a:r>
                        <a:rPr b="1" sz="900">
                          <a:solidFill>
                            <a:srgbClr val="FFFFFF"/>
                          </a:solidFill>
                        </a:rPr>
                        <a:t>関連法令</a:t>
                      </a:r>
                    </a:p>
                  </a:txBody>
                  <a:tcPr>
                    <a:solidFill>
                      <a:srgbClr val="1A56DB"/>
                    </a:solidFill>
                  </a:tcPr>
                </a:tc>
              </a:tr>
              <a:tr h="838200">
                <a:tc>
                  <a:txBody>
                    <a:bodyPr/>
                    <a:lstStyle/>
                    <a:p>
                      <a:r>
                        <a:rPr sz="800">
                          <a:solidFill>
                            <a:srgbClr val="222222"/>
                          </a:solidFill>
                        </a:rPr>
                        <a:t>安全性確保</a:t>
                      </a:r>
                    </a:p>
                  </a:txBody>
                  <a:tcPr>
                    <a:solidFill>
                      <a:srgbClr val="F0F0F0"/>
                    </a:solidFill>
                  </a:tcPr>
                </a:tc>
                <a:tc>
                  <a:txBody>
                    <a:bodyPr/>
                    <a:lstStyle/>
                    <a:p>
                      <a:r>
                        <a:rPr sz="800">
                          <a:solidFill>
                            <a:srgbClr val="222222"/>
                          </a:solidFill>
                        </a:rPr>
                        <a:t>販売商品は安全基準を満たすこと</a:t>
                      </a:r>
                    </a:p>
                  </a:txBody>
                  <a:tcPr>
                    <a:solidFill>
                      <a:srgbClr val="F0F0F0"/>
                    </a:solidFill>
                  </a:tcPr>
                </a:tc>
                <a:tc>
                  <a:txBody>
                    <a:bodyPr/>
                    <a:lstStyle/>
                    <a:p>
                      <a:r>
                        <a:rPr sz="800">
                          <a:solidFill>
                            <a:srgbClr val="222222"/>
                          </a:solidFill>
                        </a:rPr>
                        <a:t>must</a:t>
                      </a:r>
                    </a:p>
                  </a:txBody>
                  <a:tcPr>
                    <a:solidFill>
                      <a:srgbClr val="F0F0F0"/>
                    </a:solidFill>
                  </a:tcPr>
                </a:tc>
                <a:tc>
                  <a:txBody>
                    <a:bodyPr/>
                    <a:lstStyle/>
                    <a:p>
                      <a:r>
                        <a:rPr sz="800">
                          <a:solidFill>
                            <a:srgbClr val="222222"/>
                          </a:solidFill>
                        </a:rPr>
                        <a:t>農薬取締法対象品は登録番号を取得。肥料は肥料取締法に基づき成分表示を行う</a:t>
                      </a:r>
                    </a:p>
                  </a:txBody>
                  <a:tcPr>
                    <a:solidFill>
                      <a:srgbClr val="F0F0F0"/>
                    </a:solidFill>
                  </a:tcPr>
                </a:tc>
                <a:tc>
                  <a:txBody>
                    <a:bodyPr/>
                    <a:lstStyle/>
                    <a:p>
                      <a:r>
                        <a:rPr sz="800">
                          <a:solidFill>
                            <a:srgbClr val="222222"/>
                          </a:solidFill>
                        </a:rPr>
                        <a:t>農薬取締法 第2条、肥料取締法 第4条</a:t>
                      </a:r>
                    </a:p>
                  </a:txBody>
                  <a:tcPr>
                    <a:solidFill>
                      <a:srgbClr val="F0F0F0"/>
                    </a:solidFill>
                  </a:tcPr>
                </a:tc>
              </a:tr>
              <a:tr h="838200">
                <a:tc>
                  <a:txBody>
                    <a:bodyPr/>
                    <a:lstStyle/>
                    <a:p>
                      <a:r>
                        <a:rPr sz="800">
                          <a:solidFill>
                            <a:srgbClr val="222222"/>
                          </a:solidFill>
                        </a:rPr>
                        <a:t>表示の正確性</a:t>
                      </a:r>
                    </a:p>
                  </a:txBody>
                  <a:tcPr>
                    <a:solidFill>
                      <a:srgbClr val="FFFFFF"/>
                    </a:solidFill>
                  </a:tcPr>
                </a:tc>
                <a:tc>
                  <a:txBody>
                    <a:bodyPr/>
                    <a:lstStyle/>
                    <a:p>
                      <a:r>
                        <a:rPr sz="800">
                          <a:solidFill>
                            <a:srgbClr val="222222"/>
                          </a:solidFill>
                        </a:rPr>
                        <a:t>商品説明・効能表示は根拠に基づくこと</a:t>
                      </a:r>
                    </a:p>
                  </a:txBody>
                  <a:tcPr>
                    <a:solidFill>
                      <a:srgbClr val="FFFFFF"/>
                    </a:solidFill>
                  </a:tcPr>
                </a:tc>
                <a:tc>
                  <a:txBody>
                    <a:bodyPr/>
                    <a:lstStyle/>
                    <a:p>
                      <a:r>
                        <a:rPr sz="800">
                          <a:solidFill>
                            <a:srgbClr val="222222"/>
                          </a:solidFill>
                        </a:rPr>
                        <a:t>must</a:t>
                      </a:r>
                    </a:p>
                  </a:txBody>
                  <a:tcPr>
                    <a:solidFill>
                      <a:srgbClr val="FFFFFF"/>
                    </a:solidFill>
                  </a:tcPr>
                </a:tc>
                <a:tc>
                  <a:txBody>
                    <a:bodyPr/>
                    <a:lstStyle/>
                    <a:p>
                      <a:r>
                        <a:rPr sz="800">
                          <a:solidFill>
                            <a:srgbClr val="222222"/>
                          </a:solidFill>
                        </a:rPr>
                        <a:t>景品表示法に抵触しない表現。「〇〇に最適」等の優良誤認表現は禁止</a:t>
                      </a:r>
                    </a:p>
                  </a:txBody>
                  <a:tcPr>
                    <a:solidFill>
                      <a:srgbClr val="FFFFFF"/>
                    </a:solidFill>
                  </a:tcPr>
                </a:tc>
                <a:tc>
                  <a:txBody>
                    <a:bodyPr/>
                    <a:lstStyle/>
                    <a:p>
                      <a:r>
                        <a:rPr sz="800">
                          <a:solidFill>
                            <a:srgbClr val="222222"/>
                          </a:solidFill>
                        </a:rPr>
                        <a:t>景品表示法 第5条</a:t>
                      </a:r>
                    </a:p>
                  </a:txBody>
                  <a:tcPr>
                    <a:solidFill>
                      <a:srgbClr val="FFFFFF"/>
                    </a:solidFill>
                  </a:tcPr>
                </a:tc>
              </a:tr>
              <a:tr h="838200">
                <a:tc>
                  <a:txBody>
                    <a:bodyPr/>
                    <a:lstStyle/>
                    <a:p>
                      <a:r>
                        <a:rPr sz="800">
                          <a:solidFill>
                            <a:srgbClr val="222222"/>
                          </a:solidFill>
                        </a:rPr>
                        <a:t>環境配慮</a:t>
                      </a:r>
                    </a:p>
                  </a:txBody>
                  <a:tcPr>
                    <a:solidFill>
                      <a:srgbClr val="F0F0F0"/>
                    </a:solidFill>
                  </a:tcPr>
                </a:tc>
                <a:tc>
                  <a:txBody>
                    <a:bodyPr/>
                    <a:lstStyle/>
                    <a:p>
                      <a:r>
                        <a:rPr sz="800">
                          <a:solidFill>
                            <a:srgbClr val="222222"/>
                          </a:solidFill>
                        </a:rPr>
                        <a:t>包装・梱包材はリサイクル可能な素材を使用すること</a:t>
                      </a:r>
                    </a:p>
                  </a:txBody>
                  <a:tcPr>
                    <a:solidFill>
                      <a:srgbClr val="F0F0F0"/>
                    </a:solidFill>
                  </a:tcPr>
                </a:tc>
                <a:tc>
                  <a:txBody>
                    <a:bodyPr/>
                    <a:lstStyle/>
                    <a:p>
                      <a:r>
                        <a:rPr sz="800">
                          <a:solidFill>
                            <a:srgbClr val="222222"/>
                          </a:solidFill>
                        </a:rPr>
                        <a:t>should</a:t>
                      </a:r>
                    </a:p>
                  </a:txBody>
                  <a:tcPr>
                    <a:solidFill>
                      <a:srgbClr val="F0F0F0"/>
                    </a:solidFill>
                  </a:tcPr>
                </a:tc>
                <a:tc>
                  <a:txBody>
                    <a:bodyPr/>
                    <a:lstStyle/>
                    <a:p>
                      <a:r>
                        <a:rPr sz="800">
                          <a:solidFill>
                            <a:srgbClr val="222222"/>
                          </a:solidFill>
                        </a:rPr>
                        <a:t>プラスチック使用量を従来比30%以上削減（2027年度までに）。達成基準：使用量kg単位で計測</a:t>
                      </a:r>
                    </a:p>
                  </a:txBody>
                  <a:tcPr>
                    <a:solidFill>
                      <a:srgbClr val="F0F0F0"/>
                    </a:solidFill>
                  </a:tcPr>
                </a:tc>
                <a:tc>
                  <a:txBody>
                    <a:bodyPr/>
                    <a:lstStyle/>
                    <a:p>
                      <a:r>
                        <a:rPr sz="800">
                          <a:solidFill>
                            <a:srgbClr val="222222"/>
                          </a:solidFill>
                        </a:rPr>
                        <a:t>プラスチック資源循環促進法 第11条</a:t>
                      </a:r>
                    </a:p>
                  </a:txBody>
                  <a:tcPr>
                    <a:solidFill>
                      <a:srgbClr val="F0F0F0"/>
                    </a:solidFill>
                  </a:tcPr>
                </a:tc>
              </a:tr>
              <a:tr h="838200">
                <a:tc>
                  <a:txBody>
                    <a:bodyPr/>
                    <a:lstStyle/>
                    <a:p>
                      <a:r>
                        <a:rPr sz="800">
                          <a:solidFill>
                            <a:srgbClr val="222222"/>
                          </a:solidFill>
                        </a:rPr>
                        <a:t>SKU管理</a:t>
                      </a:r>
                    </a:p>
                  </a:txBody>
                  <a:tcPr>
                    <a:solidFill>
                      <a:srgbClr val="FFFFFF"/>
                    </a:solidFill>
                  </a:tcPr>
                </a:tc>
                <a:tc>
                  <a:txBody>
                    <a:bodyPr/>
                    <a:lstStyle/>
                    <a:p>
                      <a:r>
                        <a:rPr sz="800">
                          <a:solidFill>
                            <a:srgbClr val="222222"/>
                          </a:solidFill>
                        </a:rPr>
                        <a:t>在庫回転率を基準にSKU廃番を判断すること</a:t>
                      </a:r>
                    </a:p>
                  </a:txBody>
                  <a:tcPr>
                    <a:solidFill>
                      <a:srgbClr val="FFFFFF"/>
                    </a:solidFill>
                  </a:tcPr>
                </a:tc>
                <a:tc>
                  <a:txBody>
                    <a:bodyPr/>
                    <a:lstStyle/>
                    <a:p>
                      <a:r>
                        <a:rPr sz="800">
                          <a:solidFill>
                            <a:srgbClr val="222222"/>
                          </a:solidFill>
                        </a:rPr>
                        <a:t>should</a:t>
                      </a:r>
                    </a:p>
                  </a:txBody>
                  <a:tcPr>
                    <a:solidFill>
                      <a:srgbClr val="FFFFFF"/>
                    </a:solidFill>
                  </a:tcPr>
                </a:tc>
                <a:tc>
                  <a:txBody>
                    <a:bodyPr/>
                    <a:lstStyle/>
                    <a:p>
                      <a:r>
                        <a:rPr sz="800">
                          <a:solidFill>
                            <a:srgbClr val="222222"/>
                          </a:solidFill>
                        </a:rPr>
                        <a:t>年間販売数50個未満のSKUは四半期ごとに廃番検討。廃番は商品企画部長承認制</a:t>
                      </a:r>
                    </a:p>
                  </a:txBody>
                  <a:tcPr>
                    <a:solidFill>
                      <a:srgbClr val="FFFFFF"/>
                    </a:solidFill>
                  </a:tcPr>
                </a:tc>
                <a:tc>
                  <a:txBody>
                    <a:bodyPr/>
                    <a:lstStyle/>
                    <a:p>
                      <a:r>
                        <a:rPr sz="800">
                          <a:solidFill>
                            <a:srgbClr val="222222"/>
                          </a:solidFill>
                        </a:rPr>
                        <a:t>—</a:t>
                      </a:r>
                    </a:p>
                  </a:txBody>
                  <a:tcPr>
                    <a:solidFill>
                      <a:srgbClr val="FFFFFF"/>
                    </a:solidFill>
                  </a:tcPr>
                </a:tc>
              </a:tr>
              <a:tr h="838200">
                <a:tc>
                  <a:txBody>
                    <a:bodyPr/>
                    <a:lstStyle/>
                    <a:p>
                      <a:r>
                        <a:rPr sz="800">
                          <a:solidFill>
                            <a:srgbClr val="222222"/>
                          </a:solidFill>
                        </a:rPr>
                        <a:t>産地表示</a:t>
                      </a:r>
                    </a:p>
                  </a:txBody>
                  <a:tcPr>
                    <a:solidFill>
                      <a:srgbClr val="F0F0F0"/>
                    </a:solidFill>
                  </a:tcPr>
                </a:tc>
                <a:tc>
                  <a:txBody>
                    <a:bodyPr/>
                    <a:lstStyle/>
                    <a:p>
                      <a:r>
                        <a:rPr sz="800">
                          <a:solidFill>
                            <a:srgbClr val="222222"/>
                          </a:solidFill>
                        </a:rPr>
                        <a:t>栽培用土・肥料の原材料産地を表示すること</a:t>
                      </a:r>
                    </a:p>
                  </a:txBody>
                  <a:tcPr>
                    <a:solidFill>
                      <a:srgbClr val="F0F0F0"/>
                    </a:solidFill>
                  </a:tcPr>
                </a:tc>
                <a:tc>
                  <a:txBody>
                    <a:bodyPr/>
                    <a:lstStyle/>
                    <a:p>
                      <a:r>
                        <a:rPr sz="800">
                          <a:solidFill>
                            <a:srgbClr val="222222"/>
                          </a:solidFill>
                        </a:rPr>
                        <a:t>may</a:t>
                      </a:r>
                    </a:p>
                  </a:txBody>
                  <a:tcPr>
                    <a:solidFill>
                      <a:srgbClr val="F0F0F0"/>
                    </a:solidFill>
                  </a:tcPr>
                </a:tc>
                <a:tc>
                  <a:txBody>
                    <a:bodyPr/>
                    <a:lstStyle/>
                    <a:p>
                      <a:r>
                        <a:rPr sz="800">
                          <a:solidFill>
                            <a:srgbClr val="222222"/>
                          </a:solidFill>
                        </a:rPr>
                        <a:t>国産原材料使用の場合は「国産」と明記可。海外原材料は国名を記載</a:t>
                      </a:r>
                    </a:p>
                  </a:txBody>
                  <a:tcPr>
                    <a:solidFill>
                      <a:srgbClr val="F0F0F0"/>
                    </a:solidFill>
                  </a:tcPr>
                </a:tc>
                <a:tc>
                  <a:txBody>
                    <a:bodyPr/>
                    <a:lstStyle/>
                    <a:p>
                      <a:r>
                        <a:rPr sz="800">
                          <a:solidFill>
                            <a:srgbClr val="222222"/>
                          </a:solidFill>
                        </a:rPr>
                        <a:t>食品表示法（適用対象の場合）</a:t>
                      </a:r>
                    </a:p>
                  </a:txBody>
                  <a:tcPr>
                    <a:solidFill>
                      <a:srgbClr val="F0F0F0"/>
                    </a:solidFill>
                  </a:tcPr>
                </a:tc>
              </a:tr>
            </a:tbl>
          </a:graphicData>
        </a:graphic>
      </p:graphicFrame>
      <p:sp>
        <p:nvSpPr>
          <p:cNvPr id="6" name="TextBox 5"/>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515600" cy="548640"/>
          </a:xfrm>
          <a:prstGeom prst="rect">
            <a:avLst/>
          </a:prstGeom>
          <a:noFill/>
        </p:spPr>
        <p:txBody>
          <a:bodyPr wrap="none">
            <a:spAutoFit/>
          </a:bodyPr>
          <a:lstStyle/>
          <a:p>
            <a:r>
              <a:rPr sz="2000" b="1">
                <a:solidFill>
                  <a:srgbClr val="FFFFFF"/>
                </a:solidFill>
              </a:rPr>
              <a:t>考慮すべき法律・規制</a:t>
            </a:r>
          </a:p>
        </p:txBody>
      </p:sp>
      <p:sp>
        <p:nvSpPr>
          <p:cNvPr id="4" name="TextBox 3"/>
          <p:cNvSpPr txBox="1"/>
          <p:nvPr/>
        </p:nvSpPr>
        <p:spPr>
          <a:xfrm>
            <a:off x="10789920" y="91440"/>
            <a:ext cx="1280160" cy="320040"/>
          </a:xfrm>
          <a:prstGeom prst="rect">
            <a:avLst/>
          </a:prstGeom>
          <a:noFill/>
          <a:solidFill>
            <a:srgbClr val="1A56DB"/>
          </a:solidFill>
        </p:spPr>
        <p:txBody>
          <a:bodyPr wrap="square">
            <a:spAutoFit/>
          </a:bodyPr>
          <a:lstStyle/>
          <a:p>
            <a:pPr algn="ctr"/>
            <a:r>
              <a:rPr sz="900" b="1">
                <a:solidFill>
                  <a:srgbClr val="FFFFFF"/>
                </a:solidFill>
              </a:rPr>
              <a:t>[確定]</a:t>
            </a:r>
          </a:p>
        </p:txBody>
      </p:sp>
      <p:graphicFrame>
        <p:nvGraphicFramePr>
          <p:cNvPr id="5" name="Table 4"/>
          <p:cNvGraphicFramePr>
            <a:graphicFrameLocks noGrp="1"/>
          </p:cNvGraphicFramePr>
          <p:nvPr/>
        </p:nvGraphicFramePr>
        <p:xfrm>
          <a:off x="182880" y="777240"/>
          <a:ext cx="11795760" cy="5029200"/>
        </p:xfrm>
        <a:graphic>
          <a:graphicData uri="http://schemas.openxmlformats.org/drawingml/2006/table">
            <a:tbl>
              <a:tblPr firstRow="1" bandRow="1">
                <a:tableStyleId>{5C22544A-7EE6-4342-B048-85BDC9FD1C3A}</a:tableStyleId>
              </a:tblPr>
              <a:tblGrid>
                <a:gridCol w="2948940"/>
                <a:gridCol w="2948940"/>
                <a:gridCol w="2948940"/>
                <a:gridCol w="2948940"/>
              </a:tblGrid>
              <a:tr h="838200">
                <a:tc>
                  <a:txBody>
                    <a:bodyPr/>
                    <a:lstStyle/>
                    <a:p>
                      <a:r>
                        <a:rPr b="1" sz="900">
                          <a:solidFill>
                            <a:srgbClr val="FFFFFF"/>
                          </a:solidFill>
                        </a:rPr>
                        <a:t>法令名</a:t>
                      </a:r>
                    </a:p>
                  </a:txBody>
                  <a:tcPr>
                    <a:solidFill>
                      <a:srgbClr val="1A56DB"/>
                    </a:solidFill>
                  </a:tcPr>
                </a:tc>
                <a:tc>
                  <a:txBody>
                    <a:bodyPr/>
                    <a:lstStyle/>
                    <a:p>
                      <a:r>
                        <a:rPr b="1" sz="900">
                          <a:solidFill>
                            <a:srgbClr val="FFFFFF"/>
                          </a:solidFill>
                        </a:rPr>
                        <a:t>該当条文</a:t>
                      </a:r>
                    </a:p>
                  </a:txBody>
                  <a:tcPr>
                    <a:solidFill>
                      <a:srgbClr val="1A56DB"/>
                    </a:solidFill>
                  </a:tcPr>
                </a:tc>
                <a:tc>
                  <a:txBody>
                    <a:bodyPr/>
                    <a:lstStyle/>
                    <a:p>
                      <a:r>
                        <a:rPr b="1" sz="900">
                          <a:solidFill>
                            <a:srgbClr val="FFFFFF"/>
                          </a:solidFill>
                        </a:rPr>
                        <a:t>主な論点</a:t>
                      </a:r>
                    </a:p>
                  </a:txBody>
                  <a:tcPr>
                    <a:solidFill>
                      <a:srgbClr val="1A56DB"/>
                    </a:solidFill>
                  </a:tcPr>
                </a:tc>
                <a:tc>
                  <a:txBody>
                    <a:bodyPr/>
                    <a:lstStyle/>
                    <a:p>
                      <a:r>
                        <a:rPr b="1" sz="900">
                          <a:solidFill>
                            <a:srgbClr val="FFFFFF"/>
                          </a:solidFill>
                        </a:rPr>
                        <a:t>対応策（具体例付き）</a:t>
                      </a:r>
                    </a:p>
                  </a:txBody>
                  <a:tcPr>
                    <a:solidFill>
                      <a:srgbClr val="1A56DB"/>
                    </a:solidFill>
                  </a:tcPr>
                </a:tc>
              </a:tr>
              <a:tr h="838200">
                <a:tc>
                  <a:txBody>
                    <a:bodyPr/>
                    <a:lstStyle/>
                    <a:p>
                      <a:r>
                        <a:rPr sz="800">
                          <a:solidFill>
                            <a:srgbClr val="222222"/>
                          </a:solidFill>
                        </a:rPr>
                        <a:t>農薬取締法</a:t>
                      </a:r>
                    </a:p>
                  </a:txBody>
                  <a:tcPr>
                    <a:solidFill>
                      <a:srgbClr val="F0F0F0"/>
                    </a:solidFill>
                  </a:tcPr>
                </a:tc>
                <a:tc>
                  <a:txBody>
                    <a:bodyPr/>
                    <a:lstStyle/>
                    <a:p>
                      <a:r>
                        <a:rPr sz="800">
                          <a:solidFill>
                            <a:srgbClr val="222222"/>
                          </a:solidFill>
                        </a:rPr>
                        <a:t>第2条、第8条</a:t>
                      </a:r>
                    </a:p>
                  </a:txBody>
                  <a:tcPr>
                    <a:solidFill>
                      <a:srgbClr val="F0F0F0"/>
                    </a:solidFill>
                  </a:tcPr>
                </a:tc>
                <a:tc>
                  <a:txBody>
                    <a:bodyPr/>
                    <a:lstStyle/>
                    <a:p>
                      <a:r>
                        <a:rPr sz="800">
                          <a:solidFill>
                            <a:srgbClr val="222222"/>
                          </a:solidFill>
                        </a:rPr>
                        <a:t>農薬として分類される除草剤・殺虫剤の販売には登録が必要</a:t>
                      </a:r>
                    </a:p>
                  </a:txBody>
                  <a:tcPr>
                    <a:solidFill>
                      <a:srgbClr val="F0F0F0"/>
                    </a:solidFill>
                  </a:tcPr>
                </a:tc>
                <a:tc>
                  <a:txBody>
                    <a:bodyPr/>
                    <a:lstStyle/>
                    <a:p>
                      <a:r>
                        <a:rPr sz="800">
                          <a:solidFill>
                            <a:srgbClr val="222222"/>
                          </a:solidFill>
                        </a:rPr>
                        <a:t>【must】農薬登録番号を確認し、ECページに明記</a:t>
                      </a:r>
                    </a:p>
                    <a:p>
                      <a:r>
                        <a:rPr sz="800">
                          <a:solidFill>
                            <a:srgbClr val="222222"/>
                          </a:solidFill>
                        </a:rPr>
                        <a:t>【should】農薬非登録品は「農薬ではない」旨を明示</a:t>
                      </a:r>
                    </a:p>
                  </a:txBody>
                  <a:tcPr>
                    <a:solidFill>
                      <a:srgbClr val="F0F0F0"/>
                    </a:solidFill>
                  </a:tcPr>
                </a:tc>
              </a:tr>
              <a:tr h="838200">
                <a:tc>
                  <a:txBody>
                    <a:bodyPr/>
                    <a:lstStyle/>
                    <a:p>
                      <a:r>
                        <a:rPr sz="800">
                          <a:solidFill>
                            <a:srgbClr val="222222"/>
                          </a:solidFill>
                        </a:rPr>
                        <a:t>肥料取締法</a:t>
                      </a:r>
                    </a:p>
                  </a:txBody>
                  <a:tcPr>
                    <a:solidFill>
                      <a:srgbClr val="FFFFFF"/>
                    </a:solidFill>
                  </a:tcPr>
                </a:tc>
                <a:tc>
                  <a:txBody>
                    <a:bodyPr/>
                    <a:lstStyle/>
                    <a:p>
                      <a:r>
                        <a:rPr sz="800">
                          <a:solidFill>
                            <a:srgbClr val="222222"/>
                          </a:solidFill>
                        </a:rPr>
                        <a:t>第4条、第22条</a:t>
                      </a:r>
                    </a:p>
                  </a:txBody>
                  <a:tcPr>
                    <a:solidFill>
                      <a:srgbClr val="FFFFFF"/>
                    </a:solidFill>
                  </a:tcPr>
                </a:tc>
                <a:tc>
                  <a:txBody>
                    <a:bodyPr/>
                    <a:lstStyle/>
                    <a:p>
                      <a:r>
                        <a:rPr sz="800">
                          <a:solidFill>
                            <a:srgbClr val="222222"/>
                          </a:solidFill>
                        </a:rPr>
                        <a:t>特殊肥料・普通肥料の区分に応じた届出・登録が必要</a:t>
                      </a:r>
                    </a:p>
                  </a:txBody>
                  <a:tcPr>
                    <a:solidFill>
                      <a:srgbClr val="FFFFFF"/>
                    </a:solidFill>
                  </a:tcPr>
                </a:tc>
                <a:tc>
                  <a:txBody>
                    <a:bodyPr/>
                    <a:lstStyle/>
                    <a:p>
                      <a:r>
                        <a:rPr sz="800">
                          <a:solidFill>
                            <a:srgbClr val="222222"/>
                          </a:solidFill>
                        </a:rPr>
                        <a:t>【must】肥料区分を確認し、必要な場合は都道府県知事へ届出</a:t>
                      </a:r>
                    </a:p>
                    <a:p>
                      <a:r>
                        <a:rPr sz="800">
                          <a:solidFill>
                            <a:srgbClr val="222222"/>
                          </a:solidFill>
                        </a:rPr>
                        <a:t>【should】成分保証票をラベルに貼付</a:t>
                      </a:r>
                    </a:p>
                  </a:txBody>
                  <a:tcPr>
                    <a:solidFill>
                      <a:srgbClr val="FFFFFF"/>
                    </a:solidFill>
                  </a:tcPr>
                </a:tc>
              </a:tr>
              <a:tr h="838200">
                <a:tc>
                  <a:txBody>
                    <a:bodyPr/>
                    <a:lstStyle/>
                    <a:p>
                      <a:r>
                        <a:rPr sz="800">
                          <a:solidFill>
                            <a:srgbClr val="222222"/>
                          </a:solidFill>
                        </a:rPr>
                        <a:t>景品表示法</a:t>
                      </a:r>
                    </a:p>
                  </a:txBody>
                  <a:tcPr>
                    <a:solidFill>
                      <a:srgbClr val="F0F0F0"/>
                    </a:solidFill>
                  </a:tcPr>
                </a:tc>
                <a:tc>
                  <a:txBody>
                    <a:bodyPr/>
                    <a:lstStyle/>
                    <a:p>
                      <a:r>
                        <a:rPr sz="800">
                          <a:solidFill>
                            <a:srgbClr val="222222"/>
                          </a:solidFill>
                        </a:rPr>
                        <a:t>第5条（優良誤認）</a:t>
                      </a:r>
                    </a:p>
                  </a:txBody>
                  <a:tcPr>
                    <a:solidFill>
                      <a:srgbClr val="F0F0F0"/>
                    </a:solidFill>
                  </a:tcPr>
                </a:tc>
                <a:tc>
                  <a:txBody>
                    <a:bodyPr/>
                    <a:lstStyle/>
                    <a:p>
                      <a:r>
                        <a:rPr sz="800">
                          <a:solidFill>
                            <a:srgbClr val="222222"/>
                          </a:solidFill>
                        </a:rPr>
                        <a:t>「最高品質」「農薬不使用」等の根拠のない優位性訴求は禁止</a:t>
                      </a:r>
                    </a:p>
                  </a:txBody>
                  <a:tcPr>
                    <a:solidFill>
                      <a:srgbClr val="F0F0F0"/>
                    </a:solidFill>
                  </a:tcPr>
                </a:tc>
                <a:tc>
                  <a:txBody>
                    <a:bodyPr/>
                    <a:lstStyle/>
                    <a:p>
                      <a:r>
                        <a:rPr sz="800">
                          <a:solidFill>
                            <a:srgbClr val="222222"/>
                          </a:solidFill>
                        </a:rPr>
                        <a:t>【must】すべての商品説明に根拠データ（試験結果・認証番号等）を添付</a:t>
                      </a:r>
                    </a:p>
                    <a:p>
                      <a:r>
                        <a:rPr sz="800">
                          <a:solidFill>
                            <a:srgbClr val="222222"/>
                          </a:solidFill>
                        </a:rPr>
                        <a:t>【should】外部機関によるレビュー実施</a:t>
                      </a:r>
                    </a:p>
                  </a:txBody>
                  <a:tcPr>
                    <a:solidFill>
                      <a:srgbClr val="F0F0F0"/>
                    </a:solidFill>
                  </a:tcPr>
                </a:tc>
              </a:tr>
              <a:tr h="838200">
                <a:tc>
                  <a:txBody>
                    <a:bodyPr/>
                    <a:lstStyle/>
                    <a:p>
                      <a:r>
                        <a:rPr sz="800">
                          <a:solidFill>
                            <a:srgbClr val="222222"/>
                          </a:solidFill>
                        </a:rPr>
                        <a:t>特定商取引法</a:t>
                      </a:r>
                    </a:p>
                  </a:txBody>
                  <a:tcPr>
                    <a:solidFill>
                      <a:srgbClr val="FFFFFF"/>
                    </a:solidFill>
                  </a:tcPr>
                </a:tc>
                <a:tc>
                  <a:txBody>
                    <a:bodyPr/>
                    <a:lstStyle/>
                    <a:p>
                      <a:r>
                        <a:rPr sz="800">
                          <a:solidFill>
                            <a:srgbClr val="222222"/>
                          </a:solidFill>
                        </a:rPr>
                        <a:t>第11条（表示義務）</a:t>
                      </a:r>
                    </a:p>
                  </a:txBody>
                  <a:tcPr>
                    <a:solidFill>
                      <a:srgbClr val="FFFFFF"/>
                    </a:solidFill>
                  </a:tcPr>
                </a:tc>
                <a:tc>
                  <a:txBody>
                    <a:bodyPr/>
                    <a:lstStyle/>
                    <a:p>
                      <a:r>
                        <a:rPr sz="800">
                          <a:solidFill>
                            <a:srgbClr val="222222"/>
                          </a:solidFill>
                        </a:rPr>
                        <a:t>EC販売における返品・送料・事業者情報の表示義務</a:t>
                      </a:r>
                    </a:p>
                  </a:txBody>
                  <a:tcPr>
                    <a:solidFill>
                      <a:srgbClr val="FFFFFF"/>
                    </a:solidFill>
                  </a:tcPr>
                </a:tc>
                <a:tc>
                  <a:txBody>
                    <a:bodyPr/>
                    <a:lstStyle/>
                    <a:p>
                      <a:r>
                        <a:rPr sz="800">
                          <a:solidFill>
                            <a:srgbClr val="222222"/>
                          </a:solidFill>
                        </a:rPr>
                        <a:t>【must】ECページに返品期限・条件・送料負担を明記</a:t>
                      </a:r>
                    </a:p>
                    <a:p>
                      <a:r>
                        <a:rPr sz="800">
                          <a:solidFill>
                            <a:srgbClr val="222222"/>
                          </a:solidFill>
                        </a:rPr>
                        <a:t>【must】会社名・住所・電話番号をフッターに掲載</a:t>
                      </a:r>
                    </a:p>
                  </a:txBody>
                  <a:tcPr>
                    <a:solidFill>
                      <a:srgbClr val="FFFFFF"/>
                    </a:solidFill>
                  </a:tcPr>
                </a:tc>
              </a:tr>
              <a:tr h="838200">
                <a:tc>
                  <a:txBody>
                    <a:bodyPr/>
                    <a:lstStyle/>
                    <a:p>
                      <a:r>
                        <a:rPr sz="800">
                          <a:solidFill>
                            <a:srgbClr val="222222"/>
                          </a:solidFill>
                        </a:rPr>
                        <a:t>プラスチック資源循環促進法</a:t>
                      </a:r>
                    </a:p>
                  </a:txBody>
                  <a:tcPr>
                    <a:solidFill>
                      <a:srgbClr val="F0F0F0"/>
                    </a:solidFill>
                  </a:tcPr>
                </a:tc>
                <a:tc>
                  <a:txBody>
                    <a:bodyPr/>
                    <a:lstStyle/>
                    <a:p>
                      <a:r>
                        <a:rPr sz="800">
                          <a:solidFill>
                            <a:srgbClr val="222222"/>
                          </a:solidFill>
                        </a:rPr>
                        <a:t>第11条</a:t>
                      </a:r>
                    </a:p>
                  </a:txBody>
                  <a:tcPr>
                    <a:solidFill>
                      <a:srgbClr val="F0F0F0"/>
                    </a:solidFill>
                  </a:tcPr>
                </a:tc>
                <a:tc>
                  <a:txBody>
                    <a:bodyPr/>
                    <a:lstStyle/>
                    <a:p>
                      <a:r>
                        <a:rPr sz="800">
                          <a:solidFill>
                            <a:srgbClr val="222222"/>
                          </a:solidFill>
                        </a:rPr>
                        <a:t>特定プラスチック使用製品（ハンガー等）の提供削減努力義務</a:t>
                      </a:r>
                    </a:p>
                  </a:txBody>
                  <a:tcPr>
                    <a:solidFill>
                      <a:srgbClr val="F0F0F0"/>
                    </a:solidFill>
                  </a:tcPr>
                </a:tc>
                <a:tc>
                  <a:txBody>
                    <a:bodyPr/>
                    <a:lstStyle/>
                    <a:p>
                      <a:r>
                        <a:rPr sz="800">
                          <a:solidFill>
                            <a:srgbClr val="222222"/>
                          </a:solidFill>
                        </a:rPr>
                        <a:t>【should】過剰包装を排除し、紙製緩衝材を優先使用</a:t>
                      </a:r>
                    </a:p>
                  </a:txBody>
                  <a:tcPr>
                    <a:solidFill>
                      <a:srgbClr val="F0F0F0"/>
                    </a:solidFill>
                  </a:tcPr>
                </a:tc>
              </a:tr>
            </a:tbl>
          </a:graphicData>
        </a:graphic>
      </p:graphicFrame>
      <p:sp>
        <p:nvSpPr>
          <p:cNvPr id="6" name="TextBox 5"/>
          <p:cNvSpPr txBox="1"/>
          <p:nvPr/>
        </p:nvSpPr>
        <p:spPr>
          <a:xfrm>
            <a:off x="182880" y="5943600"/>
            <a:ext cx="11795760" cy="365760"/>
          </a:xfrm>
          <a:prstGeom prst="rect">
            <a:avLst/>
          </a:prstGeom>
          <a:noFill/>
        </p:spPr>
        <p:txBody>
          <a:bodyPr wrap="square">
            <a:spAutoFit/>
          </a:bodyPr>
          <a:lstStyle/>
          <a:p>
            <a:pPr algn="l"/>
            <a:r>
              <a:rPr sz="800" b="0">
                <a:solidFill>
                  <a:srgbClr val="666666"/>
                </a:solidFill>
              </a:rPr>
              <a:t>業態別差異：個人向けEC販売が主対象。法人・農業事業者向け販売を追加する場合は農業資材販売業者としての届出要否を別途確認すること</a:t>
            </a:r>
          </a:p>
        </p:txBody>
      </p:sp>
      <p:sp>
        <p:nvSpPr>
          <p:cNvPr id="7" name="TextBox 6"/>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515600" cy="548640"/>
          </a:xfrm>
          <a:prstGeom prst="rect">
            <a:avLst/>
          </a:prstGeom>
          <a:noFill/>
        </p:spPr>
        <p:txBody>
          <a:bodyPr wrap="none">
            <a:spAutoFit/>
          </a:bodyPr>
          <a:lstStyle/>
          <a:p>
            <a:r>
              <a:rPr sz="2000" b="1">
                <a:solidFill>
                  <a:srgbClr val="FFFFFF"/>
                </a:solidFill>
              </a:rPr>
              <a:t>事業立ち上げライフサイクルと実施フロー</a:t>
            </a:r>
          </a:p>
        </p:txBody>
      </p:sp>
      <p:sp>
        <p:nvSpPr>
          <p:cNvPr id="4" name="TextBox 3"/>
          <p:cNvSpPr txBox="1"/>
          <p:nvPr/>
        </p:nvSpPr>
        <p:spPr>
          <a:xfrm>
            <a:off x="10789920" y="91440"/>
            <a:ext cx="1280160" cy="320040"/>
          </a:xfrm>
          <a:prstGeom prst="rect">
            <a:avLst/>
          </a:prstGeom>
          <a:noFill/>
          <a:solidFill>
            <a:srgbClr val="CC7700"/>
          </a:solidFill>
        </p:spPr>
        <p:txBody>
          <a:bodyPr wrap="square">
            <a:spAutoFit/>
          </a:bodyPr>
          <a:lstStyle/>
          <a:p>
            <a:pPr algn="ctr"/>
            <a:r>
              <a:rPr sz="900" b="1">
                <a:solidFill>
                  <a:srgbClr val="FFFFFF"/>
                </a:solidFill>
              </a:rPr>
              <a:t>[検討中]</a:t>
            </a:r>
          </a:p>
        </p:txBody>
      </p:sp>
      <p:sp>
        <p:nvSpPr>
          <p:cNvPr id="5" name="TextBox 4"/>
          <p:cNvSpPr txBox="1"/>
          <p:nvPr/>
        </p:nvSpPr>
        <p:spPr>
          <a:xfrm>
            <a:off x="274320" y="777240"/>
            <a:ext cx="11430000" cy="365760"/>
          </a:xfrm>
          <a:prstGeom prst="rect">
            <a:avLst/>
          </a:prstGeom>
          <a:noFill/>
        </p:spPr>
        <p:txBody>
          <a:bodyPr wrap="square">
            <a:spAutoFit/>
          </a:bodyPr>
          <a:lstStyle/>
          <a:p>
            <a:pPr algn="l"/>
            <a:r>
              <a:rPr sz="1100" b="1">
                <a:solidFill>
                  <a:srgbClr val="1A56DB"/>
                </a:solidFill>
              </a:rPr>
              <a:t>【企画】→【仕入/OEM構築（製品調達）】→【EC立ち上げ（ネット販売開始）】→【運用・改善】</a:t>
            </a:r>
          </a:p>
        </p:txBody>
      </p:sp>
      <p:graphicFrame>
        <p:nvGraphicFramePr>
          <p:cNvPr id="6" name="Table 5"/>
          <p:cNvGraphicFramePr>
            <a:graphicFrameLocks noGrp="1"/>
          </p:cNvGraphicFramePr>
          <p:nvPr/>
        </p:nvGraphicFramePr>
        <p:xfrm>
          <a:off x="182880" y="1234440"/>
          <a:ext cx="11795760" cy="4572000"/>
        </p:xfrm>
        <a:graphic>
          <a:graphicData uri="http://schemas.openxmlformats.org/drawingml/2006/table">
            <a:tbl>
              <a:tblPr firstRow="1" bandRow="1">
                <a:tableStyleId>{5C22544A-7EE6-4342-B048-85BDC9FD1C3A}</a:tableStyleId>
              </a:tblPr>
              <a:tblGrid>
                <a:gridCol w="2948940"/>
                <a:gridCol w="2948940"/>
                <a:gridCol w="2948940"/>
                <a:gridCol w="2948940"/>
              </a:tblGrid>
              <a:tr h="914400">
                <a:tc>
                  <a:txBody>
                    <a:bodyPr/>
                    <a:lstStyle/>
                    <a:p>
                      <a:r>
                        <a:rPr b="1" sz="900">
                          <a:solidFill>
                            <a:srgbClr val="FFFFFF"/>
                          </a:solidFill>
                        </a:rPr>
                        <a:t>フェーズ</a:t>
                      </a:r>
                    </a:p>
                  </a:txBody>
                  <a:tcPr>
                    <a:solidFill>
                      <a:srgbClr val="1A56DB"/>
                    </a:solidFill>
                  </a:tcPr>
                </a:tc>
                <a:tc>
                  <a:txBody>
                    <a:bodyPr/>
                    <a:lstStyle/>
                    <a:p>
                      <a:r>
                        <a:rPr b="1" sz="900">
                          <a:solidFill>
                            <a:srgbClr val="FFFFFF"/>
                          </a:solidFill>
                        </a:rPr>
                        <a:t>概要</a:t>
                      </a:r>
                    </a:p>
                  </a:txBody>
                  <a:tcPr>
                    <a:solidFill>
                      <a:srgbClr val="1A56DB"/>
                    </a:solidFill>
                  </a:tcPr>
                </a:tc>
                <a:tc>
                  <a:txBody>
                    <a:bodyPr/>
                    <a:lstStyle/>
                    <a:p>
                      <a:r>
                        <a:rPr b="1" sz="900">
                          <a:solidFill>
                            <a:srgbClr val="FFFFFF"/>
                          </a:solidFill>
                        </a:rPr>
                        <a:t>考慮事項</a:t>
                      </a:r>
                    </a:p>
                  </a:txBody>
                  <a:tcPr>
                    <a:solidFill>
                      <a:srgbClr val="1A56DB"/>
                    </a:solidFill>
                  </a:tcPr>
                </a:tc>
                <a:tc>
                  <a:txBody>
                    <a:bodyPr/>
                    <a:lstStyle/>
                    <a:p>
                      <a:r>
                        <a:rPr b="1" sz="900">
                          <a:solidFill>
                            <a:srgbClr val="FFFFFF"/>
                          </a:solidFill>
                        </a:rPr>
                        <a:t>チェックリスト（具体的な実施事項）</a:t>
                      </a:r>
                    </a:p>
                  </a:txBody>
                  <a:tcPr>
                    <a:solidFill>
                      <a:srgbClr val="1A56DB"/>
                    </a:solidFill>
                  </a:tcPr>
                </a:tc>
              </a:tr>
              <a:tr h="914400">
                <a:tc>
                  <a:txBody>
                    <a:bodyPr/>
                    <a:lstStyle/>
                    <a:p>
                      <a:r>
                        <a:rPr sz="800">
                          <a:solidFill>
                            <a:srgbClr val="222222"/>
                          </a:solidFill>
                        </a:rPr>
                        <a:t>企画</a:t>
                      </a:r>
                    </a:p>
                    <a:p>
                      <a:r>
                        <a:rPr sz="800">
                          <a:solidFill>
                            <a:srgbClr val="222222"/>
                          </a:solidFill>
                        </a:rPr>
                        <a:t>(〜2026/8)</a:t>
                      </a:r>
                    </a:p>
                  </a:txBody>
                  <a:tcPr>
                    <a:solidFill>
                      <a:srgbClr val="F0F0F0"/>
                    </a:solidFill>
                  </a:tcPr>
                </a:tc>
                <a:tc>
                  <a:txBody>
                    <a:bodyPr/>
                    <a:lstStyle/>
                    <a:p>
                      <a:r>
                        <a:rPr sz="800">
                          <a:solidFill>
                            <a:srgbClr val="222222"/>
                          </a:solidFill>
                        </a:rPr>
                        <a:t>販売商品・ターゲット顧客・価格帯を決定する</a:t>
                      </a:r>
                    </a:p>
                  </a:txBody>
                  <a:tcPr>
                    <a:solidFill>
                      <a:srgbClr val="F0F0F0"/>
                    </a:solidFill>
                  </a:tcPr>
                </a:tc>
                <a:tc>
                  <a:txBody>
                    <a:bodyPr/>
                    <a:lstStyle/>
                    <a:p>
                      <a:r>
                        <a:rPr sz="800">
                          <a:solidFill>
                            <a:srgbClr val="222222"/>
                          </a:solidFill>
                        </a:rPr>
                        <a:t>・市場調査データの鮮度確認</a:t>
                      </a:r>
                    </a:p>
                    <a:p>
                      <a:r>
                        <a:rPr sz="800">
                          <a:solidFill>
                            <a:srgbClr val="222222"/>
                          </a:solidFill>
                        </a:rPr>
                        <a:t>・競合品との差別化ポイント設定</a:t>
                      </a:r>
                    </a:p>
                  </a:txBody>
                  <a:tcPr>
                    <a:solidFill>
                      <a:srgbClr val="F0F0F0"/>
                    </a:solidFill>
                  </a:tcPr>
                </a:tc>
                <a:tc>
                  <a:txBody>
                    <a:bodyPr/>
                    <a:lstStyle/>
                    <a:p>
                      <a:r>
                        <a:rPr sz="800">
                          <a:solidFill>
                            <a:srgbClr val="222222"/>
                          </a:solidFill>
                        </a:rPr>
                        <a:t>□ 初期SKU20点の選定完了</a:t>
                      </a:r>
                    </a:p>
                    <a:p>
                      <a:r>
                        <a:rPr sz="800">
                          <a:solidFill>
                            <a:srgbClr val="222222"/>
                          </a:solidFill>
                        </a:rPr>
                        <a:t>□ 競合価格調査を実施し、自社価格帯を決定</a:t>
                      </a:r>
                    </a:p>
                    <a:p>
                      <a:r>
                        <a:rPr sz="800">
                          <a:solidFill>
                            <a:srgbClr val="222222"/>
                          </a:solidFill>
                        </a:rPr>
                        <a:t>□ ターゲット顧客ペルソナを3パターン作成</a:t>
                      </a:r>
                    </a:p>
                  </a:txBody>
                  <a:tcPr>
                    <a:solidFill>
                      <a:srgbClr val="F0F0F0"/>
                    </a:solidFill>
                  </a:tcPr>
                </a:tc>
              </a:tr>
              <a:tr h="914400">
                <a:tc>
                  <a:txBody>
                    <a:bodyPr/>
                    <a:lstStyle/>
                    <a:p>
                      <a:r>
                        <a:rPr sz="800">
                          <a:solidFill>
                            <a:srgbClr val="222222"/>
                          </a:solidFill>
                        </a:rPr>
                        <a:t>仕入/OEM構築</a:t>
                      </a:r>
                    </a:p>
                    <a:p>
                      <a:r>
                        <a:rPr sz="800">
                          <a:solidFill>
                            <a:srgbClr val="222222"/>
                          </a:solidFill>
                        </a:rPr>
                        <a:t>(2026/7〜9)</a:t>
                      </a:r>
                    </a:p>
                  </a:txBody>
                  <a:tcPr>
                    <a:solidFill>
                      <a:srgbClr val="FFFFFF"/>
                    </a:solidFill>
                  </a:tcPr>
                </a:tc>
                <a:tc>
                  <a:txBody>
                    <a:bodyPr/>
                    <a:lstStyle/>
                    <a:p>
                      <a:r>
                        <a:rPr sz="800">
                          <a:solidFill>
                            <a:srgbClr val="222222"/>
                          </a:solidFill>
                        </a:rPr>
                        <a:t>OEMサプライヤーと契約し、サンプル確認・量産発注を行う</a:t>
                      </a:r>
                    </a:p>
                  </a:txBody>
                  <a:tcPr>
                    <a:solidFill>
                      <a:srgbClr val="FFFFFF"/>
                    </a:solidFill>
                  </a:tcPr>
                </a:tc>
                <a:tc>
                  <a:txBody>
                    <a:bodyPr/>
                    <a:lstStyle/>
                    <a:p>
                      <a:r>
                        <a:rPr sz="800">
                          <a:solidFill>
                            <a:srgbClr val="222222"/>
                          </a:solidFill>
                        </a:rPr>
                        <a:t>・農薬取締法・肥料取締法の適用確認</a:t>
                      </a:r>
                    </a:p>
                    <a:p>
                      <a:r>
                        <a:rPr sz="800">
                          <a:solidFill>
                            <a:srgbClr val="222222"/>
                          </a:solidFill>
                        </a:rPr>
                        <a:t>・最小発注ロットの交渉</a:t>
                      </a:r>
                    </a:p>
                  </a:txBody>
                  <a:tcPr>
                    <a:solidFill>
                      <a:srgbClr val="FFFFFF"/>
                    </a:solidFill>
                  </a:tcPr>
                </a:tc>
                <a:tc>
                  <a:txBody>
                    <a:bodyPr/>
                    <a:lstStyle/>
                    <a:p>
                      <a:r>
                        <a:rPr sz="800">
                          <a:solidFill>
                            <a:srgbClr val="222222"/>
                          </a:solidFill>
                        </a:rPr>
                        <a:t>□ サプライヤー3社以上から相見積もり取得</a:t>
                      </a:r>
                    </a:p>
                    <a:p>
                      <a:r>
                        <a:rPr sz="800">
                          <a:solidFill>
                            <a:srgbClr val="222222"/>
                          </a:solidFill>
                        </a:rPr>
                        <a:t>□ サンプル品の品質検査（第三者機関）完了</a:t>
                      </a:r>
                    </a:p>
                    <a:p>
                      <a:r>
                        <a:rPr sz="800">
                          <a:solidFill>
                            <a:srgbClr val="222222"/>
                          </a:solidFill>
                        </a:rPr>
                        <a:t>□ 法規表示（農薬登録番号・成分表示）の確認</a:t>
                      </a:r>
                    </a:p>
                  </a:txBody>
                  <a:tcPr>
                    <a:solidFill>
                      <a:srgbClr val="FFFFFF"/>
                    </a:solidFill>
                  </a:tcPr>
                </a:tc>
              </a:tr>
              <a:tr h="914400">
                <a:tc>
                  <a:txBody>
                    <a:bodyPr/>
                    <a:lstStyle/>
                    <a:p>
                      <a:r>
                        <a:rPr sz="800">
                          <a:solidFill>
                            <a:srgbClr val="222222"/>
                          </a:solidFill>
                        </a:rPr>
                        <a:t>EC立ち上げ</a:t>
                      </a:r>
                    </a:p>
                    <a:p>
                      <a:r>
                        <a:rPr sz="800">
                          <a:solidFill>
                            <a:srgbClr val="222222"/>
                          </a:solidFill>
                        </a:rPr>
                        <a:t>(2026/9〜10)</a:t>
                      </a:r>
                    </a:p>
                  </a:txBody>
                  <a:tcPr>
                    <a:solidFill>
                      <a:srgbClr val="F0F0F0"/>
                    </a:solidFill>
                  </a:tcPr>
                </a:tc>
                <a:tc>
                  <a:txBody>
                    <a:bodyPr/>
                    <a:lstStyle/>
                    <a:p>
                      <a:r>
                        <a:rPr sz="800">
                          <a:solidFill>
                            <a:srgbClr val="222222"/>
                          </a:solidFill>
                        </a:rPr>
                        <a:t>自社EC・楽天・AmazonへのEC出店と商品ページを公開する</a:t>
                      </a:r>
                    </a:p>
                  </a:txBody>
                  <a:tcPr>
                    <a:solidFill>
                      <a:srgbClr val="F0F0F0"/>
                    </a:solidFill>
                  </a:tcPr>
                </a:tc>
                <a:tc>
                  <a:txBody>
                    <a:bodyPr/>
                    <a:lstStyle/>
                    <a:p>
                      <a:r>
                        <a:rPr sz="800">
                          <a:solidFill>
                            <a:srgbClr val="222222"/>
                          </a:solidFill>
                        </a:rPr>
                        <a:t>・特定商取引法の表示義務</a:t>
                      </a:r>
                    </a:p>
                    <a:p>
                      <a:r>
                        <a:rPr sz="800">
                          <a:solidFill>
                            <a:srgbClr val="222222"/>
                          </a:solidFill>
                        </a:rPr>
                        <a:t>・景表法に抵触しない商品説明文</a:t>
                      </a:r>
                    </a:p>
                  </a:txBody>
                  <a:tcPr>
                    <a:solidFill>
                      <a:srgbClr val="F0F0F0"/>
                    </a:solidFill>
                  </a:tcPr>
                </a:tc>
                <a:tc>
                  <a:txBody>
                    <a:bodyPr/>
                    <a:lstStyle/>
                    <a:p>
                      <a:r>
                        <a:rPr sz="800">
                          <a:solidFill>
                            <a:srgbClr val="222222"/>
                          </a:solidFill>
                        </a:rPr>
                        <a:t>□ ECページ全SKUの表示内容を法務確認済み</a:t>
                      </a:r>
                    </a:p>
                    <a:p>
                      <a:r>
                        <a:rPr sz="800">
                          <a:solidFill>
                            <a:srgbClr val="222222"/>
                          </a:solidFill>
                        </a:rPr>
                        <a:t>□ 返品・交換ポリシーページを作成・掲載</a:t>
                      </a:r>
                    </a:p>
                    <a:p>
                      <a:r>
                        <a:rPr sz="800">
                          <a:solidFill>
                            <a:srgbClr val="222222"/>
                          </a:solidFill>
                        </a:rPr>
                        <a:t>□ 決済・物流フローの動作確認テスト実施</a:t>
                      </a:r>
                    </a:p>
                  </a:txBody>
                  <a:tcPr>
                    <a:solidFill>
                      <a:srgbClr val="F0F0F0"/>
                    </a:solidFill>
                  </a:tcPr>
                </a:tc>
              </a:tr>
              <a:tr h="914400">
                <a:tc>
                  <a:txBody>
                    <a:bodyPr/>
                    <a:lstStyle/>
                    <a:p>
                      <a:r>
                        <a:rPr sz="800">
                          <a:solidFill>
                            <a:srgbClr val="222222"/>
                          </a:solidFill>
                        </a:rPr>
                        <a:t>運用・改善</a:t>
                      </a:r>
                    </a:p>
                    <a:p>
                      <a:r>
                        <a:rPr sz="800">
                          <a:solidFill>
                            <a:srgbClr val="222222"/>
                          </a:solidFill>
                        </a:rPr>
                        <a:t>(2026/11〜)</a:t>
                      </a:r>
                    </a:p>
                  </a:txBody>
                  <a:tcPr>
                    <a:solidFill>
                      <a:srgbClr val="FFFFFF"/>
                    </a:solidFill>
                  </a:tcPr>
                </a:tc>
                <a:tc>
                  <a:txBody>
                    <a:bodyPr/>
                    <a:lstStyle/>
                    <a:p>
                      <a:r>
                        <a:rPr sz="800">
                          <a:solidFill>
                            <a:srgbClr val="222222"/>
                          </a:solidFill>
                        </a:rPr>
                        <a:t>販売実績をモニタリングし、SKU廃番・追加・価格改定を行う</a:t>
                      </a:r>
                    </a:p>
                  </a:txBody>
                  <a:tcPr>
                    <a:solidFill>
                      <a:srgbClr val="FFFFFF"/>
                    </a:solidFill>
                  </a:tcPr>
                </a:tc>
                <a:tc>
                  <a:txBody>
                    <a:bodyPr/>
                    <a:lstStyle/>
                    <a:p>
                      <a:r>
                        <a:rPr sz="800">
                          <a:solidFill>
                            <a:srgbClr val="222222"/>
                          </a:solidFill>
                        </a:rPr>
                        <a:t>・在庫回転率の週次モニタリング</a:t>
                      </a:r>
                    </a:p>
                    <a:p>
                      <a:r>
                        <a:rPr sz="800">
                          <a:solidFill>
                            <a:srgbClr val="222222"/>
                          </a:solidFill>
                        </a:rPr>
                        <a:t>・顧客レビューへの対応</a:t>
                      </a:r>
                    </a:p>
                  </a:txBody>
                  <a:tcPr>
                    <a:solidFill>
                      <a:srgbClr val="FFFFFF"/>
                    </a:solidFill>
                  </a:tcPr>
                </a:tc>
                <a:tc>
                  <a:txBody>
                    <a:bodyPr/>
                    <a:lstStyle/>
                    <a:p>
                      <a:r>
                        <a:rPr sz="800">
                          <a:solidFill>
                            <a:srgbClr val="222222"/>
                          </a:solidFill>
                        </a:rPr>
                        <a:t>□ 週次でSKU別在庫回転率をレポート</a:t>
                      </a:r>
                    </a:p>
                    <a:p>
                      <a:r>
                        <a:rPr sz="800">
                          <a:solidFill>
                            <a:srgbClr val="222222"/>
                          </a:solidFill>
                        </a:rPr>
                        <a:t>□ 顧客レビュー1件ごとに24時間以内に返信</a:t>
                      </a:r>
                    </a:p>
                    <a:p>
                      <a:r>
                        <a:rPr sz="800">
                          <a:solidFill>
                            <a:srgbClr val="222222"/>
                          </a:solidFill>
                        </a:rPr>
                        <a:t>□ 四半期ごとにSKU廃番検討会を開催</a:t>
                      </a:r>
                    </a:p>
                  </a:txBody>
                  <a:tcPr>
                    <a:solidFill>
                      <a:srgbClr val="FFFFFF"/>
                    </a:solidFill>
                  </a:tcPr>
                </a:tc>
              </a:tr>
            </a:tbl>
          </a:graphicData>
        </a:graphic>
      </p:graphicFrame>
      <p:sp>
        <p:nvSpPr>
          <p:cNvPr id="7" name="TextBox 6"/>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515600" cy="548640"/>
          </a:xfrm>
          <a:prstGeom prst="rect">
            <a:avLst/>
          </a:prstGeom>
          <a:noFill/>
        </p:spPr>
        <p:txBody>
          <a:bodyPr wrap="none">
            <a:spAutoFit/>
          </a:bodyPr>
          <a:lstStyle/>
          <a:p>
            <a:r>
              <a:rPr sz="2000" b="1">
                <a:solidFill>
                  <a:srgbClr val="FFFFFF"/>
                </a:solidFill>
              </a:rPr>
              <a:t>コスト試算と投資対効果（必須）</a:t>
            </a:r>
          </a:p>
        </p:txBody>
      </p:sp>
      <p:sp>
        <p:nvSpPr>
          <p:cNvPr id="4" name="TextBox 3"/>
          <p:cNvSpPr txBox="1"/>
          <p:nvPr/>
        </p:nvSpPr>
        <p:spPr>
          <a:xfrm>
            <a:off x="10789920" y="91440"/>
            <a:ext cx="1280160" cy="320040"/>
          </a:xfrm>
          <a:prstGeom prst="rect">
            <a:avLst/>
          </a:prstGeom>
          <a:noFill/>
          <a:solidFill>
            <a:srgbClr val="CC7700"/>
          </a:solidFill>
        </p:spPr>
        <p:txBody>
          <a:bodyPr wrap="square">
            <a:spAutoFit/>
          </a:bodyPr>
          <a:lstStyle/>
          <a:p>
            <a:pPr algn="ctr"/>
            <a:r>
              <a:rPr sz="900" b="1">
                <a:solidFill>
                  <a:srgbClr val="FFFFFF"/>
                </a:solidFill>
              </a:rPr>
              <a:t>[検討中]</a:t>
            </a:r>
          </a:p>
        </p:txBody>
      </p:sp>
      <p:graphicFrame>
        <p:nvGraphicFramePr>
          <p:cNvPr id="5" name="Table 4"/>
          <p:cNvGraphicFramePr>
            <a:graphicFrameLocks noGrp="1"/>
          </p:cNvGraphicFramePr>
          <p:nvPr/>
        </p:nvGraphicFramePr>
        <p:xfrm>
          <a:off x="182880" y="777240"/>
          <a:ext cx="5486400" cy="3657600"/>
        </p:xfrm>
        <a:graphic>
          <a:graphicData uri="http://schemas.openxmlformats.org/drawingml/2006/table">
            <a:tbl>
              <a:tblPr firstRow="1" bandRow="1">
                <a:tableStyleId>{5C22544A-7EE6-4342-B048-85BDC9FD1C3A}</a:tableStyleId>
              </a:tblPr>
              <a:tblGrid>
                <a:gridCol w="1828800"/>
                <a:gridCol w="1828800"/>
                <a:gridCol w="1828800"/>
              </a:tblGrid>
              <a:tr h="406400">
                <a:tc>
                  <a:txBody>
                    <a:bodyPr/>
                    <a:lstStyle/>
                    <a:p>
                      <a:r>
                        <a:rPr b="1" sz="900">
                          <a:solidFill>
                            <a:srgbClr val="FFFFFF"/>
                          </a:solidFill>
                        </a:rPr>
                        <a:t>費目</a:t>
                      </a:r>
                    </a:p>
                  </a:txBody>
                  <a:tcPr>
                    <a:solidFill>
                      <a:srgbClr val="1A56DB"/>
                    </a:solidFill>
                  </a:tcPr>
                </a:tc>
                <a:tc>
                  <a:txBody>
                    <a:bodyPr/>
                    <a:lstStyle/>
                    <a:p>
                      <a:r>
                        <a:rPr b="1" sz="900">
                          <a:solidFill>
                            <a:srgbClr val="FFFFFF"/>
                          </a:solidFill>
                        </a:rPr>
                        <a:t>初期コスト</a:t>
                      </a:r>
                    </a:p>
                  </a:txBody>
                  <a:tcPr>
                    <a:solidFill>
                      <a:srgbClr val="1A56DB"/>
                    </a:solidFill>
                  </a:tcPr>
                </a:tc>
                <a:tc>
                  <a:txBody>
                    <a:bodyPr/>
                    <a:lstStyle/>
                    <a:p>
                      <a:r>
                        <a:rPr b="1" sz="900">
                          <a:solidFill>
                            <a:srgbClr val="FFFFFF"/>
                          </a:solidFill>
                        </a:rPr>
                        <a:t>年間運用コスト</a:t>
                      </a:r>
                    </a:p>
                  </a:txBody>
                  <a:tcPr>
                    <a:solidFill>
                      <a:srgbClr val="1A56DB"/>
                    </a:solidFill>
                  </a:tcPr>
                </a:tc>
              </a:tr>
              <a:tr h="406400">
                <a:tc>
                  <a:txBody>
                    <a:bodyPr/>
                    <a:lstStyle/>
                    <a:p>
                      <a:r>
                        <a:rPr sz="800">
                          <a:solidFill>
                            <a:srgbClr val="222222"/>
                          </a:solidFill>
                        </a:rPr>
                        <a:t>OEM仕入・初回在庫</a:t>
                      </a:r>
                    </a:p>
                  </a:txBody>
                  <a:tcPr>
                    <a:solidFill>
                      <a:srgbClr val="F0F0F0"/>
                    </a:solidFill>
                  </a:tcPr>
                </a:tc>
                <a:tc>
                  <a:txBody>
                    <a:bodyPr/>
                    <a:lstStyle/>
                    <a:p>
                      <a:r>
                        <a:rPr sz="800">
                          <a:solidFill>
                            <a:srgbClr val="222222"/>
                          </a:solidFill>
                        </a:rPr>
                        <a:t>¥300万</a:t>
                      </a:r>
                    </a:p>
                  </a:txBody>
                  <a:tcPr>
                    <a:solidFill>
                      <a:srgbClr val="F0F0F0"/>
                    </a:solidFill>
                  </a:tcPr>
                </a:tc>
                <a:tc>
                  <a:txBody>
                    <a:bodyPr/>
                    <a:lstStyle/>
                    <a:p>
                      <a:r>
                        <a:rPr sz="800">
                          <a:solidFill>
                            <a:srgbClr val="222222"/>
                          </a:solidFill>
                        </a:rPr>
                        <a:t>¥600万/年</a:t>
                      </a:r>
                    </a:p>
                  </a:txBody>
                  <a:tcPr>
                    <a:solidFill>
                      <a:srgbClr val="F0F0F0"/>
                    </a:solidFill>
                  </a:tcPr>
                </a:tc>
              </a:tr>
              <a:tr h="406400">
                <a:tc>
                  <a:txBody>
                    <a:bodyPr/>
                    <a:lstStyle/>
                    <a:p>
                      <a:r>
                        <a:rPr sz="800">
                          <a:solidFill>
                            <a:srgbClr val="222222"/>
                          </a:solidFill>
                        </a:rPr>
                        <a:t>EC構築・ページ制作</a:t>
                      </a:r>
                    </a:p>
                  </a:txBody>
                  <a:tcPr>
                    <a:solidFill>
                      <a:srgbClr val="FFFFFF"/>
                    </a:solidFill>
                  </a:tcPr>
                </a:tc>
                <a:tc>
                  <a:txBody>
                    <a:bodyPr/>
                    <a:lstStyle/>
                    <a:p>
                      <a:r>
                        <a:rPr sz="800">
                          <a:solidFill>
                            <a:srgbClr val="222222"/>
                          </a:solidFill>
                        </a:rPr>
                        <a:t>¥150万</a:t>
                      </a:r>
                    </a:p>
                  </a:txBody>
                  <a:tcPr>
                    <a:solidFill>
                      <a:srgbClr val="FFFFFF"/>
                    </a:solidFill>
                  </a:tcPr>
                </a:tc>
                <a:tc>
                  <a:txBody>
                    <a:bodyPr/>
                    <a:lstStyle/>
                    <a:p>
                      <a:r>
                        <a:rPr sz="800">
                          <a:solidFill>
                            <a:srgbClr val="222222"/>
                          </a:solidFill>
                        </a:rPr>
                        <a:t>¥60万/年（保守）</a:t>
                      </a:r>
                    </a:p>
                  </a:txBody>
                  <a:tcPr>
                    <a:solidFill>
                      <a:srgbClr val="FFFFFF"/>
                    </a:solidFill>
                  </a:tcPr>
                </a:tc>
              </a:tr>
              <a:tr h="406400">
                <a:tc>
                  <a:txBody>
                    <a:bodyPr/>
                    <a:lstStyle/>
                    <a:p>
                      <a:r>
                        <a:rPr sz="800">
                          <a:solidFill>
                            <a:srgbClr val="222222"/>
                          </a:solidFill>
                        </a:rPr>
                        <a:t>品質検査・法務確認</a:t>
                      </a:r>
                    </a:p>
                  </a:txBody>
                  <a:tcPr>
                    <a:solidFill>
                      <a:srgbClr val="F0F0F0"/>
                    </a:solidFill>
                  </a:tcPr>
                </a:tc>
                <a:tc>
                  <a:txBody>
                    <a:bodyPr/>
                    <a:lstStyle/>
                    <a:p>
                      <a:r>
                        <a:rPr sz="800">
                          <a:solidFill>
                            <a:srgbClr val="222222"/>
                          </a:solidFill>
                        </a:rPr>
                        <a:t>¥80万</a:t>
                      </a:r>
                    </a:p>
                  </a:txBody>
                  <a:tcPr>
                    <a:solidFill>
                      <a:srgbClr val="F0F0F0"/>
                    </a:solidFill>
                  </a:tcPr>
                </a:tc>
                <a:tc>
                  <a:txBody>
                    <a:bodyPr/>
                    <a:lstStyle/>
                    <a:p>
                      <a:r>
                        <a:rPr sz="800">
                          <a:solidFill>
                            <a:srgbClr val="222222"/>
                          </a:solidFill>
                        </a:rPr>
                        <a:t>¥40万/年</a:t>
                      </a:r>
                    </a:p>
                  </a:txBody>
                  <a:tcPr>
                    <a:solidFill>
                      <a:srgbClr val="F0F0F0"/>
                    </a:solidFill>
                  </a:tcPr>
                </a:tc>
              </a:tr>
              <a:tr h="406400">
                <a:tc>
                  <a:txBody>
                    <a:bodyPr/>
                    <a:lstStyle/>
                    <a:p>
                      <a:r>
                        <a:rPr sz="800">
                          <a:solidFill>
                            <a:srgbClr val="222222"/>
                          </a:solidFill>
                        </a:rPr>
                        <a:t>広告・プロモーション</a:t>
                      </a:r>
                    </a:p>
                  </a:txBody>
                  <a:tcPr>
                    <a:solidFill>
                      <a:srgbClr val="FFFFFF"/>
                    </a:solidFill>
                  </a:tcPr>
                </a:tc>
                <a:tc>
                  <a:txBody>
                    <a:bodyPr/>
                    <a:lstStyle/>
                    <a:p>
                      <a:r>
                        <a:rPr sz="800">
                          <a:solidFill>
                            <a:srgbClr val="222222"/>
                          </a:solidFill>
                        </a:rPr>
                        <a:t>¥150万</a:t>
                      </a:r>
                    </a:p>
                  </a:txBody>
                  <a:tcPr>
                    <a:solidFill>
                      <a:srgbClr val="FFFFFF"/>
                    </a:solidFill>
                  </a:tcPr>
                </a:tc>
                <a:tc>
                  <a:txBody>
                    <a:bodyPr/>
                    <a:lstStyle/>
                    <a:p>
                      <a:r>
                        <a:rPr sz="800">
                          <a:solidFill>
                            <a:srgbClr val="222222"/>
                          </a:solidFill>
                        </a:rPr>
                        <a:t>¥200万/年</a:t>
                      </a:r>
                    </a:p>
                  </a:txBody>
                  <a:tcPr>
                    <a:solidFill>
                      <a:srgbClr val="FFFFFF"/>
                    </a:solidFill>
                  </a:tcPr>
                </a:tc>
              </a:tr>
              <a:tr h="406400">
                <a:tc>
                  <a:txBody>
                    <a:bodyPr/>
                    <a:lstStyle/>
                    <a:p>
                      <a:r>
                        <a:rPr sz="800">
                          <a:solidFill>
                            <a:srgbClr val="222222"/>
                          </a:solidFill>
                        </a:rPr>
                        <a:t>物流・倉庫費</a:t>
                      </a:r>
                    </a:p>
                  </a:txBody>
                  <a:tcPr>
                    <a:solidFill>
                      <a:srgbClr val="F0F0F0"/>
                    </a:solidFill>
                  </a:tcPr>
                </a:tc>
                <a:tc>
                  <a:txBody>
                    <a:bodyPr/>
                    <a:lstStyle/>
                    <a:p>
                      <a:r>
                        <a:rPr sz="800">
                          <a:solidFill>
                            <a:srgbClr val="222222"/>
                          </a:solidFill>
                        </a:rPr>
                        <a:t>¥50万</a:t>
                      </a:r>
                    </a:p>
                  </a:txBody>
                  <a:tcPr>
                    <a:solidFill>
                      <a:srgbClr val="F0F0F0"/>
                    </a:solidFill>
                  </a:tcPr>
                </a:tc>
                <a:tc>
                  <a:txBody>
                    <a:bodyPr/>
                    <a:lstStyle/>
                    <a:p>
                      <a:r>
                        <a:rPr sz="800">
                          <a:solidFill>
                            <a:srgbClr val="222222"/>
                          </a:solidFill>
                        </a:rPr>
                        <a:t>¥120万/年</a:t>
                      </a:r>
                    </a:p>
                  </a:txBody>
                  <a:tcPr>
                    <a:solidFill>
                      <a:srgbClr val="F0F0F0"/>
                    </a:solidFill>
                  </a:tcPr>
                </a:tc>
              </a:tr>
              <a:tr h="406400">
                <a:tc>
                  <a:txBody>
                    <a:bodyPr/>
                    <a:lstStyle/>
                    <a:p>
                      <a:r>
                        <a:rPr sz="800">
                          <a:solidFill>
                            <a:srgbClr val="222222"/>
                          </a:solidFill>
                        </a:rPr>
                        <a:t>人件費（専任1名）</a:t>
                      </a:r>
                    </a:p>
                  </a:txBody>
                  <a:tcPr>
                    <a:solidFill>
                      <a:srgbClr val="FFFFFF"/>
                    </a:solidFill>
                  </a:tcPr>
                </a:tc>
                <a:tc>
                  <a:txBody>
                    <a:bodyPr/>
                    <a:lstStyle/>
                    <a:p>
                      <a:r>
                        <a:rPr sz="800">
                          <a:solidFill>
                            <a:srgbClr val="222222"/>
                          </a:solidFill>
                        </a:rPr>
                        <a:t>—</a:t>
                      </a:r>
                    </a:p>
                  </a:txBody>
                  <a:tcPr>
                    <a:solidFill>
                      <a:srgbClr val="FFFFFF"/>
                    </a:solidFill>
                  </a:tcPr>
                </a:tc>
                <a:tc>
                  <a:txBody>
                    <a:bodyPr/>
                    <a:lstStyle/>
                    <a:p>
                      <a:r>
                        <a:rPr sz="800">
                          <a:solidFill>
                            <a:srgbClr val="222222"/>
                          </a:solidFill>
                        </a:rPr>
                        <a:t>¥600万/年</a:t>
                      </a:r>
                    </a:p>
                  </a:txBody>
                  <a:tcPr>
                    <a:solidFill>
                      <a:srgbClr val="FFFFFF"/>
                    </a:solidFill>
                  </a:tcPr>
                </a:tc>
              </a:tr>
              <a:tr h="406400">
                <a:tc>
                  <a:txBody>
                    <a:bodyPr/>
                    <a:lstStyle/>
                    <a:p>
                      <a:r>
                        <a:rPr sz="800">
                          <a:solidFill>
                            <a:srgbClr val="222222"/>
                          </a:solidFill>
                        </a:rPr>
                        <a:t>その他（備品・ツール）</a:t>
                      </a:r>
                    </a:p>
                  </a:txBody>
                  <a:tcPr>
                    <a:solidFill>
                      <a:srgbClr val="F0F0F0"/>
                    </a:solidFill>
                  </a:tcPr>
                </a:tc>
                <a:tc>
                  <a:txBody>
                    <a:bodyPr/>
                    <a:lstStyle/>
                    <a:p>
                      <a:r>
                        <a:rPr sz="800">
                          <a:solidFill>
                            <a:srgbClr val="222222"/>
                          </a:solidFill>
                        </a:rPr>
                        <a:t>¥70万</a:t>
                      </a:r>
                    </a:p>
                  </a:txBody>
                  <a:tcPr>
                    <a:solidFill>
                      <a:srgbClr val="F0F0F0"/>
                    </a:solidFill>
                  </a:tcPr>
                </a:tc>
                <a:tc>
                  <a:txBody>
                    <a:bodyPr/>
                    <a:lstStyle/>
                    <a:p>
                      <a:r>
                        <a:rPr sz="800">
                          <a:solidFill>
                            <a:srgbClr val="222222"/>
                          </a:solidFill>
                        </a:rPr>
                        <a:t>¥30万/年</a:t>
                      </a:r>
                    </a:p>
                  </a:txBody>
                  <a:tcPr>
                    <a:solidFill>
                      <a:srgbClr val="F0F0F0"/>
                    </a:solidFill>
                  </a:tcPr>
                </a:tc>
              </a:tr>
              <a:tr h="406400">
                <a:tc>
                  <a:txBody>
                    <a:bodyPr/>
                    <a:lstStyle/>
                    <a:p>
                      <a:r>
                        <a:rPr sz="800">
                          <a:solidFill>
                            <a:srgbClr val="222222"/>
                          </a:solidFill>
                        </a:rPr>
                        <a:t>【合計】</a:t>
                      </a:r>
                    </a:p>
                  </a:txBody>
                  <a:tcPr>
                    <a:solidFill>
                      <a:srgbClr val="FFFFFF"/>
                    </a:solidFill>
                  </a:tcPr>
                </a:tc>
                <a:tc>
                  <a:txBody>
                    <a:bodyPr/>
                    <a:lstStyle/>
                    <a:p>
                      <a:r>
                        <a:rPr sz="800">
                          <a:solidFill>
                            <a:srgbClr val="222222"/>
                          </a:solidFill>
                        </a:rPr>
                        <a:t>¥800万</a:t>
                      </a:r>
                    </a:p>
                  </a:txBody>
                  <a:tcPr>
                    <a:solidFill>
                      <a:srgbClr val="FFFFFF"/>
                    </a:solidFill>
                  </a:tcPr>
                </a:tc>
                <a:tc>
                  <a:txBody>
                    <a:bodyPr/>
                    <a:lstStyle/>
                    <a:p>
                      <a:r>
                        <a:rPr sz="800">
                          <a:solidFill>
                            <a:srgbClr val="222222"/>
                          </a:solidFill>
                        </a:rPr>
                        <a:t>¥1,650万/年</a:t>
                      </a:r>
                    </a:p>
                  </a:txBody>
                  <a:tcPr>
                    <a:solidFill>
                      <a:srgbClr val="FFFFFF"/>
                    </a:solidFill>
                  </a:tcPr>
                </a:tc>
              </a:tr>
            </a:tbl>
          </a:graphicData>
        </a:graphic>
      </p:graphicFrame>
      <p:sp>
        <p:nvSpPr>
          <p:cNvPr id="6" name="TextBox 5"/>
          <p:cNvSpPr txBox="1"/>
          <p:nvPr/>
        </p:nvSpPr>
        <p:spPr>
          <a:xfrm>
            <a:off x="5943600" y="777240"/>
            <a:ext cx="5760720" cy="320040"/>
          </a:xfrm>
          <a:prstGeom prst="rect">
            <a:avLst/>
          </a:prstGeom>
          <a:noFill/>
        </p:spPr>
        <p:txBody>
          <a:bodyPr wrap="square">
            <a:spAutoFit/>
          </a:bodyPr>
          <a:lstStyle/>
          <a:p>
            <a:pPr algn="l"/>
            <a:r>
              <a:rPr sz="1200" b="1">
                <a:solidFill>
                  <a:srgbClr val="1A56DB"/>
                </a:solidFill>
              </a:rPr>
              <a:t>期待効果（定量）</a:t>
            </a:r>
          </a:p>
        </p:txBody>
      </p:sp>
      <p:sp>
        <p:nvSpPr>
          <p:cNvPr id="7" name="TextBox 6"/>
          <p:cNvSpPr txBox="1"/>
          <p:nvPr/>
        </p:nvSpPr>
        <p:spPr>
          <a:xfrm>
            <a:off x="5943600" y="1188720"/>
            <a:ext cx="5943600" cy="365760"/>
          </a:xfrm>
          <a:prstGeom prst="rect">
            <a:avLst/>
          </a:prstGeom>
          <a:noFill/>
        </p:spPr>
        <p:txBody>
          <a:bodyPr wrap="square">
            <a:spAutoFit/>
          </a:bodyPr>
          <a:lstStyle/>
          <a:p>
            <a:pPr algn="l"/>
            <a:r>
              <a:rPr sz="1000" b="0">
                <a:solidFill>
                  <a:srgbClr val="222222"/>
                </a:solidFill>
              </a:rPr>
              <a:t>・売上目標（1年目）：¥1.2億（SKU20点、月1,000万円ペース）</a:t>
            </a:r>
          </a:p>
        </p:txBody>
      </p:sp>
      <p:sp>
        <p:nvSpPr>
          <p:cNvPr id="8" name="TextBox 7"/>
          <p:cNvSpPr txBox="1"/>
          <p:nvPr/>
        </p:nvSpPr>
        <p:spPr>
          <a:xfrm>
            <a:off x="5943600" y="1645920"/>
            <a:ext cx="5943600" cy="365760"/>
          </a:xfrm>
          <a:prstGeom prst="rect">
            <a:avLst/>
          </a:prstGeom>
          <a:noFill/>
        </p:spPr>
        <p:txBody>
          <a:bodyPr wrap="square">
            <a:spAutoFit/>
          </a:bodyPr>
          <a:lstStyle/>
          <a:p>
            <a:pPr algn="l"/>
            <a:r>
              <a:rPr sz="1000" b="0">
                <a:solidFill>
                  <a:srgbClr val="222222"/>
                </a:solidFill>
              </a:rPr>
              <a:t>・売上目標（3年目）：¥4.0億（SKU60点まで拡充）</a:t>
            </a:r>
          </a:p>
        </p:txBody>
      </p:sp>
      <p:sp>
        <p:nvSpPr>
          <p:cNvPr id="9" name="TextBox 8"/>
          <p:cNvSpPr txBox="1"/>
          <p:nvPr/>
        </p:nvSpPr>
        <p:spPr>
          <a:xfrm>
            <a:off x="5943600" y="2103120"/>
            <a:ext cx="5943600" cy="365760"/>
          </a:xfrm>
          <a:prstGeom prst="rect">
            <a:avLst/>
          </a:prstGeom>
          <a:noFill/>
        </p:spPr>
        <p:txBody>
          <a:bodyPr wrap="square">
            <a:spAutoFit/>
          </a:bodyPr>
          <a:lstStyle/>
          <a:p>
            <a:pPr algn="l"/>
            <a:r>
              <a:rPr sz="1000" b="0">
                <a:solidFill>
                  <a:srgbClr val="222222"/>
                </a:solidFill>
              </a:rPr>
              <a:t>・粗利率：約48%（OEM調達単価の適正化による）</a:t>
            </a:r>
          </a:p>
        </p:txBody>
      </p:sp>
      <p:sp>
        <p:nvSpPr>
          <p:cNvPr id="10" name="TextBox 9"/>
          <p:cNvSpPr txBox="1"/>
          <p:nvPr/>
        </p:nvSpPr>
        <p:spPr>
          <a:xfrm>
            <a:off x="5943600" y="2560320"/>
            <a:ext cx="5943600" cy="365760"/>
          </a:xfrm>
          <a:prstGeom prst="rect">
            <a:avLst/>
          </a:prstGeom>
          <a:noFill/>
        </p:spPr>
        <p:txBody>
          <a:bodyPr wrap="square">
            <a:spAutoFit/>
          </a:bodyPr>
          <a:lstStyle/>
          <a:p>
            <a:pPr algn="l"/>
            <a:r>
              <a:rPr sz="1000" b="0">
                <a:solidFill>
                  <a:srgbClr val="222222"/>
                </a:solidFill>
              </a:rPr>
              <a:t>・営業利益（1年目）：¥576万（粗利¥5,760万 - 運用費¥1,650万 - 減価償却等）</a:t>
            </a:r>
          </a:p>
        </p:txBody>
      </p:sp>
      <p:sp>
        <p:nvSpPr>
          <p:cNvPr id="11" name="TextBox 10"/>
          <p:cNvSpPr txBox="1"/>
          <p:nvPr/>
        </p:nvSpPr>
        <p:spPr>
          <a:xfrm>
            <a:off x="5943600" y="3017520"/>
            <a:ext cx="5943600" cy="365760"/>
          </a:xfrm>
          <a:prstGeom prst="rect">
            <a:avLst/>
          </a:prstGeom>
          <a:noFill/>
        </p:spPr>
        <p:txBody>
          <a:bodyPr wrap="square">
            <a:spAutoFit/>
          </a:bodyPr>
          <a:lstStyle/>
          <a:p>
            <a:pPr algn="l"/>
            <a:r>
              <a:rPr sz="1000" b="0">
                <a:solidFill>
                  <a:srgbClr val="222222"/>
                </a:solidFill>
              </a:rPr>
              <a:t>・ROI（3年累計）：投資回収期間 約18か月、3年累計ROI ≈ 185%</a:t>
            </a:r>
          </a:p>
        </p:txBody>
      </p:sp>
      <p:sp>
        <p:nvSpPr>
          <p:cNvPr id="12" name="TextBox 11"/>
          <p:cNvSpPr txBox="1"/>
          <p:nvPr/>
        </p:nvSpPr>
        <p:spPr>
          <a:xfrm>
            <a:off x="182880" y="4663440"/>
            <a:ext cx="4572000" cy="320040"/>
          </a:xfrm>
          <a:prstGeom prst="rect">
            <a:avLst/>
          </a:prstGeom>
          <a:noFill/>
        </p:spPr>
        <p:txBody>
          <a:bodyPr wrap="square">
            <a:spAutoFit/>
          </a:bodyPr>
          <a:lstStyle/>
          <a:p>
            <a:pPr algn="l"/>
            <a:r>
              <a:rPr sz="1100" b="1">
                <a:solidFill>
                  <a:srgbClr val="222222"/>
                </a:solidFill>
              </a:rPr>
              <a:t>前提条件</a:t>
            </a:r>
          </a:p>
        </p:txBody>
      </p:sp>
      <p:sp>
        <p:nvSpPr>
          <p:cNvPr id="13" name="TextBox 12"/>
          <p:cNvSpPr txBox="1"/>
          <p:nvPr/>
        </p:nvSpPr>
        <p:spPr>
          <a:xfrm>
            <a:off x="365760" y="5029200"/>
            <a:ext cx="5943600" cy="274320"/>
          </a:xfrm>
          <a:prstGeom prst="rect">
            <a:avLst/>
          </a:prstGeom>
          <a:noFill/>
        </p:spPr>
        <p:txBody>
          <a:bodyPr wrap="square">
            <a:spAutoFit/>
          </a:bodyPr>
          <a:lstStyle/>
          <a:p>
            <a:pPr algn="l"/>
            <a:r>
              <a:rPr sz="900" b="0">
                <a:solidFill>
                  <a:srgbClr val="222222"/>
                </a:solidFill>
              </a:rPr>
              <a:t>・EC転換率：平均1.8%（業界平均水準を使用）</a:t>
            </a:r>
          </a:p>
        </p:txBody>
      </p:sp>
      <p:sp>
        <p:nvSpPr>
          <p:cNvPr id="14" name="TextBox 13"/>
          <p:cNvSpPr txBox="1"/>
          <p:nvPr/>
        </p:nvSpPr>
        <p:spPr>
          <a:xfrm>
            <a:off x="365760" y="5330952"/>
            <a:ext cx="5943600" cy="274320"/>
          </a:xfrm>
          <a:prstGeom prst="rect">
            <a:avLst/>
          </a:prstGeom>
          <a:noFill/>
        </p:spPr>
        <p:txBody>
          <a:bodyPr wrap="square">
            <a:spAutoFit/>
          </a:bodyPr>
          <a:lstStyle/>
          <a:p>
            <a:pPr algn="l"/>
            <a:r>
              <a:rPr sz="900" b="0">
                <a:solidFill>
                  <a:srgbClr val="222222"/>
                </a:solidFill>
              </a:rPr>
              <a:t>・月間ユニークユーザー：初年度5万UU/月（広告費¥200万/年）</a:t>
            </a:r>
          </a:p>
        </p:txBody>
      </p:sp>
      <p:sp>
        <p:nvSpPr>
          <p:cNvPr id="15" name="TextBox 14"/>
          <p:cNvSpPr txBox="1"/>
          <p:nvPr/>
        </p:nvSpPr>
        <p:spPr>
          <a:xfrm>
            <a:off x="365760" y="5632704"/>
            <a:ext cx="5943600" cy="274320"/>
          </a:xfrm>
          <a:prstGeom prst="rect">
            <a:avLst/>
          </a:prstGeom>
          <a:noFill/>
        </p:spPr>
        <p:txBody>
          <a:bodyPr wrap="square">
            <a:spAutoFit/>
          </a:bodyPr>
          <a:lstStyle/>
          <a:p>
            <a:pPr algn="l"/>
            <a:r>
              <a:rPr sz="900" b="0">
                <a:solidFill>
                  <a:srgbClr val="222222"/>
                </a:solidFill>
              </a:rPr>
              <a:t>・返品率：8%（業界平均）</a:t>
            </a:r>
          </a:p>
        </p:txBody>
      </p:sp>
      <p:sp>
        <p:nvSpPr>
          <p:cNvPr id="16" name="TextBox 15"/>
          <p:cNvSpPr txBox="1"/>
          <p:nvPr/>
        </p:nvSpPr>
        <p:spPr>
          <a:xfrm>
            <a:off x="365760" y="5934456"/>
            <a:ext cx="5943600" cy="274320"/>
          </a:xfrm>
          <a:prstGeom prst="rect">
            <a:avLst/>
          </a:prstGeom>
          <a:noFill/>
        </p:spPr>
        <p:txBody>
          <a:bodyPr wrap="square">
            <a:spAutoFit/>
          </a:bodyPr>
          <a:lstStyle/>
          <a:p>
            <a:pPr algn="l"/>
            <a:r>
              <a:rPr sz="900" b="0">
                <a:solidFill>
                  <a:srgbClr val="222222"/>
                </a:solidFill>
              </a:rPr>
              <a:t>・1注文当たり単価：¥3,500（平均複数SKU購入）</a:t>
            </a:r>
          </a:p>
        </p:txBody>
      </p:sp>
      <p:sp>
        <p:nvSpPr>
          <p:cNvPr id="17" name="TextBox 16"/>
          <p:cNvSpPr txBox="1"/>
          <p:nvPr/>
        </p:nvSpPr>
        <p:spPr>
          <a:xfrm>
            <a:off x="182880" y="6080760"/>
            <a:ext cx="11795760" cy="320040"/>
          </a:xfrm>
          <a:prstGeom prst="rect">
            <a:avLst/>
          </a:prstGeom>
          <a:noFill/>
        </p:spPr>
        <p:txBody>
          <a:bodyPr wrap="square">
            <a:spAutoFit/>
          </a:bodyPr>
          <a:lstStyle/>
          <a:p>
            <a:pPr algn="l"/>
            <a:r>
              <a:rPr sz="900" b="1">
                <a:solidFill>
                  <a:srgbClr val="CC0000"/>
                </a:solidFill>
              </a:rPr>
              <a:t>撤退基準：導入後2年でROI 50%未満（累計売上1億円未満）の場合は事業縮小・撤退を判断する</a:t>
            </a:r>
          </a:p>
        </p:txBody>
      </p:sp>
      <p:sp>
        <p:nvSpPr>
          <p:cNvPr id="18" name="TextBox 17"/>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515600" cy="548640"/>
          </a:xfrm>
          <a:prstGeom prst="rect">
            <a:avLst/>
          </a:prstGeom>
          <a:noFill/>
        </p:spPr>
        <p:txBody>
          <a:bodyPr wrap="none">
            <a:spAutoFit/>
          </a:bodyPr>
          <a:lstStyle/>
          <a:p>
            <a:r>
              <a:rPr sz="2000" b="1">
                <a:solidFill>
                  <a:srgbClr val="FFFFFF"/>
                </a:solidFill>
              </a:rPr>
              <a:t>活用事例一覧</a:t>
            </a:r>
          </a:p>
        </p:txBody>
      </p:sp>
      <p:sp>
        <p:nvSpPr>
          <p:cNvPr id="4" name="TextBox 3"/>
          <p:cNvSpPr txBox="1"/>
          <p:nvPr/>
        </p:nvSpPr>
        <p:spPr>
          <a:xfrm>
            <a:off x="10789920" y="91440"/>
            <a:ext cx="1280160" cy="320040"/>
          </a:xfrm>
          <a:prstGeom prst="rect">
            <a:avLst/>
          </a:prstGeom>
          <a:noFill/>
          <a:solidFill>
            <a:srgbClr val="108040"/>
          </a:solidFill>
        </p:spPr>
        <p:txBody>
          <a:bodyPr wrap="square">
            <a:spAutoFit/>
          </a:bodyPr>
          <a:lstStyle/>
          <a:p>
            <a:pPr algn="ctr"/>
            <a:r>
              <a:rPr sz="900" b="1">
                <a:solidFill>
                  <a:srgbClr val="FFFFFF"/>
                </a:solidFill>
              </a:rPr>
              <a:t>[参考]</a:t>
            </a:r>
          </a:p>
        </p:txBody>
      </p:sp>
      <p:graphicFrame>
        <p:nvGraphicFramePr>
          <p:cNvPr id="5" name="Table 4"/>
          <p:cNvGraphicFramePr>
            <a:graphicFrameLocks noGrp="1"/>
          </p:cNvGraphicFramePr>
          <p:nvPr/>
        </p:nvGraphicFramePr>
        <p:xfrm>
          <a:off x="182880" y="777240"/>
          <a:ext cx="11795760" cy="4114800"/>
        </p:xfrm>
        <a:graphic>
          <a:graphicData uri="http://schemas.openxmlformats.org/drawingml/2006/table">
            <a:tbl>
              <a:tblPr firstRow="1" bandRow="1">
                <a:tableStyleId>{5C22544A-7EE6-4342-B048-85BDC9FD1C3A}</a:tableStyleId>
              </a:tblPr>
              <a:tblGrid>
                <a:gridCol w="2948940"/>
                <a:gridCol w="2948940"/>
                <a:gridCol w="2948940"/>
                <a:gridCol w="2948940"/>
              </a:tblGrid>
              <a:tr h="685800">
                <a:tc>
                  <a:txBody>
                    <a:bodyPr/>
                    <a:lstStyle/>
                    <a:p>
                      <a:r>
                        <a:rPr b="1" sz="900">
                          <a:solidFill>
                            <a:srgbClr val="FFFFFF"/>
                          </a:solidFill>
                        </a:rPr>
                        <a:t>分類</a:t>
                      </a:r>
                    </a:p>
                  </a:txBody>
                  <a:tcPr>
                    <a:solidFill>
                      <a:srgbClr val="1A56DB"/>
                    </a:solidFill>
                  </a:tcPr>
                </a:tc>
                <a:tc>
                  <a:txBody>
                    <a:bodyPr/>
                    <a:lstStyle/>
                    <a:p>
                      <a:r>
                        <a:rPr b="1" sz="900">
                          <a:solidFill>
                            <a:srgbClr val="FFFFFF"/>
                          </a:solidFill>
                        </a:rPr>
                        <a:t>事例名</a:t>
                      </a:r>
                    </a:p>
                  </a:txBody>
                  <a:tcPr>
                    <a:solidFill>
                      <a:srgbClr val="1A56DB"/>
                    </a:solidFill>
                  </a:tcPr>
                </a:tc>
                <a:tc>
                  <a:txBody>
                    <a:bodyPr/>
                    <a:lstStyle/>
                    <a:p>
                      <a:r>
                        <a:rPr b="1" sz="900">
                          <a:solidFill>
                            <a:srgbClr val="FFFFFF"/>
                          </a:solidFill>
                        </a:rPr>
                        <a:t>期待効果（定量）</a:t>
                      </a:r>
                    </a:p>
                  </a:txBody>
                  <a:tcPr>
                    <a:solidFill>
                      <a:srgbClr val="1A56DB"/>
                    </a:solidFill>
                  </a:tcPr>
                </a:tc>
                <a:tc>
                  <a:txBody>
                    <a:bodyPr/>
                    <a:lstStyle/>
                    <a:p>
                      <a:r>
                        <a:rPr b="1" sz="900">
                          <a:solidFill>
                            <a:srgbClr val="FFFFFF"/>
                          </a:solidFill>
                        </a:rPr>
                        <a:t>詳細</a:t>
                      </a:r>
                    </a:p>
                  </a:txBody>
                  <a:tcPr>
                    <a:solidFill>
                      <a:srgbClr val="1A56DB"/>
                    </a:solidFill>
                  </a:tcPr>
                </a:tc>
              </a:tr>
              <a:tr h="685800">
                <a:tc>
                  <a:txBody>
                    <a:bodyPr/>
                    <a:lstStyle/>
                    <a:p>
                      <a:r>
                        <a:rPr sz="800">
                          <a:solidFill>
                            <a:srgbClr val="222222"/>
                          </a:solidFill>
                        </a:rPr>
                        <a:t>EC直販強化</a:t>
                      </a:r>
                    </a:p>
                  </a:txBody>
                  <a:tcPr>
                    <a:solidFill>
                      <a:srgbClr val="F0F0F0"/>
                    </a:solidFill>
                  </a:tcPr>
                </a:tc>
                <a:tc>
                  <a:txBody>
                    <a:bodyPr/>
                    <a:lstStyle/>
                    <a:p>
                      <a:r>
                        <a:rPr sz="800">
                          <a:solidFill>
                            <a:srgbClr val="222222"/>
                          </a:solidFill>
                        </a:rPr>
                        <a:t>ハーブ栽培キットセット販売</a:t>
                      </a:r>
                    </a:p>
                  </a:txBody>
                  <a:tcPr>
                    <a:solidFill>
                      <a:srgbClr val="F0F0F0"/>
                    </a:solidFill>
                  </a:tcPr>
                </a:tc>
                <a:tc>
                  <a:txBody>
                    <a:bodyPr/>
                    <a:lstStyle/>
                    <a:p>
                      <a:r>
                        <a:rPr sz="800">
                          <a:solidFill>
                            <a:srgbClr val="222222"/>
                          </a:solidFill>
                        </a:rPr>
                        <a:t>粗利率52%、リピート率38%</a:t>
                      </a:r>
                    </a:p>
                  </a:txBody>
                  <a:tcPr>
                    <a:solidFill>
                      <a:srgbClr val="F0F0F0"/>
                    </a:solidFill>
                  </a:tcPr>
                </a:tc>
                <a:tc>
                  <a:txBody>
                    <a:bodyPr/>
                    <a:lstStyle/>
                    <a:p>
                      <a:r>
                        <a:rPr sz="800">
                          <a:solidFill>
                            <a:srgbClr val="222222"/>
                          </a:solidFill>
                        </a:rPr>
                        <a:t>→ 次スライドで詳述</a:t>
                      </a:r>
                    </a:p>
                  </a:txBody>
                  <a:tcPr>
                    <a:solidFill>
                      <a:srgbClr val="F0F0F0"/>
                    </a:solidFill>
                  </a:tcPr>
                </a:tc>
              </a:tr>
              <a:tr h="685800">
                <a:tc>
                  <a:txBody>
                    <a:bodyPr/>
                    <a:lstStyle/>
                    <a:p>
                      <a:r>
                        <a:rPr sz="800">
                          <a:solidFill>
                            <a:srgbClr val="222222"/>
                          </a:solidFill>
                        </a:rPr>
                        <a:t>季節需要対応</a:t>
                      </a:r>
                    </a:p>
                  </a:txBody>
                  <a:tcPr>
                    <a:solidFill>
                      <a:srgbClr val="FFFFFF"/>
                    </a:solidFill>
                  </a:tcPr>
                </a:tc>
                <a:tc>
                  <a:txBody>
                    <a:bodyPr/>
                    <a:lstStyle/>
                    <a:p>
                      <a:r>
                        <a:rPr sz="800">
                          <a:solidFill>
                            <a:srgbClr val="222222"/>
                          </a:solidFill>
                        </a:rPr>
                        <a:t>春の花苗・培養土バンドル</a:t>
                      </a:r>
                    </a:p>
                  </a:txBody>
                  <a:tcPr>
                    <a:solidFill>
                      <a:srgbClr val="FFFFFF"/>
                    </a:solidFill>
                  </a:tcPr>
                </a:tc>
                <a:tc>
                  <a:txBody>
                    <a:bodyPr/>
                    <a:lstStyle/>
                    <a:p>
                      <a:r>
                        <a:rPr sz="800">
                          <a:solidFill>
                            <a:srgbClr val="222222"/>
                          </a:solidFill>
                        </a:rPr>
                        <a:t>季節ピーク時売上130%増（前年比）</a:t>
                      </a:r>
                    </a:p>
                  </a:txBody>
                  <a:tcPr>
                    <a:solidFill>
                      <a:srgbClr val="FFFFFF"/>
                    </a:solidFill>
                  </a:tcPr>
                </a:tc>
                <a:tc>
                  <a:txBody>
                    <a:bodyPr/>
                    <a:lstStyle/>
                    <a:p>
                      <a:r>
                        <a:rPr sz="800">
                          <a:solidFill>
                            <a:srgbClr val="222222"/>
                          </a:solidFill>
                        </a:rPr>
                        <a:t>→ 次スライドで詳述</a:t>
                      </a:r>
                    </a:p>
                  </a:txBody>
                  <a:tcPr>
                    <a:solidFill>
                      <a:srgbClr val="FFFFFF"/>
                    </a:solidFill>
                  </a:tcPr>
                </a:tc>
              </a:tr>
              <a:tr h="685800">
                <a:tc>
                  <a:txBody>
                    <a:bodyPr/>
                    <a:lstStyle/>
                    <a:p>
                      <a:r>
                        <a:rPr sz="800">
                          <a:solidFill>
                            <a:srgbClr val="222222"/>
                          </a:solidFill>
                        </a:rPr>
                        <a:t>コンテンツマーケティング</a:t>
                      </a:r>
                    </a:p>
                  </a:txBody>
                  <a:tcPr>
                    <a:solidFill>
                      <a:srgbClr val="F0F0F0"/>
                    </a:solidFill>
                  </a:tcPr>
                </a:tc>
                <a:tc>
                  <a:txBody>
                    <a:bodyPr/>
                    <a:lstStyle/>
                    <a:p>
                      <a:r>
                        <a:rPr sz="800">
                          <a:solidFill>
                            <a:srgbClr val="222222"/>
                          </a:solidFill>
                        </a:rPr>
                        <a:t>動画連携型商品販売（YouTube）</a:t>
                      </a:r>
                    </a:p>
                  </a:txBody>
                  <a:tcPr>
                    <a:solidFill>
                      <a:srgbClr val="F0F0F0"/>
                    </a:solidFill>
                  </a:tcPr>
                </a:tc>
                <a:tc>
                  <a:txBody>
                    <a:bodyPr/>
                    <a:lstStyle/>
                    <a:p>
                      <a:r>
                        <a:rPr sz="800">
                          <a:solidFill>
                            <a:srgbClr val="222222"/>
                          </a:solidFill>
                        </a:rPr>
                        <a:t>流入からの転換率3.2%（広告比1.8倍）</a:t>
                      </a:r>
                    </a:p>
                  </a:txBody>
                  <a:tcPr>
                    <a:solidFill>
                      <a:srgbClr val="F0F0F0"/>
                    </a:solidFill>
                  </a:tcPr>
                </a:tc>
                <a:tc>
                  <a:txBody>
                    <a:bodyPr/>
                    <a:lstStyle/>
                    <a:p>
                      <a:r>
                        <a:rPr sz="800">
                          <a:solidFill>
                            <a:srgbClr val="222222"/>
                          </a:solidFill>
                        </a:rPr>
                        <a:t>概要のみ（実施想定）</a:t>
                      </a:r>
                    </a:p>
                  </a:txBody>
                  <a:tcPr>
                    <a:solidFill>
                      <a:srgbClr val="F0F0F0"/>
                    </a:solidFill>
                  </a:tcPr>
                </a:tc>
              </a:tr>
              <a:tr h="685800">
                <a:tc>
                  <a:txBody>
                    <a:bodyPr/>
                    <a:lstStyle/>
                    <a:p>
                      <a:r>
                        <a:rPr sz="800">
                          <a:solidFill>
                            <a:srgbClr val="222222"/>
                          </a:solidFill>
                        </a:rPr>
                        <a:t>法人向け展開</a:t>
                      </a:r>
                    </a:p>
                  </a:txBody>
                  <a:tcPr>
                    <a:solidFill>
                      <a:srgbClr val="FFFFFF"/>
                    </a:solidFill>
                  </a:tcPr>
                </a:tc>
                <a:tc>
                  <a:txBody>
                    <a:bodyPr/>
                    <a:lstStyle/>
                    <a:p>
                      <a:r>
                        <a:rPr sz="800">
                          <a:solidFill>
                            <a:srgbClr val="222222"/>
                          </a:solidFill>
                        </a:rPr>
                        <a:t>マンション管理組合向けプランター一括販売</a:t>
                      </a:r>
                    </a:p>
                  </a:txBody>
                  <a:tcPr>
                    <a:solidFill>
                      <a:srgbClr val="FFFFFF"/>
                    </a:solidFill>
                  </a:tcPr>
                </a:tc>
                <a:tc>
                  <a:txBody>
                    <a:bodyPr/>
                    <a:lstStyle/>
                    <a:p>
                      <a:r>
                        <a:rPr sz="800">
                          <a:solidFill>
                            <a:srgbClr val="222222"/>
                          </a:solidFill>
                        </a:rPr>
                        <a:t>1件あたり単価¥25万（個人比7倍）</a:t>
                      </a:r>
                    </a:p>
                  </a:txBody>
                  <a:tcPr>
                    <a:solidFill>
                      <a:srgbClr val="FFFFFF"/>
                    </a:solidFill>
                  </a:tcPr>
                </a:tc>
                <a:tc>
                  <a:txBody>
                    <a:bodyPr/>
                    <a:lstStyle/>
                    <a:p>
                      <a:r>
                        <a:rPr sz="800">
                          <a:solidFill>
                            <a:srgbClr val="222222"/>
                          </a:solidFill>
                        </a:rPr>
                        <a:t>概要のみ（実施想定）</a:t>
                      </a:r>
                    </a:p>
                  </a:txBody>
                  <a:tcPr>
                    <a:solidFill>
                      <a:srgbClr val="FFFFFF"/>
                    </a:solidFill>
                  </a:tcPr>
                </a:tc>
              </a:tr>
              <a:tr h="685800">
                <a:tc>
                  <a:txBody>
                    <a:bodyPr/>
                    <a:lstStyle/>
                    <a:p>
                      <a:r>
                        <a:rPr sz="800">
                          <a:solidFill>
                            <a:srgbClr val="222222"/>
                          </a:solidFill>
                        </a:rPr>
                        <a:t>サブスク化</a:t>
                      </a:r>
                    </a:p>
                  </a:txBody>
                  <a:tcPr>
                    <a:solidFill>
                      <a:srgbClr val="F0F0F0"/>
                    </a:solidFill>
                  </a:tcPr>
                </a:tc>
                <a:tc>
                  <a:txBody>
                    <a:bodyPr/>
                    <a:lstStyle/>
                    <a:p>
                      <a:r>
                        <a:rPr sz="800">
                          <a:solidFill>
                            <a:srgbClr val="222222"/>
                          </a:solidFill>
                        </a:rPr>
                        <a:t>月次肥料・土壌改良材の定期便</a:t>
                      </a:r>
                    </a:p>
                  </a:txBody>
                  <a:tcPr>
                    <a:solidFill>
                      <a:srgbClr val="F0F0F0"/>
                    </a:solidFill>
                  </a:tcPr>
                </a:tc>
                <a:tc>
                  <a:txBody>
                    <a:bodyPr/>
                    <a:lstStyle/>
                    <a:p>
                      <a:r>
                        <a:rPr sz="800">
                          <a:solidFill>
                            <a:srgbClr val="222222"/>
                          </a:solidFill>
                        </a:rPr>
                        <a:t>LTV¥45,000（スポット購入比2.8倍）</a:t>
                      </a:r>
                    </a:p>
                  </a:txBody>
                  <a:tcPr>
                    <a:solidFill>
                      <a:srgbClr val="F0F0F0"/>
                    </a:solidFill>
                  </a:tcPr>
                </a:tc>
                <a:tc>
                  <a:txBody>
                    <a:bodyPr/>
                    <a:lstStyle/>
                    <a:p>
                      <a:r>
                        <a:rPr sz="800">
                          <a:solidFill>
                            <a:srgbClr val="222222"/>
                          </a:solidFill>
                        </a:rPr>
                        <a:t>概要のみ（実施想定）</a:t>
                      </a:r>
                    </a:p>
                  </a:txBody>
                  <a:tcPr>
                    <a:solidFill>
                      <a:srgbClr val="F0F0F0"/>
                    </a:solidFill>
                  </a:tcPr>
                </a:tc>
              </a:tr>
            </a:tbl>
          </a:graphicData>
        </a:graphic>
      </p:graphicFrame>
      <p:sp>
        <p:nvSpPr>
          <p:cNvPr id="6" name="TextBox 5"/>
          <p:cNvSpPr txBox="1"/>
          <p:nvPr/>
        </p:nvSpPr>
        <p:spPr>
          <a:xfrm>
            <a:off x="182880" y="5029200"/>
            <a:ext cx="10972800" cy="320040"/>
          </a:xfrm>
          <a:prstGeom prst="rect">
            <a:avLst/>
          </a:prstGeom>
          <a:noFill/>
        </p:spPr>
        <p:txBody>
          <a:bodyPr wrap="square">
            <a:spAutoFit/>
          </a:bodyPr>
          <a:lstStyle/>
          <a:p>
            <a:pPr algn="l"/>
            <a:r>
              <a:rPr sz="900" b="0">
                <a:solidFill>
                  <a:srgbClr val="666666"/>
                </a:solidFill>
              </a:rPr>
              <a:t>※ 事例3〜5は類似事例からの推計値。実施実績がないため「想定」と位置づける</a:t>
            </a:r>
          </a:p>
        </p:txBody>
      </p:sp>
      <p:sp>
        <p:nvSpPr>
          <p:cNvPr id="7" name="TextBox 6"/>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515600" cy="548640"/>
          </a:xfrm>
          <a:prstGeom prst="rect">
            <a:avLst/>
          </a:prstGeom>
          <a:noFill/>
        </p:spPr>
        <p:txBody>
          <a:bodyPr wrap="none">
            <a:spAutoFit/>
          </a:bodyPr>
          <a:lstStyle/>
          <a:p>
            <a:r>
              <a:rPr sz="2000" b="1">
                <a:solidFill>
                  <a:srgbClr val="FFFFFF"/>
                </a:solidFill>
              </a:rPr>
              <a:t>事例1：ハーブ栽培キットセット販売</a:t>
            </a:r>
          </a:p>
        </p:txBody>
      </p:sp>
      <p:sp>
        <p:nvSpPr>
          <p:cNvPr id="4" name="TextBox 3"/>
          <p:cNvSpPr txBox="1"/>
          <p:nvPr/>
        </p:nvSpPr>
        <p:spPr>
          <a:xfrm>
            <a:off x="10789920" y="91440"/>
            <a:ext cx="1280160" cy="320040"/>
          </a:xfrm>
          <a:prstGeom prst="rect">
            <a:avLst/>
          </a:prstGeom>
          <a:noFill/>
          <a:solidFill>
            <a:srgbClr val="108040"/>
          </a:solidFill>
        </p:spPr>
        <p:txBody>
          <a:bodyPr wrap="square">
            <a:spAutoFit/>
          </a:bodyPr>
          <a:lstStyle/>
          <a:p>
            <a:pPr algn="ctr"/>
            <a:r>
              <a:rPr sz="900" b="1">
                <a:solidFill>
                  <a:srgbClr val="FFFFFF"/>
                </a:solidFill>
              </a:rPr>
              <a:t>[参考]</a:t>
            </a:r>
          </a:p>
        </p:txBody>
      </p:sp>
      <p:sp>
        <p:nvSpPr>
          <p:cNvPr id="5" name="TextBox 4"/>
          <p:cNvSpPr txBox="1"/>
          <p:nvPr/>
        </p:nvSpPr>
        <p:spPr>
          <a:xfrm>
            <a:off x="274320" y="777240"/>
            <a:ext cx="5029200" cy="320040"/>
          </a:xfrm>
          <a:prstGeom prst="rect">
            <a:avLst/>
          </a:prstGeom>
          <a:noFill/>
        </p:spPr>
        <p:txBody>
          <a:bodyPr wrap="square">
            <a:spAutoFit/>
          </a:bodyPr>
          <a:lstStyle/>
          <a:p>
            <a:pPr algn="l"/>
            <a:r>
              <a:rPr sz="1100" b="1">
                <a:solidFill>
                  <a:srgbClr val="1A56DB"/>
                </a:solidFill>
              </a:rPr>
              <a:t>【事例概要】</a:t>
            </a:r>
          </a:p>
        </p:txBody>
      </p:sp>
      <p:sp>
        <p:nvSpPr>
          <p:cNvPr id="6" name="TextBox 5"/>
          <p:cNvSpPr txBox="1"/>
          <p:nvPr/>
        </p:nvSpPr>
        <p:spPr>
          <a:xfrm>
            <a:off x="457200" y="1143000"/>
            <a:ext cx="5303520" cy="365760"/>
          </a:xfrm>
          <a:prstGeom prst="rect">
            <a:avLst/>
          </a:prstGeom>
          <a:noFill/>
        </p:spPr>
        <p:txBody>
          <a:bodyPr wrap="square">
            <a:spAutoFit/>
          </a:bodyPr>
          <a:lstStyle/>
          <a:p>
            <a:pPr algn="l"/>
            <a:r>
              <a:rPr sz="1000" b="0">
                <a:solidFill>
                  <a:srgbClr val="222222"/>
                </a:solidFill>
              </a:rPr>
              <a:t>・目的：初心者向けに必要資材一式をセット化し、高単価・高粗利で販売する</a:t>
            </a:r>
          </a:p>
        </p:txBody>
      </p:sp>
      <p:sp>
        <p:nvSpPr>
          <p:cNvPr id="7" name="TextBox 6"/>
          <p:cNvSpPr txBox="1"/>
          <p:nvPr/>
        </p:nvSpPr>
        <p:spPr>
          <a:xfrm>
            <a:off x="457200" y="1554480"/>
            <a:ext cx="5303520" cy="365760"/>
          </a:xfrm>
          <a:prstGeom prst="rect">
            <a:avLst/>
          </a:prstGeom>
          <a:noFill/>
        </p:spPr>
        <p:txBody>
          <a:bodyPr wrap="square">
            <a:spAutoFit/>
          </a:bodyPr>
          <a:lstStyle/>
          <a:p>
            <a:pPr algn="l"/>
            <a:r>
              <a:rPr sz="1000" b="0">
                <a:solidFill>
                  <a:srgbClr val="222222"/>
                </a:solidFill>
              </a:rPr>
              <a:t>・手法：土・種・鉢・肥料をOEM調達してオリジナルブランドでセット化</a:t>
            </a:r>
          </a:p>
        </p:txBody>
      </p:sp>
      <p:sp>
        <p:nvSpPr>
          <p:cNvPr id="8" name="TextBox 7"/>
          <p:cNvSpPr txBox="1"/>
          <p:nvPr/>
        </p:nvSpPr>
        <p:spPr>
          <a:xfrm>
            <a:off x="457200" y="1965960"/>
            <a:ext cx="5303520" cy="365760"/>
          </a:xfrm>
          <a:prstGeom prst="rect">
            <a:avLst/>
          </a:prstGeom>
          <a:noFill/>
        </p:spPr>
        <p:txBody>
          <a:bodyPr wrap="square">
            <a:spAutoFit/>
          </a:bodyPr>
          <a:lstStyle/>
          <a:p>
            <a:pPr algn="l"/>
            <a:r>
              <a:rPr sz="1000" b="0">
                <a:solidFill>
                  <a:srgbClr val="222222"/>
                </a:solidFill>
              </a:rPr>
              <a:t>・対象業務：商品企画・EC販売・カスタマーサポート</a:t>
            </a:r>
          </a:p>
        </p:txBody>
      </p:sp>
      <p:sp>
        <p:nvSpPr>
          <p:cNvPr id="9" name="TextBox 8"/>
          <p:cNvSpPr txBox="1"/>
          <p:nvPr/>
        </p:nvSpPr>
        <p:spPr>
          <a:xfrm>
            <a:off x="274320" y="2514600"/>
            <a:ext cx="5029200" cy="320040"/>
          </a:xfrm>
          <a:prstGeom prst="rect">
            <a:avLst/>
          </a:prstGeom>
          <a:noFill/>
        </p:spPr>
        <p:txBody>
          <a:bodyPr wrap="square">
            <a:spAutoFit/>
          </a:bodyPr>
          <a:lstStyle/>
          <a:p>
            <a:pPr algn="l"/>
            <a:r>
              <a:rPr sz="1100" b="1">
                <a:solidFill>
                  <a:srgbClr val="CC0000"/>
                </a:solidFill>
              </a:rPr>
              <a:t>【想定リスク】</a:t>
            </a:r>
          </a:p>
        </p:txBody>
      </p:sp>
      <p:sp>
        <p:nvSpPr>
          <p:cNvPr id="10" name="TextBox 9"/>
          <p:cNvSpPr txBox="1"/>
          <p:nvPr/>
        </p:nvSpPr>
        <p:spPr>
          <a:xfrm>
            <a:off x="457200" y="2880360"/>
            <a:ext cx="5303520" cy="320040"/>
          </a:xfrm>
          <a:prstGeom prst="rect">
            <a:avLst/>
          </a:prstGeom>
          <a:noFill/>
        </p:spPr>
        <p:txBody>
          <a:bodyPr wrap="square">
            <a:spAutoFit/>
          </a:bodyPr>
          <a:lstStyle/>
          <a:p>
            <a:pPr algn="l"/>
            <a:r>
              <a:rPr sz="900" b="0">
                <a:solidFill>
                  <a:srgbClr val="222222"/>
                </a:solidFill>
              </a:rPr>
              <a:t>季節性による需要変動（春・秋に集中）→ 原則：在庫管理原則</a:t>
            </a:r>
          </a:p>
        </p:txBody>
      </p:sp>
      <p:sp>
        <p:nvSpPr>
          <p:cNvPr id="11" name="TextBox 10"/>
          <p:cNvSpPr txBox="1"/>
          <p:nvPr/>
        </p:nvSpPr>
        <p:spPr>
          <a:xfrm>
            <a:off x="457200" y="3227832"/>
            <a:ext cx="5303520" cy="320040"/>
          </a:xfrm>
          <a:prstGeom prst="rect">
            <a:avLst/>
          </a:prstGeom>
          <a:noFill/>
        </p:spPr>
        <p:txBody>
          <a:bodyPr wrap="square">
            <a:spAutoFit/>
          </a:bodyPr>
          <a:lstStyle/>
          <a:p>
            <a:pPr algn="l"/>
            <a:r>
              <a:rPr sz="900" b="0">
                <a:solidFill>
                  <a:srgbClr val="222222"/>
                </a:solidFill>
              </a:rPr>
              <a:t>  発生確率：高　影響度：中</a:t>
            </a:r>
          </a:p>
        </p:txBody>
      </p:sp>
      <p:sp>
        <p:nvSpPr>
          <p:cNvPr id="12" name="TextBox 11"/>
          <p:cNvSpPr txBox="1"/>
          <p:nvPr/>
        </p:nvSpPr>
        <p:spPr>
          <a:xfrm>
            <a:off x="457200" y="3575304"/>
            <a:ext cx="5303520" cy="320040"/>
          </a:xfrm>
          <a:prstGeom prst="rect">
            <a:avLst/>
          </a:prstGeom>
          <a:noFill/>
        </p:spPr>
        <p:txBody>
          <a:bodyPr wrap="square">
            <a:spAutoFit/>
          </a:bodyPr>
          <a:lstStyle/>
          <a:p>
            <a:pPr algn="l"/>
            <a:r>
              <a:rPr sz="900" b="0">
                <a:solidFill>
                  <a:srgbClr val="222222"/>
                </a:solidFill>
              </a:rPr>
              <a:t>セット内商品の品質ばらつき → 原則：安全性確保原則</a:t>
            </a:r>
          </a:p>
        </p:txBody>
      </p:sp>
      <p:sp>
        <p:nvSpPr>
          <p:cNvPr id="13" name="TextBox 12"/>
          <p:cNvSpPr txBox="1"/>
          <p:nvPr/>
        </p:nvSpPr>
        <p:spPr>
          <a:xfrm>
            <a:off x="457200" y="3922776"/>
            <a:ext cx="5303520" cy="320040"/>
          </a:xfrm>
          <a:prstGeom prst="rect">
            <a:avLst/>
          </a:prstGeom>
          <a:noFill/>
        </p:spPr>
        <p:txBody>
          <a:bodyPr wrap="square">
            <a:spAutoFit/>
          </a:bodyPr>
          <a:lstStyle/>
          <a:p>
            <a:pPr algn="l"/>
            <a:r>
              <a:rPr sz="900" b="0">
                <a:solidFill>
                  <a:srgbClr val="222222"/>
                </a:solidFill>
              </a:rPr>
              <a:t>  発生確率：低　影響度：高</a:t>
            </a:r>
          </a:p>
        </p:txBody>
      </p:sp>
      <p:sp>
        <p:nvSpPr>
          <p:cNvPr id="14" name="TextBox 13"/>
          <p:cNvSpPr txBox="1"/>
          <p:nvPr/>
        </p:nvSpPr>
        <p:spPr>
          <a:xfrm>
            <a:off x="6217920" y="777240"/>
            <a:ext cx="5029200" cy="320040"/>
          </a:xfrm>
          <a:prstGeom prst="rect">
            <a:avLst/>
          </a:prstGeom>
          <a:noFill/>
        </p:spPr>
        <p:txBody>
          <a:bodyPr wrap="square">
            <a:spAutoFit/>
          </a:bodyPr>
          <a:lstStyle/>
          <a:p>
            <a:pPr algn="l"/>
            <a:r>
              <a:rPr sz="1100" b="1">
                <a:solidFill>
                  <a:srgbClr val="1A56DB"/>
                </a:solidFill>
              </a:rPr>
              <a:t>【期待効果（定量）】</a:t>
            </a:r>
          </a:p>
        </p:txBody>
      </p:sp>
      <p:sp>
        <p:nvSpPr>
          <p:cNvPr id="15" name="TextBox 14"/>
          <p:cNvSpPr txBox="1"/>
          <p:nvPr/>
        </p:nvSpPr>
        <p:spPr>
          <a:xfrm>
            <a:off x="6400800" y="1143000"/>
            <a:ext cx="5303520" cy="365760"/>
          </a:xfrm>
          <a:prstGeom prst="rect">
            <a:avLst/>
          </a:prstGeom>
          <a:noFill/>
        </p:spPr>
        <p:txBody>
          <a:bodyPr wrap="square">
            <a:spAutoFit/>
          </a:bodyPr>
          <a:lstStyle/>
          <a:p>
            <a:pPr algn="l"/>
            <a:r>
              <a:rPr sz="1000" b="0">
                <a:solidFill>
                  <a:srgbClr val="222222"/>
                </a:solidFill>
              </a:rPr>
              <a:t>・単価：¥4,800（個別購入比1.6倍）</a:t>
            </a:r>
          </a:p>
        </p:txBody>
      </p:sp>
      <p:sp>
        <p:nvSpPr>
          <p:cNvPr id="16" name="TextBox 15"/>
          <p:cNvSpPr txBox="1"/>
          <p:nvPr/>
        </p:nvSpPr>
        <p:spPr>
          <a:xfrm>
            <a:off x="6400800" y="1554480"/>
            <a:ext cx="5303520" cy="365760"/>
          </a:xfrm>
          <a:prstGeom prst="rect">
            <a:avLst/>
          </a:prstGeom>
          <a:noFill/>
        </p:spPr>
        <p:txBody>
          <a:bodyPr wrap="square">
            <a:spAutoFit/>
          </a:bodyPr>
          <a:lstStyle/>
          <a:p>
            <a:pPr algn="l"/>
            <a:r>
              <a:rPr sz="1000" b="0">
                <a:solidFill>
                  <a:srgbClr val="222222"/>
                </a:solidFill>
              </a:rPr>
              <a:t>・粗利率：52%（OEM調達コスト¥2,300）</a:t>
            </a:r>
          </a:p>
        </p:txBody>
      </p:sp>
      <p:sp>
        <p:nvSpPr>
          <p:cNvPr id="17" name="TextBox 16"/>
          <p:cNvSpPr txBox="1"/>
          <p:nvPr/>
        </p:nvSpPr>
        <p:spPr>
          <a:xfrm>
            <a:off x="6400800" y="1965960"/>
            <a:ext cx="5303520" cy="365760"/>
          </a:xfrm>
          <a:prstGeom prst="rect">
            <a:avLst/>
          </a:prstGeom>
          <a:noFill/>
        </p:spPr>
        <p:txBody>
          <a:bodyPr wrap="square">
            <a:spAutoFit/>
          </a:bodyPr>
          <a:lstStyle/>
          <a:p>
            <a:pPr algn="l"/>
            <a:r>
              <a:rPr sz="1000" b="0">
                <a:solidFill>
                  <a:srgbClr val="222222"/>
                </a:solidFill>
              </a:rPr>
              <a:t>・リピート購入率：38%（6か月以内）</a:t>
            </a:r>
          </a:p>
        </p:txBody>
      </p:sp>
      <p:sp>
        <p:nvSpPr>
          <p:cNvPr id="18" name="TextBox 17"/>
          <p:cNvSpPr txBox="1"/>
          <p:nvPr/>
        </p:nvSpPr>
        <p:spPr>
          <a:xfrm>
            <a:off x="6400800" y="2377440"/>
            <a:ext cx="5303520" cy="365760"/>
          </a:xfrm>
          <a:prstGeom prst="rect">
            <a:avLst/>
          </a:prstGeom>
          <a:noFill/>
        </p:spPr>
        <p:txBody>
          <a:bodyPr wrap="square">
            <a:spAutoFit/>
          </a:bodyPr>
          <a:lstStyle/>
          <a:p>
            <a:pPr algn="l"/>
            <a:r>
              <a:rPr sz="1000" b="0">
                <a:solidFill>
                  <a:srgbClr val="222222"/>
                </a:solidFill>
              </a:rPr>
              <a:t>・年間販売目標：3,000セット → 売上¥1,440万</a:t>
            </a:r>
          </a:p>
        </p:txBody>
      </p:sp>
      <p:sp>
        <p:nvSpPr>
          <p:cNvPr id="19" name="TextBox 18"/>
          <p:cNvSpPr txBox="1"/>
          <p:nvPr/>
        </p:nvSpPr>
        <p:spPr>
          <a:xfrm>
            <a:off x="6217920" y="2514600"/>
            <a:ext cx="5029200" cy="320040"/>
          </a:xfrm>
          <a:prstGeom prst="rect">
            <a:avLst/>
          </a:prstGeom>
          <a:noFill/>
        </p:spPr>
        <p:txBody>
          <a:bodyPr wrap="square">
            <a:spAutoFit/>
          </a:bodyPr>
          <a:lstStyle/>
          <a:p>
            <a:pPr algn="l"/>
            <a:r>
              <a:rPr sz="1100" b="1">
                <a:solidFill>
                  <a:srgbClr val="222222"/>
                </a:solidFill>
              </a:rPr>
              <a:t>【リスク対応策】</a:t>
            </a:r>
          </a:p>
        </p:txBody>
      </p:sp>
      <p:sp>
        <p:nvSpPr>
          <p:cNvPr id="20" name="TextBox 19"/>
          <p:cNvSpPr txBox="1"/>
          <p:nvPr/>
        </p:nvSpPr>
        <p:spPr>
          <a:xfrm>
            <a:off x="6400800" y="2880360"/>
            <a:ext cx="5303520" cy="320040"/>
          </a:xfrm>
          <a:prstGeom prst="rect">
            <a:avLst/>
          </a:prstGeom>
          <a:noFill/>
        </p:spPr>
        <p:txBody>
          <a:bodyPr wrap="square">
            <a:spAutoFit/>
          </a:bodyPr>
          <a:lstStyle/>
          <a:p>
            <a:pPr algn="l"/>
            <a:r>
              <a:rPr sz="900" b="0">
                <a:solidFill>
                  <a:srgbClr val="222222"/>
                </a:solidFill>
              </a:rPr>
              <a:t>【回避】オフシーズンは需要量の70%のみ発注し過剰在庫を防ぐ</a:t>
            </a:r>
          </a:p>
        </p:txBody>
      </p:sp>
      <p:sp>
        <p:nvSpPr>
          <p:cNvPr id="21" name="TextBox 20"/>
          <p:cNvSpPr txBox="1"/>
          <p:nvPr/>
        </p:nvSpPr>
        <p:spPr>
          <a:xfrm>
            <a:off x="6400800" y="3227832"/>
            <a:ext cx="5303520" cy="320040"/>
          </a:xfrm>
          <a:prstGeom prst="rect">
            <a:avLst/>
          </a:prstGeom>
          <a:noFill/>
        </p:spPr>
        <p:txBody>
          <a:bodyPr wrap="square">
            <a:spAutoFit/>
          </a:bodyPr>
          <a:lstStyle/>
          <a:p>
            <a:pPr algn="l"/>
            <a:r>
              <a:rPr sz="900" b="0">
                <a:solidFill>
                  <a:srgbClr val="222222"/>
                </a:solidFill>
              </a:rPr>
              <a:t>【実施時の対策】セール・アウトレットで在庫消化。目標消化率90%以上</a:t>
            </a:r>
          </a:p>
        </p:txBody>
      </p:sp>
      <p:sp>
        <p:nvSpPr>
          <p:cNvPr id="22" name="TextBox 21"/>
          <p:cNvSpPr txBox="1"/>
          <p:nvPr/>
        </p:nvSpPr>
        <p:spPr>
          <a:xfrm>
            <a:off x="6400800" y="3575304"/>
            <a:ext cx="5303520" cy="320040"/>
          </a:xfrm>
          <a:prstGeom prst="rect">
            <a:avLst/>
          </a:prstGeom>
          <a:noFill/>
        </p:spPr>
        <p:txBody>
          <a:bodyPr wrap="square">
            <a:spAutoFit/>
          </a:bodyPr>
          <a:lstStyle/>
          <a:p>
            <a:pPr algn="l"/>
            <a:r>
              <a:rPr sz="900" b="0">
                <a:solidFill>
                  <a:srgbClr val="222222"/>
                </a:solidFill>
              </a:rPr>
              <a:t>【回避】サプライヤー検品を全量検査（不良率0.5%以下を契約条件に）</a:t>
            </a:r>
          </a:p>
        </p:txBody>
      </p:sp>
      <p:sp>
        <p:nvSpPr>
          <p:cNvPr id="23" name="TextBox 22"/>
          <p:cNvSpPr txBox="1"/>
          <p:nvPr/>
        </p:nvSpPr>
        <p:spPr>
          <a:xfrm>
            <a:off x="6400800" y="3922776"/>
            <a:ext cx="5303520" cy="320040"/>
          </a:xfrm>
          <a:prstGeom prst="rect">
            <a:avLst/>
          </a:prstGeom>
          <a:noFill/>
        </p:spPr>
        <p:txBody>
          <a:bodyPr wrap="square">
            <a:spAutoFit/>
          </a:bodyPr>
          <a:lstStyle/>
          <a:p>
            <a:pPr algn="l"/>
            <a:r>
              <a:rPr sz="900" b="0">
                <a:solidFill>
                  <a:srgbClr val="222222"/>
                </a:solidFill>
              </a:rPr>
              <a:t>【実施時の対策】不良品は着払い返送＋同等品交換。顧客満足度4.0以上を維持</a:t>
            </a:r>
          </a:p>
        </p:txBody>
      </p:sp>
      <p:sp>
        <p:nvSpPr>
          <p:cNvPr id="24" name="TextBox 23"/>
          <p:cNvSpPr txBox="1"/>
          <p:nvPr/>
        </p:nvSpPr>
        <p:spPr>
          <a:xfrm>
            <a:off x="274320" y="5212080"/>
            <a:ext cx="11430000" cy="365760"/>
          </a:xfrm>
          <a:prstGeom prst="rect">
            <a:avLst/>
          </a:prstGeom>
          <a:noFill/>
        </p:spPr>
        <p:txBody>
          <a:bodyPr wrap="square">
            <a:spAutoFit/>
          </a:bodyPr>
          <a:lstStyle/>
          <a:p>
            <a:pPr algn="l"/>
            <a:r>
              <a:rPr sz="800" b="0">
                <a:solidFill>
                  <a:srgbClr val="666666"/>
                </a:solidFill>
              </a:rPr>
              <a:t>導入実績：類似商品（競合C社）が楽天市場で月間300セット販売実績あり（2025年推計）。自社実績はなく「想定」として記載</a:t>
            </a:r>
          </a:p>
        </p:txBody>
      </p:sp>
      <p:sp>
        <p:nvSpPr>
          <p:cNvPr id="25" name="TextBox 24"/>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515600" cy="548640"/>
          </a:xfrm>
          <a:prstGeom prst="rect">
            <a:avLst/>
          </a:prstGeom>
          <a:noFill/>
        </p:spPr>
        <p:txBody>
          <a:bodyPr wrap="none">
            <a:spAutoFit/>
          </a:bodyPr>
          <a:lstStyle/>
          <a:p>
            <a:r>
              <a:rPr sz="2000" b="1">
                <a:solidFill>
                  <a:srgbClr val="FFFFFF"/>
                </a:solidFill>
              </a:rPr>
              <a:t>事例2：春の花苗・培養土バンドル（季節需要対応）</a:t>
            </a:r>
          </a:p>
        </p:txBody>
      </p:sp>
      <p:sp>
        <p:nvSpPr>
          <p:cNvPr id="4" name="TextBox 3"/>
          <p:cNvSpPr txBox="1"/>
          <p:nvPr/>
        </p:nvSpPr>
        <p:spPr>
          <a:xfrm>
            <a:off x="10789920" y="91440"/>
            <a:ext cx="1280160" cy="320040"/>
          </a:xfrm>
          <a:prstGeom prst="rect">
            <a:avLst/>
          </a:prstGeom>
          <a:noFill/>
          <a:solidFill>
            <a:srgbClr val="108040"/>
          </a:solidFill>
        </p:spPr>
        <p:txBody>
          <a:bodyPr wrap="square">
            <a:spAutoFit/>
          </a:bodyPr>
          <a:lstStyle/>
          <a:p>
            <a:pPr algn="ctr"/>
            <a:r>
              <a:rPr sz="900" b="1">
                <a:solidFill>
                  <a:srgbClr val="FFFFFF"/>
                </a:solidFill>
              </a:rPr>
              <a:t>[参考]</a:t>
            </a:r>
          </a:p>
        </p:txBody>
      </p:sp>
      <p:sp>
        <p:nvSpPr>
          <p:cNvPr id="5" name="TextBox 4"/>
          <p:cNvSpPr txBox="1"/>
          <p:nvPr/>
        </p:nvSpPr>
        <p:spPr>
          <a:xfrm>
            <a:off x="274320" y="777240"/>
            <a:ext cx="5029200" cy="320040"/>
          </a:xfrm>
          <a:prstGeom prst="rect">
            <a:avLst/>
          </a:prstGeom>
          <a:noFill/>
        </p:spPr>
        <p:txBody>
          <a:bodyPr wrap="square">
            <a:spAutoFit/>
          </a:bodyPr>
          <a:lstStyle/>
          <a:p>
            <a:pPr algn="l"/>
            <a:r>
              <a:rPr sz="1100" b="1">
                <a:solidFill>
                  <a:srgbClr val="1A56DB"/>
                </a:solidFill>
              </a:rPr>
              <a:t>【事例概要】</a:t>
            </a:r>
          </a:p>
        </p:txBody>
      </p:sp>
      <p:sp>
        <p:nvSpPr>
          <p:cNvPr id="6" name="TextBox 5"/>
          <p:cNvSpPr txBox="1"/>
          <p:nvPr/>
        </p:nvSpPr>
        <p:spPr>
          <a:xfrm>
            <a:off x="457200" y="1143000"/>
            <a:ext cx="5303520" cy="365760"/>
          </a:xfrm>
          <a:prstGeom prst="rect">
            <a:avLst/>
          </a:prstGeom>
          <a:noFill/>
        </p:spPr>
        <p:txBody>
          <a:bodyPr wrap="square">
            <a:spAutoFit/>
          </a:bodyPr>
          <a:lstStyle/>
          <a:p>
            <a:pPr algn="l"/>
            <a:r>
              <a:rPr sz="1000" b="0">
                <a:solidFill>
                  <a:srgbClr val="222222"/>
                </a:solidFill>
              </a:rPr>
              <a:t>・目的：ガーデニング需要が高まる3〜5月（春需要期）にバンドル販売で売上を最大化する</a:t>
            </a:r>
          </a:p>
        </p:txBody>
      </p:sp>
      <p:sp>
        <p:nvSpPr>
          <p:cNvPr id="7" name="TextBox 6"/>
          <p:cNvSpPr txBox="1"/>
          <p:nvPr/>
        </p:nvSpPr>
        <p:spPr>
          <a:xfrm>
            <a:off x="457200" y="1554480"/>
            <a:ext cx="5303520" cy="365760"/>
          </a:xfrm>
          <a:prstGeom prst="rect">
            <a:avLst/>
          </a:prstGeom>
          <a:noFill/>
        </p:spPr>
        <p:txBody>
          <a:bodyPr wrap="square">
            <a:spAutoFit/>
          </a:bodyPr>
          <a:lstStyle/>
          <a:p>
            <a:pPr algn="l"/>
            <a:r>
              <a:rPr sz="1000" b="0">
                <a:solidFill>
                  <a:srgbClr val="222222"/>
                </a:solidFill>
              </a:rPr>
              <a:t>・手法：花苗（OEM調達）と培養土をセット化し、期間限定で10%ディスカウント</a:t>
            </a:r>
          </a:p>
        </p:txBody>
      </p:sp>
      <p:sp>
        <p:nvSpPr>
          <p:cNvPr id="8" name="TextBox 7"/>
          <p:cNvSpPr txBox="1"/>
          <p:nvPr/>
        </p:nvSpPr>
        <p:spPr>
          <a:xfrm>
            <a:off x="457200" y="1965960"/>
            <a:ext cx="5303520" cy="365760"/>
          </a:xfrm>
          <a:prstGeom prst="rect">
            <a:avLst/>
          </a:prstGeom>
          <a:noFill/>
        </p:spPr>
        <p:txBody>
          <a:bodyPr wrap="square">
            <a:spAutoFit/>
          </a:bodyPr>
          <a:lstStyle/>
          <a:p>
            <a:pPr algn="l"/>
            <a:r>
              <a:rPr sz="1000" b="0">
                <a:solidFill>
                  <a:srgbClr val="222222"/>
                </a:solidFill>
              </a:rPr>
              <a:t>・対象業務：商品企画・EC販売ページ更新・在庫コントロール</a:t>
            </a:r>
          </a:p>
        </p:txBody>
      </p:sp>
      <p:sp>
        <p:nvSpPr>
          <p:cNvPr id="9" name="TextBox 8"/>
          <p:cNvSpPr txBox="1"/>
          <p:nvPr/>
        </p:nvSpPr>
        <p:spPr>
          <a:xfrm>
            <a:off x="274320" y="2514600"/>
            <a:ext cx="5029200" cy="320040"/>
          </a:xfrm>
          <a:prstGeom prst="rect">
            <a:avLst/>
          </a:prstGeom>
          <a:noFill/>
        </p:spPr>
        <p:txBody>
          <a:bodyPr wrap="square">
            <a:spAutoFit/>
          </a:bodyPr>
          <a:lstStyle/>
          <a:p>
            <a:pPr algn="l"/>
            <a:r>
              <a:rPr sz="1100" b="1">
                <a:solidFill>
                  <a:srgbClr val="CC0000"/>
                </a:solidFill>
              </a:rPr>
              <a:t>【想定リスク】</a:t>
            </a:r>
          </a:p>
        </p:txBody>
      </p:sp>
      <p:sp>
        <p:nvSpPr>
          <p:cNvPr id="10" name="TextBox 9"/>
          <p:cNvSpPr txBox="1"/>
          <p:nvPr/>
        </p:nvSpPr>
        <p:spPr>
          <a:xfrm>
            <a:off x="457200" y="2880360"/>
            <a:ext cx="5303520" cy="320040"/>
          </a:xfrm>
          <a:prstGeom prst="rect">
            <a:avLst/>
          </a:prstGeom>
          <a:noFill/>
        </p:spPr>
        <p:txBody>
          <a:bodyPr wrap="square">
            <a:spAutoFit/>
          </a:bodyPr>
          <a:lstStyle/>
          <a:p>
            <a:pPr algn="l"/>
            <a:r>
              <a:rPr sz="900" b="0">
                <a:solidFill>
                  <a:srgbClr val="222222"/>
                </a:solidFill>
              </a:rPr>
              <a:t>天候不順による需要急落（冷夏・寒春等）→ 在庫管理原則</a:t>
            </a:r>
          </a:p>
        </p:txBody>
      </p:sp>
      <p:sp>
        <p:nvSpPr>
          <p:cNvPr id="11" name="TextBox 10"/>
          <p:cNvSpPr txBox="1"/>
          <p:nvPr/>
        </p:nvSpPr>
        <p:spPr>
          <a:xfrm>
            <a:off x="457200" y="3227832"/>
            <a:ext cx="5303520" cy="320040"/>
          </a:xfrm>
          <a:prstGeom prst="rect">
            <a:avLst/>
          </a:prstGeom>
          <a:noFill/>
        </p:spPr>
        <p:txBody>
          <a:bodyPr wrap="square">
            <a:spAutoFit/>
          </a:bodyPr>
          <a:lstStyle/>
          <a:p>
            <a:pPr algn="l"/>
            <a:r>
              <a:rPr sz="900" b="0">
                <a:solidFill>
                  <a:srgbClr val="222222"/>
                </a:solidFill>
              </a:rPr>
              <a:t>  発生確率：中　影響度：中</a:t>
            </a:r>
          </a:p>
        </p:txBody>
      </p:sp>
      <p:sp>
        <p:nvSpPr>
          <p:cNvPr id="12" name="TextBox 11"/>
          <p:cNvSpPr txBox="1"/>
          <p:nvPr/>
        </p:nvSpPr>
        <p:spPr>
          <a:xfrm>
            <a:off x="457200" y="3575304"/>
            <a:ext cx="5303520" cy="320040"/>
          </a:xfrm>
          <a:prstGeom prst="rect">
            <a:avLst/>
          </a:prstGeom>
          <a:noFill/>
        </p:spPr>
        <p:txBody>
          <a:bodyPr wrap="square">
            <a:spAutoFit/>
          </a:bodyPr>
          <a:lstStyle/>
          <a:p>
            <a:pPr algn="l"/>
            <a:r>
              <a:rPr sz="900" b="0">
                <a:solidFill>
                  <a:srgbClr val="222222"/>
                </a:solidFill>
              </a:rPr>
              <a:t>期間限定価格の恒常化リスク（価格崩壊）→ SKU管理原則</a:t>
            </a:r>
          </a:p>
        </p:txBody>
      </p:sp>
      <p:sp>
        <p:nvSpPr>
          <p:cNvPr id="13" name="TextBox 12"/>
          <p:cNvSpPr txBox="1"/>
          <p:nvPr/>
        </p:nvSpPr>
        <p:spPr>
          <a:xfrm>
            <a:off x="457200" y="3922776"/>
            <a:ext cx="5303520" cy="320040"/>
          </a:xfrm>
          <a:prstGeom prst="rect">
            <a:avLst/>
          </a:prstGeom>
          <a:noFill/>
        </p:spPr>
        <p:txBody>
          <a:bodyPr wrap="square">
            <a:spAutoFit/>
          </a:bodyPr>
          <a:lstStyle/>
          <a:p>
            <a:pPr algn="l"/>
            <a:r>
              <a:rPr sz="900" b="0">
                <a:solidFill>
                  <a:srgbClr val="222222"/>
                </a:solidFill>
              </a:rPr>
              <a:t>  発生確率：低　影響度：中</a:t>
            </a:r>
          </a:p>
        </p:txBody>
      </p:sp>
      <p:sp>
        <p:nvSpPr>
          <p:cNvPr id="14" name="TextBox 13"/>
          <p:cNvSpPr txBox="1"/>
          <p:nvPr/>
        </p:nvSpPr>
        <p:spPr>
          <a:xfrm>
            <a:off x="6217920" y="777240"/>
            <a:ext cx="5029200" cy="320040"/>
          </a:xfrm>
          <a:prstGeom prst="rect">
            <a:avLst/>
          </a:prstGeom>
          <a:noFill/>
        </p:spPr>
        <p:txBody>
          <a:bodyPr wrap="square">
            <a:spAutoFit/>
          </a:bodyPr>
          <a:lstStyle/>
          <a:p>
            <a:pPr algn="l"/>
            <a:r>
              <a:rPr sz="1100" b="1">
                <a:solidFill>
                  <a:srgbClr val="1A56DB"/>
                </a:solidFill>
              </a:rPr>
              <a:t>【期待効果（定量）】</a:t>
            </a:r>
          </a:p>
        </p:txBody>
      </p:sp>
      <p:sp>
        <p:nvSpPr>
          <p:cNvPr id="15" name="TextBox 14"/>
          <p:cNvSpPr txBox="1"/>
          <p:nvPr/>
        </p:nvSpPr>
        <p:spPr>
          <a:xfrm>
            <a:off x="6400800" y="1143000"/>
            <a:ext cx="5303520" cy="365760"/>
          </a:xfrm>
          <a:prstGeom prst="rect">
            <a:avLst/>
          </a:prstGeom>
          <a:noFill/>
        </p:spPr>
        <p:txBody>
          <a:bodyPr wrap="square">
            <a:spAutoFit/>
          </a:bodyPr>
          <a:lstStyle/>
          <a:p>
            <a:pPr algn="l"/>
            <a:r>
              <a:rPr sz="1000" b="0">
                <a:solidFill>
                  <a:srgbClr val="222222"/>
                </a:solidFill>
              </a:rPr>
              <a:t>・春需要期（3〜5月）売上：通常月比130%増</a:t>
            </a:r>
          </a:p>
        </p:txBody>
      </p:sp>
      <p:sp>
        <p:nvSpPr>
          <p:cNvPr id="16" name="TextBox 15"/>
          <p:cNvSpPr txBox="1"/>
          <p:nvPr/>
        </p:nvSpPr>
        <p:spPr>
          <a:xfrm>
            <a:off x="6400800" y="1554480"/>
            <a:ext cx="5303520" cy="365760"/>
          </a:xfrm>
          <a:prstGeom prst="rect">
            <a:avLst/>
          </a:prstGeom>
          <a:noFill/>
        </p:spPr>
        <p:txBody>
          <a:bodyPr wrap="square">
            <a:spAutoFit/>
          </a:bodyPr>
          <a:lstStyle/>
          <a:p>
            <a:pPr algn="l"/>
            <a:r>
              <a:rPr sz="1000" b="0">
                <a:solidFill>
                  <a:srgbClr val="222222"/>
                </a:solidFill>
              </a:rPr>
              <a:t>・バンドル単価：¥5,200（単品合計比87%・お得感を演出）</a:t>
            </a:r>
          </a:p>
        </p:txBody>
      </p:sp>
      <p:sp>
        <p:nvSpPr>
          <p:cNvPr id="17" name="TextBox 16"/>
          <p:cNvSpPr txBox="1"/>
          <p:nvPr/>
        </p:nvSpPr>
        <p:spPr>
          <a:xfrm>
            <a:off x="6400800" y="1965960"/>
            <a:ext cx="5303520" cy="365760"/>
          </a:xfrm>
          <a:prstGeom prst="rect">
            <a:avLst/>
          </a:prstGeom>
          <a:noFill/>
        </p:spPr>
        <p:txBody>
          <a:bodyPr wrap="square">
            <a:spAutoFit/>
          </a:bodyPr>
          <a:lstStyle/>
          <a:p>
            <a:pPr algn="l"/>
            <a:r>
              <a:rPr sz="1000" b="0">
                <a:solidFill>
                  <a:srgbClr val="222222"/>
                </a:solidFill>
              </a:rPr>
              <a:t>・在庫回転率：春期85%（通常期60%比改善）</a:t>
            </a:r>
          </a:p>
        </p:txBody>
      </p:sp>
      <p:sp>
        <p:nvSpPr>
          <p:cNvPr id="18" name="TextBox 17"/>
          <p:cNvSpPr txBox="1"/>
          <p:nvPr/>
        </p:nvSpPr>
        <p:spPr>
          <a:xfrm>
            <a:off x="6400800" y="2377440"/>
            <a:ext cx="5303520" cy="365760"/>
          </a:xfrm>
          <a:prstGeom prst="rect">
            <a:avLst/>
          </a:prstGeom>
          <a:noFill/>
        </p:spPr>
        <p:txBody>
          <a:bodyPr wrap="square">
            <a:spAutoFit/>
          </a:bodyPr>
          <a:lstStyle/>
          <a:p>
            <a:pPr algn="l"/>
            <a:r>
              <a:rPr sz="1000" b="0">
                <a:solidFill>
                  <a:srgbClr val="222222"/>
                </a:solidFill>
              </a:rPr>
              <a:t>・期間売上目標：¥2,400万（3か月合計）</a:t>
            </a:r>
          </a:p>
        </p:txBody>
      </p:sp>
      <p:sp>
        <p:nvSpPr>
          <p:cNvPr id="19" name="TextBox 18"/>
          <p:cNvSpPr txBox="1"/>
          <p:nvPr/>
        </p:nvSpPr>
        <p:spPr>
          <a:xfrm>
            <a:off x="6217920" y="2514600"/>
            <a:ext cx="5029200" cy="320040"/>
          </a:xfrm>
          <a:prstGeom prst="rect">
            <a:avLst/>
          </a:prstGeom>
          <a:noFill/>
        </p:spPr>
        <p:txBody>
          <a:bodyPr wrap="square">
            <a:spAutoFit/>
          </a:bodyPr>
          <a:lstStyle/>
          <a:p>
            <a:pPr algn="l"/>
            <a:r>
              <a:rPr sz="1100" b="1">
                <a:solidFill>
                  <a:srgbClr val="222222"/>
                </a:solidFill>
              </a:rPr>
              <a:t>【リスク対応策】</a:t>
            </a:r>
          </a:p>
        </p:txBody>
      </p:sp>
      <p:sp>
        <p:nvSpPr>
          <p:cNvPr id="20" name="TextBox 19"/>
          <p:cNvSpPr txBox="1"/>
          <p:nvPr/>
        </p:nvSpPr>
        <p:spPr>
          <a:xfrm>
            <a:off x="6400800" y="2880360"/>
            <a:ext cx="5303520" cy="320040"/>
          </a:xfrm>
          <a:prstGeom prst="rect">
            <a:avLst/>
          </a:prstGeom>
          <a:noFill/>
        </p:spPr>
        <p:txBody>
          <a:bodyPr wrap="square">
            <a:spAutoFit/>
          </a:bodyPr>
          <a:lstStyle/>
          <a:p>
            <a:pPr algn="l"/>
            <a:r>
              <a:rPr sz="900" b="0">
                <a:solidFill>
                  <a:srgbClr val="222222"/>
                </a:solidFill>
              </a:rPr>
              <a:t>【回避】春期発注は需要予測の80%に抑え、追加発注で補充する設計</a:t>
            </a:r>
          </a:p>
        </p:txBody>
      </p:sp>
      <p:sp>
        <p:nvSpPr>
          <p:cNvPr id="21" name="TextBox 20"/>
          <p:cNvSpPr txBox="1"/>
          <p:nvPr/>
        </p:nvSpPr>
        <p:spPr>
          <a:xfrm>
            <a:off x="6400800" y="3227832"/>
            <a:ext cx="5303520" cy="320040"/>
          </a:xfrm>
          <a:prstGeom prst="rect">
            <a:avLst/>
          </a:prstGeom>
          <a:noFill/>
        </p:spPr>
        <p:txBody>
          <a:bodyPr wrap="square">
            <a:spAutoFit/>
          </a:bodyPr>
          <a:lstStyle/>
          <a:p>
            <a:pPr algn="l"/>
            <a:r>
              <a:rPr sz="900" b="0">
                <a:solidFill>
                  <a:srgbClr val="222222"/>
                </a:solidFill>
              </a:rPr>
              <a:t>【実施時の対策】在庫消化セールを4月末に実施。目標在庫消化率90%以上</a:t>
            </a:r>
          </a:p>
        </p:txBody>
      </p:sp>
      <p:sp>
        <p:nvSpPr>
          <p:cNvPr id="22" name="TextBox 21"/>
          <p:cNvSpPr txBox="1"/>
          <p:nvPr/>
        </p:nvSpPr>
        <p:spPr>
          <a:xfrm>
            <a:off x="6400800" y="3575304"/>
            <a:ext cx="5303520" cy="320040"/>
          </a:xfrm>
          <a:prstGeom prst="rect">
            <a:avLst/>
          </a:prstGeom>
          <a:noFill/>
        </p:spPr>
        <p:txBody>
          <a:bodyPr wrap="square">
            <a:spAutoFit/>
          </a:bodyPr>
          <a:lstStyle/>
          <a:p>
            <a:pPr algn="l"/>
            <a:r>
              <a:rPr sz="900" b="0">
                <a:solidFill>
                  <a:srgbClr val="222222"/>
                </a:solidFill>
              </a:rPr>
              <a:t>【回避】「春限定」を商品名・バナーに明記し、恒常化しないことを顧客に周知</a:t>
            </a:r>
          </a:p>
        </p:txBody>
      </p:sp>
      <p:sp>
        <p:nvSpPr>
          <p:cNvPr id="23" name="TextBox 22"/>
          <p:cNvSpPr txBox="1"/>
          <p:nvPr/>
        </p:nvSpPr>
        <p:spPr>
          <a:xfrm>
            <a:off x="6400800" y="3922776"/>
            <a:ext cx="5303520" cy="320040"/>
          </a:xfrm>
          <a:prstGeom prst="rect">
            <a:avLst/>
          </a:prstGeom>
          <a:noFill/>
        </p:spPr>
        <p:txBody>
          <a:bodyPr wrap="square">
            <a:spAutoFit/>
          </a:bodyPr>
          <a:lstStyle/>
          <a:p>
            <a:pPr algn="l"/>
            <a:r>
              <a:rPr sz="900" b="0">
                <a:solidFill>
                  <a:srgbClr val="222222"/>
                </a:solidFill>
              </a:rPr>
              <a:t>【実施時の対策】期間終了後は速やかに正規価格に戻し、過去価格をページから削除</a:t>
            </a:r>
          </a:p>
        </p:txBody>
      </p:sp>
      <p:sp>
        <p:nvSpPr>
          <p:cNvPr id="24" name="TextBox 23"/>
          <p:cNvSpPr txBox="1"/>
          <p:nvPr/>
        </p:nvSpPr>
        <p:spPr>
          <a:xfrm>
            <a:off x="274320" y="5212080"/>
            <a:ext cx="11430000" cy="365760"/>
          </a:xfrm>
          <a:prstGeom prst="rect">
            <a:avLst/>
          </a:prstGeom>
          <a:noFill/>
        </p:spPr>
        <p:txBody>
          <a:bodyPr wrap="square">
            <a:spAutoFit/>
          </a:bodyPr>
          <a:lstStyle/>
          <a:p>
            <a:pPr algn="l"/>
            <a:r>
              <a:rPr sz="800" b="0">
                <a:solidFill>
                  <a:srgbClr val="666666"/>
                </a:solidFill>
              </a:rPr>
              <a:t>導入実績：同種バンドル施策の実績なし。競合B社の春キャンペーンで類似効果を確認（2025年3月ECモール観測）。自社実績はなく「想定」として記載</a:t>
            </a:r>
          </a:p>
        </p:txBody>
      </p:sp>
      <p:sp>
        <p:nvSpPr>
          <p:cNvPr id="25" name="TextBox 24"/>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1A5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515600" cy="548640"/>
          </a:xfrm>
          <a:prstGeom prst="rect">
            <a:avLst/>
          </a:prstGeom>
          <a:noFill/>
        </p:spPr>
        <p:txBody>
          <a:bodyPr wrap="none">
            <a:spAutoFit/>
          </a:bodyPr>
          <a:lstStyle/>
          <a:p>
            <a:r>
              <a:rPr sz="2000" b="1">
                <a:solidFill>
                  <a:srgbClr val="FFFFFF"/>
                </a:solidFill>
              </a:rPr>
              <a:t>まとめと今後のアクション</a:t>
            </a:r>
          </a:p>
        </p:txBody>
      </p:sp>
      <p:sp>
        <p:nvSpPr>
          <p:cNvPr id="4" name="TextBox 3"/>
          <p:cNvSpPr txBox="1"/>
          <p:nvPr/>
        </p:nvSpPr>
        <p:spPr>
          <a:xfrm>
            <a:off x="10789920" y="91440"/>
            <a:ext cx="1280160" cy="320040"/>
          </a:xfrm>
          <a:prstGeom prst="rect">
            <a:avLst/>
          </a:prstGeom>
          <a:noFill/>
          <a:solidFill>
            <a:srgbClr val="1A56DB"/>
          </a:solidFill>
        </p:spPr>
        <p:txBody>
          <a:bodyPr wrap="square">
            <a:spAutoFit/>
          </a:bodyPr>
          <a:lstStyle/>
          <a:p>
            <a:pPr algn="ctr"/>
            <a:r>
              <a:rPr sz="900" b="1">
                <a:solidFill>
                  <a:srgbClr val="FFFFFF"/>
                </a:solidFill>
              </a:rPr>
              <a:t>[確定]</a:t>
            </a:r>
          </a:p>
        </p:txBody>
      </p:sp>
      <p:sp>
        <p:nvSpPr>
          <p:cNvPr id="5" name="TextBox 4"/>
          <p:cNvSpPr txBox="1"/>
          <p:nvPr/>
        </p:nvSpPr>
        <p:spPr>
          <a:xfrm>
            <a:off x="274320" y="777240"/>
            <a:ext cx="10972800" cy="365760"/>
          </a:xfrm>
          <a:prstGeom prst="rect">
            <a:avLst/>
          </a:prstGeom>
          <a:noFill/>
        </p:spPr>
        <p:txBody>
          <a:bodyPr wrap="square">
            <a:spAutoFit/>
          </a:bodyPr>
          <a:lstStyle/>
          <a:p>
            <a:pPr algn="l"/>
            <a:r>
              <a:rPr sz="1300" b="1">
                <a:solidFill>
                  <a:srgbClr val="1A56DB"/>
                </a:solidFill>
              </a:rPr>
              <a:t>本資料の要点（3点）</a:t>
            </a:r>
          </a:p>
        </p:txBody>
      </p:sp>
      <p:sp>
        <p:nvSpPr>
          <p:cNvPr id="6" name="TextBox 5"/>
          <p:cNvSpPr txBox="1"/>
          <p:nvPr/>
        </p:nvSpPr>
        <p:spPr>
          <a:xfrm>
            <a:off x="457200" y="1188720"/>
            <a:ext cx="10972800" cy="365760"/>
          </a:xfrm>
          <a:prstGeom prst="rect">
            <a:avLst/>
          </a:prstGeom>
          <a:noFill/>
        </p:spPr>
        <p:txBody>
          <a:bodyPr wrap="square">
            <a:spAutoFit/>
          </a:bodyPr>
          <a:lstStyle/>
          <a:p>
            <a:pPr algn="l"/>
            <a:r>
              <a:rPr sz="1100" b="0">
                <a:solidFill>
                  <a:srgbClr val="222222"/>
                </a:solidFill>
              </a:rPr>
              <a:t>1. ガーデニング用品EC市場は年成長率8.3%の成長市場。今が参入タイミング</a:t>
            </a:r>
          </a:p>
        </p:txBody>
      </p:sp>
      <p:sp>
        <p:nvSpPr>
          <p:cNvPr id="7" name="TextBox 6"/>
          <p:cNvSpPr txBox="1"/>
          <p:nvPr/>
        </p:nvSpPr>
        <p:spPr>
          <a:xfrm>
            <a:off x="457200" y="1645920"/>
            <a:ext cx="10972800" cy="365760"/>
          </a:xfrm>
          <a:prstGeom prst="rect">
            <a:avLst/>
          </a:prstGeom>
          <a:noFill/>
        </p:spPr>
        <p:txBody>
          <a:bodyPr wrap="square">
            <a:spAutoFit/>
          </a:bodyPr>
          <a:lstStyle/>
          <a:p>
            <a:pPr algn="l"/>
            <a:r>
              <a:rPr sz="1100" b="0">
                <a:solidFill>
                  <a:srgbClr val="222222"/>
                </a:solidFill>
              </a:rPr>
              <a:t>2. OEM×D2Cモデルにより粗利率48%・初期投資800万円・回収期間18か月を実現できる</a:t>
            </a:r>
          </a:p>
        </p:txBody>
      </p:sp>
      <p:sp>
        <p:nvSpPr>
          <p:cNvPr id="8" name="TextBox 7"/>
          <p:cNvSpPr txBox="1"/>
          <p:nvPr/>
        </p:nvSpPr>
        <p:spPr>
          <a:xfrm>
            <a:off x="457200" y="2103120"/>
            <a:ext cx="10972800" cy="365760"/>
          </a:xfrm>
          <a:prstGeom prst="rect">
            <a:avLst/>
          </a:prstGeom>
          <a:noFill/>
        </p:spPr>
        <p:txBody>
          <a:bodyPr wrap="square">
            <a:spAutoFit/>
          </a:bodyPr>
          <a:lstStyle/>
          <a:p>
            <a:pPr algn="l"/>
            <a:r>
              <a:rPr sz="1100" b="0">
                <a:solidFill>
                  <a:srgbClr val="222222"/>
                </a:solidFill>
              </a:rPr>
              <a:t>3. 法規制（農薬取締法・景表法等）への対応を事前に整えることでリスクを最小化できる</a:t>
            </a:r>
          </a:p>
        </p:txBody>
      </p:sp>
      <p:sp>
        <p:nvSpPr>
          <p:cNvPr id="9" name="TextBox 8"/>
          <p:cNvSpPr txBox="1"/>
          <p:nvPr/>
        </p:nvSpPr>
        <p:spPr>
          <a:xfrm>
            <a:off x="274320" y="2651760"/>
            <a:ext cx="10972800" cy="365760"/>
          </a:xfrm>
          <a:prstGeom prst="rect">
            <a:avLst/>
          </a:prstGeom>
          <a:noFill/>
        </p:spPr>
        <p:txBody>
          <a:bodyPr wrap="square">
            <a:spAutoFit/>
          </a:bodyPr>
          <a:lstStyle/>
          <a:p>
            <a:pPr algn="l"/>
            <a:r>
              <a:rPr sz="1300" b="1">
                <a:solidFill>
                  <a:srgbClr val="1A56DB"/>
                </a:solidFill>
              </a:rPr>
              <a:t>今後のアクション</a:t>
            </a:r>
          </a:p>
        </p:txBody>
      </p:sp>
      <p:graphicFrame>
        <p:nvGraphicFramePr>
          <p:cNvPr id="10" name="Table 9"/>
          <p:cNvGraphicFramePr>
            <a:graphicFrameLocks noGrp="1"/>
          </p:cNvGraphicFramePr>
          <p:nvPr/>
        </p:nvGraphicFramePr>
        <p:xfrm>
          <a:off x="182880" y="3063240"/>
          <a:ext cx="11795760" cy="2560320"/>
        </p:xfrm>
        <a:graphic>
          <a:graphicData uri="http://schemas.openxmlformats.org/drawingml/2006/table">
            <a:tbl>
              <a:tblPr firstRow="1" bandRow="1">
                <a:tableStyleId>{5C22544A-7EE6-4342-B048-85BDC9FD1C3A}</a:tableStyleId>
              </a:tblPr>
              <a:tblGrid>
                <a:gridCol w="2948940"/>
                <a:gridCol w="2948940"/>
                <a:gridCol w="2948940"/>
                <a:gridCol w="2948940"/>
              </a:tblGrid>
              <a:tr h="365760">
                <a:tc>
                  <a:txBody>
                    <a:bodyPr/>
                    <a:lstStyle/>
                    <a:p>
                      <a:r>
                        <a:rPr b="1" sz="900">
                          <a:solidFill>
                            <a:srgbClr val="FFFFFF"/>
                          </a:solidFill>
                        </a:rPr>
                        <a:t>アクション</a:t>
                      </a:r>
                    </a:p>
                  </a:txBody>
                  <a:tcPr>
                    <a:solidFill>
                      <a:srgbClr val="1A56DB"/>
                    </a:solidFill>
                  </a:tcPr>
                </a:tc>
                <a:tc>
                  <a:txBody>
                    <a:bodyPr/>
                    <a:lstStyle/>
                    <a:p>
                      <a:r>
                        <a:rPr b="1" sz="900">
                          <a:solidFill>
                            <a:srgbClr val="FFFFFF"/>
                          </a:solidFill>
                        </a:rPr>
                        <a:t>担当</a:t>
                      </a:r>
                    </a:p>
                  </a:txBody>
                  <a:tcPr>
                    <a:solidFill>
                      <a:srgbClr val="1A56DB"/>
                    </a:solidFill>
                  </a:tcPr>
                </a:tc>
                <a:tc>
                  <a:txBody>
                    <a:bodyPr/>
                    <a:lstStyle/>
                    <a:p>
                      <a:r>
                        <a:rPr b="1" sz="900">
                          <a:solidFill>
                            <a:srgbClr val="FFFFFF"/>
                          </a:solidFill>
                        </a:rPr>
                        <a:t>期限</a:t>
                      </a:r>
                    </a:p>
                  </a:txBody>
                  <a:tcPr>
                    <a:solidFill>
                      <a:srgbClr val="1A56DB"/>
                    </a:solidFill>
                  </a:tcPr>
                </a:tc>
                <a:tc>
                  <a:txBody>
                    <a:bodyPr/>
                    <a:lstStyle/>
                    <a:p>
                      <a:r>
                        <a:rPr b="1" sz="900">
                          <a:solidFill>
                            <a:srgbClr val="FFFFFF"/>
                          </a:solidFill>
                        </a:rPr>
                        <a:t>ステータス</a:t>
                      </a:r>
                    </a:p>
                  </a:txBody>
                  <a:tcPr>
                    <a:solidFill>
                      <a:srgbClr val="1A56DB"/>
                    </a:solidFill>
                  </a:tcPr>
                </a:tc>
              </a:tr>
              <a:tr h="365760">
                <a:tc>
                  <a:txBody>
                    <a:bodyPr/>
                    <a:lstStyle/>
                    <a:p>
                      <a:r>
                        <a:rPr sz="800">
                          <a:solidFill>
                            <a:srgbClr val="222222"/>
                          </a:solidFill>
                        </a:rPr>
                        <a:t>経営層へのプレゼンテーション・承認取得</a:t>
                      </a:r>
                    </a:p>
                  </a:txBody>
                  <a:tcPr>
                    <a:solidFill>
                      <a:srgbClr val="F0F0F0"/>
                    </a:solidFill>
                  </a:tcPr>
                </a:tc>
                <a:tc>
                  <a:txBody>
                    <a:bodyPr/>
                    <a:lstStyle/>
                    <a:p>
                      <a:r>
                        <a:rPr sz="800">
                          <a:solidFill>
                            <a:srgbClr val="222222"/>
                          </a:solidFill>
                        </a:rPr>
                        <a:t>事業推進室長</a:t>
                      </a:r>
                    </a:p>
                  </a:txBody>
                  <a:tcPr>
                    <a:solidFill>
                      <a:srgbClr val="F0F0F0"/>
                    </a:solidFill>
                  </a:tcPr>
                </a:tc>
                <a:tc>
                  <a:txBody>
                    <a:bodyPr/>
                    <a:lstStyle/>
                    <a:p>
                      <a:r>
                        <a:rPr sz="800">
                          <a:solidFill>
                            <a:srgbClr val="222222"/>
                          </a:solidFill>
                        </a:rPr>
                        <a:t>2026/07</a:t>
                      </a:r>
                    </a:p>
                  </a:txBody>
                  <a:tcPr>
                    <a:solidFill>
                      <a:srgbClr val="F0F0F0"/>
                    </a:solidFill>
                  </a:tcPr>
                </a:tc>
                <a:tc>
                  <a:txBody>
                    <a:bodyPr/>
                    <a:lstStyle/>
                    <a:p>
                      <a:r>
                        <a:rPr sz="800">
                          <a:solidFill>
                            <a:srgbClr val="222222"/>
                          </a:solidFill>
                        </a:rPr>
                        <a:t>確定</a:t>
                      </a:r>
                    </a:p>
                  </a:txBody>
                  <a:tcPr>
                    <a:solidFill>
                      <a:srgbClr val="F0F0F0"/>
                    </a:solidFill>
                  </a:tcPr>
                </a:tc>
              </a:tr>
              <a:tr h="365760">
                <a:tc>
                  <a:txBody>
                    <a:bodyPr/>
                    <a:lstStyle/>
                    <a:p>
                      <a:r>
                        <a:rPr sz="800">
                          <a:solidFill>
                            <a:srgbClr val="222222"/>
                          </a:solidFill>
                        </a:rPr>
                        <a:t>OEMサプライヤー3社への見積もり依頼</a:t>
                      </a:r>
                    </a:p>
                  </a:txBody>
                  <a:tcPr>
                    <a:solidFill>
                      <a:srgbClr val="FFFFFF"/>
                    </a:solidFill>
                  </a:tcPr>
                </a:tc>
                <a:tc>
                  <a:txBody>
                    <a:bodyPr/>
                    <a:lstStyle/>
                    <a:p>
                      <a:r>
                        <a:rPr sz="800">
                          <a:solidFill>
                            <a:srgbClr val="222222"/>
                          </a:solidFill>
                        </a:rPr>
                        <a:t>商品企画部</a:t>
                      </a:r>
                    </a:p>
                  </a:txBody>
                  <a:tcPr>
                    <a:solidFill>
                      <a:srgbClr val="FFFFFF"/>
                    </a:solidFill>
                  </a:tcPr>
                </a:tc>
                <a:tc>
                  <a:txBody>
                    <a:bodyPr/>
                    <a:lstStyle/>
                    <a:p>
                      <a:r>
                        <a:rPr sz="800">
                          <a:solidFill>
                            <a:srgbClr val="222222"/>
                          </a:solidFill>
                        </a:rPr>
                        <a:t>2026/07</a:t>
                      </a:r>
                    </a:p>
                  </a:txBody>
                  <a:tcPr>
                    <a:solidFill>
                      <a:srgbClr val="FFFFFF"/>
                    </a:solidFill>
                  </a:tcPr>
                </a:tc>
                <a:tc>
                  <a:txBody>
                    <a:bodyPr/>
                    <a:lstStyle/>
                    <a:p>
                      <a:r>
                        <a:rPr sz="800">
                          <a:solidFill>
                            <a:srgbClr val="222222"/>
                          </a:solidFill>
                        </a:rPr>
                        <a:t>確定</a:t>
                      </a:r>
                    </a:p>
                  </a:txBody>
                  <a:tcPr>
                    <a:solidFill>
                      <a:srgbClr val="FFFFFF"/>
                    </a:solidFill>
                  </a:tcPr>
                </a:tc>
              </a:tr>
              <a:tr h="365760">
                <a:tc>
                  <a:txBody>
                    <a:bodyPr/>
                    <a:lstStyle/>
                    <a:p>
                      <a:r>
                        <a:rPr sz="800">
                          <a:solidFill>
                            <a:srgbClr val="222222"/>
                          </a:solidFill>
                        </a:rPr>
                        <a:t>法務確認（農薬・景表法）の外部委託先選定</a:t>
                      </a:r>
                    </a:p>
                  </a:txBody>
                  <a:tcPr>
                    <a:solidFill>
                      <a:srgbClr val="F0F0F0"/>
                    </a:solidFill>
                  </a:tcPr>
                </a:tc>
                <a:tc>
                  <a:txBody>
                    <a:bodyPr/>
                    <a:lstStyle/>
                    <a:p>
                      <a:r>
                        <a:rPr sz="800">
                          <a:solidFill>
                            <a:srgbClr val="222222"/>
                          </a:solidFill>
                        </a:rPr>
                        <a:t>法務部</a:t>
                      </a:r>
                    </a:p>
                  </a:txBody>
                  <a:tcPr>
                    <a:solidFill>
                      <a:srgbClr val="F0F0F0"/>
                    </a:solidFill>
                  </a:tcPr>
                </a:tc>
                <a:tc>
                  <a:txBody>
                    <a:bodyPr/>
                    <a:lstStyle/>
                    <a:p>
                      <a:r>
                        <a:rPr sz="800">
                          <a:solidFill>
                            <a:srgbClr val="222222"/>
                          </a:solidFill>
                        </a:rPr>
                        <a:t>2026/07</a:t>
                      </a:r>
                    </a:p>
                  </a:txBody>
                  <a:tcPr>
                    <a:solidFill>
                      <a:srgbClr val="F0F0F0"/>
                    </a:solidFill>
                  </a:tcPr>
                </a:tc>
                <a:tc>
                  <a:txBody>
                    <a:bodyPr/>
                    <a:lstStyle/>
                    <a:p>
                      <a:r>
                        <a:rPr sz="800">
                          <a:solidFill>
                            <a:srgbClr val="222222"/>
                          </a:solidFill>
                        </a:rPr>
                        <a:t>検討中（変更予定時期：2026/08）</a:t>
                      </a:r>
                    </a:p>
                  </a:txBody>
                  <a:tcPr>
                    <a:solidFill>
                      <a:srgbClr val="F0F0F0"/>
                    </a:solidFill>
                  </a:tcPr>
                </a:tc>
              </a:tr>
              <a:tr h="365760">
                <a:tc>
                  <a:txBody>
                    <a:bodyPr/>
                    <a:lstStyle/>
                    <a:p>
                      <a:r>
                        <a:rPr sz="800">
                          <a:solidFill>
                            <a:srgbClr val="222222"/>
                          </a:solidFill>
                        </a:rPr>
                        <a:t>自社ECへのガーデニング用品カテゴリ追加</a:t>
                      </a:r>
                    </a:p>
                  </a:txBody>
                  <a:tcPr>
                    <a:solidFill>
                      <a:srgbClr val="FFFFFF"/>
                    </a:solidFill>
                  </a:tcPr>
                </a:tc>
                <a:tc>
                  <a:txBody>
                    <a:bodyPr/>
                    <a:lstStyle/>
                    <a:p>
                      <a:r>
                        <a:rPr sz="800">
                          <a:solidFill>
                            <a:srgbClr val="222222"/>
                          </a:solidFill>
                        </a:rPr>
                        <a:t>EC運営部</a:t>
                      </a:r>
                    </a:p>
                  </a:txBody>
                  <a:tcPr>
                    <a:solidFill>
                      <a:srgbClr val="FFFFFF"/>
                    </a:solidFill>
                  </a:tcPr>
                </a:tc>
                <a:tc>
                  <a:txBody>
                    <a:bodyPr/>
                    <a:lstStyle/>
                    <a:p>
                      <a:r>
                        <a:rPr sz="800">
                          <a:solidFill>
                            <a:srgbClr val="222222"/>
                          </a:solidFill>
                        </a:rPr>
                        <a:t>2026/08</a:t>
                      </a:r>
                    </a:p>
                  </a:txBody>
                  <a:tcPr>
                    <a:solidFill>
                      <a:srgbClr val="FFFFFF"/>
                    </a:solidFill>
                  </a:tcPr>
                </a:tc>
                <a:tc>
                  <a:txBody>
                    <a:bodyPr/>
                    <a:lstStyle/>
                    <a:p>
                      <a:r>
                        <a:rPr sz="800">
                          <a:solidFill>
                            <a:srgbClr val="222222"/>
                          </a:solidFill>
                        </a:rPr>
                        <a:t>検討中（変更予定時期：2026/09）</a:t>
                      </a:r>
                    </a:p>
                  </a:txBody>
                  <a:tcPr>
                    <a:solidFill>
                      <a:srgbClr val="FFFFFF"/>
                    </a:solidFill>
                  </a:tcPr>
                </a:tc>
              </a:tr>
              <a:tr h="365760">
                <a:tc>
                  <a:txBody>
                    <a:bodyPr/>
                    <a:lstStyle/>
                    <a:p>
                      <a:r>
                        <a:rPr sz="800">
                          <a:solidFill>
                            <a:srgbClr val="222222"/>
                          </a:solidFill>
                        </a:rPr>
                        <a:t>初回仕入・品質検査・EC公開</a:t>
                      </a:r>
                    </a:p>
                  </a:txBody>
                  <a:tcPr>
                    <a:solidFill>
                      <a:srgbClr val="F0F0F0"/>
                    </a:solidFill>
                  </a:tcPr>
                </a:tc>
                <a:tc>
                  <a:txBody>
                    <a:bodyPr/>
                    <a:lstStyle/>
                    <a:p>
                      <a:r>
                        <a:rPr sz="800">
                          <a:solidFill>
                            <a:srgbClr val="222222"/>
                          </a:solidFill>
                        </a:rPr>
                        <a:t>商品企画部＋EC運営部</a:t>
                      </a:r>
                    </a:p>
                  </a:txBody>
                  <a:tcPr>
                    <a:solidFill>
                      <a:srgbClr val="F0F0F0"/>
                    </a:solidFill>
                  </a:tcPr>
                </a:tc>
                <a:tc>
                  <a:txBody>
                    <a:bodyPr/>
                    <a:lstStyle/>
                    <a:p>
                      <a:r>
                        <a:rPr sz="800">
                          <a:solidFill>
                            <a:srgbClr val="222222"/>
                          </a:solidFill>
                        </a:rPr>
                        <a:t>2026/10</a:t>
                      </a:r>
                    </a:p>
                  </a:txBody>
                  <a:tcPr>
                    <a:solidFill>
                      <a:srgbClr val="F0F0F0"/>
                    </a:solidFill>
                  </a:tcPr>
                </a:tc>
                <a:tc>
                  <a:txBody>
                    <a:bodyPr/>
                    <a:lstStyle/>
                    <a:p>
                      <a:r>
                        <a:rPr sz="800">
                          <a:solidFill>
                            <a:srgbClr val="222222"/>
                          </a:solidFill>
                        </a:rPr>
                        <a:t>検討中（変更予定時期：2026/10）</a:t>
                      </a:r>
                    </a:p>
                  </a:txBody>
                  <a:tcPr>
                    <a:solidFill>
                      <a:srgbClr val="F0F0F0"/>
                    </a:solidFill>
                  </a:tcPr>
                </a:tc>
              </a:tr>
              <a:tr h="365760">
                <a:tc>
                  <a:txBody>
                    <a:bodyPr/>
                    <a:lstStyle/>
                    <a:p>
                      <a:r>
                        <a:rPr sz="800">
                          <a:solidFill>
                            <a:srgbClr val="222222"/>
                          </a:solidFill>
                        </a:rPr>
                        <a:t>事業KPI初回レビュー</a:t>
                      </a:r>
                    </a:p>
                  </a:txBody>
                  <a:tcPr>
                    <a:solidFill>
                      <a:srgbClr val="FFFFFF"/>
                    </a:solidFill>
                  </a:tcPr>
                </a:tc>
                <a:tc>
                  <a:txBody>
                    <a:bodyPr/>
                    <a:lstStyle/>
                    <a:p>
                      <a:r>
                        <a:rPr sz="800">
                          <a:solidFill>
                            <a:srgbClr val="222222"/>
                          </a:solidFill>
                        </a:rPr>
                        <a:t>事業推進室</a:t>
                      </a:r>
                    </a:p>
                  </a:txBody>
                  <a:tcPr>
                    <a:solidFill>
                      <a:srgbClr val="FFFFFF"/>
                    </a:solidFill>
                  </a:tcPr>
                </a:tc>
                <a:tc>
                  <a:txBody>
                    <a:bodyPr/>
                    <a:lstStyle/>
                    <a:p>
                      <a:r>
                        <a:rPr sz="800">
                          <a:solidFill>
                            <a:srgbClr val="222222"/>
                          </a:solidFill>
                        </a:rPr>
                        <a:t>2026/12</a:t>
                      </a:r>
                    </a:p>
                  </a:txBody>
                  <a:tcPr>
                    <a:solidFill>
                      <a:srgbClr val="FFFFFF"/>
                    </a:solidFill>
                  </a:tcPr>
                </a:tc>
                <a:tc>
                  <a:txBody>
                    <a:bodyPr/>
                    <a:lstStyle/>
                    <a:p>
                      <a:r>
                        <a:rPr sz="800">
                          <a:solidFill>
                            <a:srgbClr val="222222"/>
                          </a:solidFill>
                        </a:rPr>
                        <a:t>確定</a:t>
                      </a:r>
                    </a:p>
                  </a:txBody>
                  <a:tcPr>
                    <a:solidFill>
                      <a:srgbClr val="FFFFFF"/>
                    </a:solidFill>
                  </a:tcPr>
                </a:tc>
              </a:tr>
            </a:tbl>
          </a:graphicData>
        </a:graphic>
      </p:graphicFrame>
      <p:sp>
        <p:nvSpPr>
          <p:cNvPr id="11" name="TextBox 10"/>
          <p:cNvSpPr txBox="1"/>
          <p:nvPr/>
        </p:nvSpPr>
        <p:spPr>
          <a:xfrm>
            <a:off x="182880" y="5806440"/>
            <a:ext cx="11430000" cy="320040"/>
          </a:xfrm>
          <a:prstGeom prst="rect">
            <a:avLst/>
          </a:prstGeom>
          <a:noFill/>
        </p:spPr>
        <p:txBody>
          <a:bodyPr wrap="square">
            <a:spAutoFit/>
          </a:bodyPr>
          <a:lstStyle/>
          <a:p>
            <a:pPr algn="l"/>
            <a:r>
              <a:rPr sz="900" b="0">
                <a:solidFill>
                  <a:srgbClr val="222222"/>
                </a:solidFill>
              </a:rPr>
              <a:t>問い合わせ先：ガーデニング用品事業推進室　担当者：商品企画部　Email: 07rena1022@gmail.com</a:t>
            </a:r>
          </a:p>
        </p:txBody>
      </p:sp>
      <p:sp>
        <p:nvSpPr>
          <p:cNvPr id="12" name="TextBox 11"/>
          <p:cNvSpPr txBox="1"/>
          <p:nvPr/>
        </p:nvSpPr>
        <p:spPr>
          <a:xfrm>
            <a:off x="274320" y="6492240"/>
            <a:ext cx="11612880" cy="274320"/>
          </a:xfrm>
          <a:prstGeom prst="rect">
            <a:avLst/>
          </a:prstGeom>
          <a:noFill/>
        </p:spPr>
        <p:txBody>
          <a:bodyPr wrap="square">
            <a:spAutoFit/>
          </a:bodyPr>
          <a:lstStyle/>
          <a:p>
            <a:pPr algn="l"/>
            <a:r>
              <a:rPr sz="800" b="0">
                <a:solidFill>
                  <a:srgbClr val="888888"/>
                </a:solidFill>
              </a:rPr>
              <a:t>© ガーデニング用品事業推進室　　　　　　　　　　　　　　　　p.16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